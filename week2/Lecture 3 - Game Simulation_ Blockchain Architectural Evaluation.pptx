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Old Standard TT"/>
      <p:regular r:id="rId19"/>
      <p:bold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ldStandardT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716e276b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716e276b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Types are directly stored in memory. Copying a value type will result in two copies in memory (deep copy)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53c5cd9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253c5cd9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opcode, data value, data value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53c5cd91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53c5cd91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53c5cd91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53c5cd91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Usually two registers due to instruction set decisions - bitcoin miner cpus are much more specialized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Clock is usually a few billion instructions per second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53c5cd9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53c5cd9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this course focuses on the top corner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ABI (Application Binary Interface) used to interact with the web (JS library) Bytecode for EVM execution</a:t>
            </a:r>
            <a:br>
              <a:rPr lang="en"/>
            </a:br>
            <a:r>
              <a:rPr lang="en"/>
              <a:t>- In a nutshell, EVM is like compiler, Bytecode is Assembly and EVM is also the CPU minus the Persistent storage which is the blockchain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67dde5d1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67dde5d1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67dde5d1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67dde5d1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67dde5d1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67dde5d1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67dde5d1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67dde5d1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7dde5d1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67dde5d1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e4ad6bd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e4ad6bd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Types are directly stored in memory. Copying a value type will result in two copies in memory (deep copy)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67dde5d1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67dde5d1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3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Simulation: Blockchain Architectural Evaluation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1893175"/>
            <a:ext cx="8520600" cy="16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Blockchain Networks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24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are the players?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510" y="2162962"/>
            <a:ext cx="863691" cy="863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3804" y="2008308"/>
            <a:ext cx="1125672" cy="11256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5"/>
          <p:cNvCxnSpPr>
            <a:stCxn id="71" idx="3"/>
            <a:endCxn id="72" idx="1"/>
          </p:cNvCxnSpPr>
          <p:nvPr/>
        </p:nvCxnSpPr>
        <p:spPr>
          <a:xfrm flipH="1" rot="10800000">
            <a:off x="2133201" y="2571107"/>
            <a:ext cx="1180500" cy="23700"/>
          </a:xfrm>
          <a:prstGeom prst="straightConnector1">
            <a:avLst/>
          </a:prstGeom>
          <a:noFill/>
          <a:ln cap="flat" cmpd="sng" w="13425">
            <a:solidFill>
              <a:srgbClr val="00695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5"/>
          <p:cNvSpPr txBox="1"/>
          <p:nvPr/>
        </p:nvSpPr>
        <p:spPr>
          <a:xfrm>
            <a:off x="2023092" y="1273530"/>
            <a:ext cx="20088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775" lIns="128775" spcFirstLastPara="1" rIns="128775" wrap="square" tIns="12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Posts transaction as RPC, sets max gas spending</a:t>
            </a:r>
            <a:endParaRPr sz="12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937096" y="1994681"/>
            <a:ext cx="1937400" cy="605400"/>
          </a:xfrm>
          <a:prstGeom prst="rect">
            <a:avLst/>
          </a:prstGeom>
          <a:solidFill>
            <a:srgbClr val="26A69A"/>
          </a:solidFill>
          <a:ln cap="flat" cmpd="sng" w="13425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775" lIns="128775" spcFirstLastPara="1" rIns="128775" wrap="square" tIns="12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1">
                <a:latin typeface="Old Standard TT"/>
                <a:ea typeface="Old Standard TT"/>
                <a:cs typeface="Old Standard TT"/>
                <a:sym typeface="Old Standard TT"/>
              </a:rPr>
              <a:t>Execution</a:t>
            </a:r>
            <a:endParaRPr sz="197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937096" y="2638646"/>
            <a:ext cx="1937400" cy="605400"/>
          </a:xfrm>
          <a:prstGeom prst="rect">
            <a:avLst/>
          </a:prstGeom>
          <a:solidFill>
            <a:srgbClr val="26A69A"/>
          </a:solidFill>
          <a:ln cap="flat" cmpd="sng" w="13425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775" lIns="128775" spcFirstLastPara="1" rIns="128775" wrap="square" tIns="12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1">
                <a:latin typeface="Old Standard TT"/>
                <a:ea typeface="Old Standard TT"/>
                <a:cs typeface="Old Standard TT"/>
                <a:sym typeface="Old Standard TT"/>
              </a:rPr>
              <a:t>Consensus</a:t>
            </a:r>
            <a:endParaRPr sz="197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77" name="Google Shape;77;p15"/>
          <p:cNvCxnSpPr>
            <a:stCxn id="72" idx="3"/>
          </p:cNvCxnSpPr>
          <p:nvPr/>
        </p:nvCxnSpPr>
        <p:spPr>
          <a:xfrm flipH="1" rot="10800000">
            <a:off x="4439476" y="2536644"/>
            <a:ext cx="1134600" cy="34500"/>
          </a:xfrm>
          <a:prstGeom prst="straightConnector1">
            <a:avLst/>
          </a:prstGeom>
          <a:noFill/>
          <a:ln cap="flat" cmpd="sng" w="13425">
            <a:solidFill>
              <a:srgbClr val="00695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5"/>
          <p:cNvSpPr txBox="1"/>
          <p:nvPr/>
        </p:nvSpPr>
        <p:spPr>
          <a:xfrm>
            <a:off x="4423630" y="1340504"/>
            <a:ext cx="15135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775" lIns="128775" spcFirstLastPara="1" rIns="128775" wrap="square" tIns="12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ld Standard TT"/>
                <a:ea typeface="Old Standard TT"/>
                <a:cs typeface="Old Standard TT"/>
                <a:sym typeface="Old Standard TT"/>
              </a:rPr>
              <a:t>Validators pick up transactions from the mempool</a:t>
            </a:r>
            <a:endParaRPr sz="12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96850" y="3389200"/>
            <a:ext cx="214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Users submit transactions through wallets or Smart Contracts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058250" y="3433100"/>
            <a:ext cx="214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Nodes execute the request, check gas limits, submit to mempool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883200" y="3433100"/>
            <a:ext cx="2485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Validators are made up of two clients: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Execution - re-execute each transaction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Consensys - Participate in block building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489226" y="2681950"/>
            <a:ext cx="11805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775" lIns="128775" spcFirstLastPara="1" rIns="128775" wrap="square" tIns="12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ld Standard TT"/>
                <a:ea typeface="Old Standard TT"/>
                <a:cs typeface="Old Standard TT"/>
                <a:sym typeface="Old Standard TT"/>
              </a:rPr>
              <a:t>In reality, a lot of competition happens here</a:t>
            </a:r>
            <a:endParaRPr sz="1000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8053446" y="2065359"/>
            <a:ext cx="746400" cy="46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EVM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8025746" y="2681959"/>
            <a:ext cx="746400" cy="49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Beacon Chain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19714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the network look like?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425" y="726927"/>
            <a:ext cx="7001180" cy="40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1195454" y="4691360"/>
            <a:ext cx="625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Source: https://github.com/millecodex/COMP842/blob/master/lectures/3-consensus-pow.md</a:t>
            </a:r>
            <a:endParaRPr sz="9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16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Topology - speed &amp; robustness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050" y="2946750"/>
            <a:ext cx="1607899" cy="15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753" y="3483399"/>
            <a:ext cx="2444426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1446900" y="1023650"/>
            <a:ext cx="6250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What is the maximum possible travel distance?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What happens when a node goes down?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What is the load on each node?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0500" y="2766744"/>
            <a:ext cx="1960824" cy="1897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913325" y="4452625"/>
            <a:ext cx="173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Line (point to point)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225643" y="4452625"/>
            <a:ext cx="69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Ring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7069493" y="4502775"/>
            <a:ext cx="69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Mesh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24030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matter?</a:t>
            </a: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3450" y="1090000"/>
            <a:ext cx="558154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387900" y="3068875"/>
            <a:ext cx="2089200" cy="16932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 is key to real world adoption.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 hour SEPA mandate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long would you wait for online payment confirmation?</a:t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387900" y="1012800"/>
            <a:ext cx="2089200" cy="19086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Services generating transactions: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POS devices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Bank transfers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Mobile banking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Online payments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2338325"/>
            <a:ext cx="8520600" cy="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Consensus Mechanisms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55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Work - Bitcoin</a:t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337550" y="1156175"/>
            <a:ext cx="3925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Earn rewards by solving hashing puzzles of new blocks. The hash is usually required to produce a certain number of zeros at the beginning of the block. Once a new block is created and added to the chain, it is mined.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Bitcoin rewards halving and puzzle difficulty increase reduces profitability.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Currently puzzle difficulty means only specialised hardware (ASIC) can solve these puzzles.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Individual mining is now impossible. Only mining pools profiting. Not decentralized?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Nakamoto consensus.- longest chain wins. 51% attacks? Discard shorter chains.</a:t>
            </a:r>
            <a:endParaRPr/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565" y="1128800"/>
            <a:ext cx="4246536" cy="34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Stake - Ethereum</a:t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337550" y="1072325"/>
            <a:ext cx="83364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Proof of Stake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Validators stake ETH vs Miners stake computation power.  Validators can </a:t>
            </a:r>
            <a:r>
              <a:rPr b="1" lang="en"/>
              <a:t>propose</a:t>
            </a:r>
            <a:r>
              <a:rPr lang="en"/>
              <a:t> new blocks or </a:t>
            </a:r>
            <a:r>
              <a:rPr b="1" lang="en"/>
              <a:t>attest</a:t>
            </a:r>
            <a:r>
              <a:rPr lang="en"/>
              <a:t> blocks being propagated.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Ethereum Classic (ETC) used PoW. Switched to PoS in 2022 (ETH).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Staking methods - join activation pool to rate limit new validators (extremely rich players?)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Solo staking requires 32ETH (65k USD) + hardware (computation + redundancy)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Staking as a Service (minus hardware costs?)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Staking pools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Every 12s (1 </a:t>
            </a:r>
            <a:r>
              <a:rPr b="1" lang="en"/>
              <a:t>slot</a:t>
            </a:r>
            <a:r>
              <a:rPr lang="en">
                <a:solidFill>
                  <a:schemeClr val="dk1"/>
                </a:solidFill>
              </a:rPr>
              <a:t>), a validator is chosen to be the proposer and a group is selected to be attestors (re-execute block for correctness). Every 32 slots is considered 1 </a:t>
            </a:r>
            <a:r>
              <a:rPr b="1" lang="en">
                <a:solidFill>
                  <a:schemeClr val="dk1"/>
                </a:solidFill>
              </a:rPr>
              <a:t>epoch</a:t>
            </a:r>
            <a:r>
              <a:rPr lang="en">
                <a:solidFill>
                  <a:schemeClr val="dk1"/>
                </a:solidFill>
              </a:rPr>
              <a:t>. All validators check proposed 32 blocks to prevent subgroup dishonesty.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Consensus now 67% majority, uncle blocks rewarded as opposed to orphan blocks in Bitcoin.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Beware of slashing, check rules.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Attesting two competing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Proposer spams blocks or proposes malformed blocks (Gasper)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ETH penalty and ban period. Or permanent expulsion.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Whistleblower rewards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475" y="865325"/>
            <a:ext cx="3566600" cy="4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History - Solana</a:t>
            </a:r>
            <a:endParaRPr/>
          </a:p>
        </p:txBody>
      </p:sp>
      <p:sp>
        <p:nvSpPr>
          <p:cNvPr id="136" name="Google Shape;136;p22"/>
          <p:cNvSpPr txBox="1"/>
          <p:nvPr/>
        </p:nvSpPr>
        <p:spPr>
          <a:xfrm>
            <a:off x="489950" y="927575"/>
            <a:ext cx="8380200" cy="2139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POS + Proof of History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cryptographic clock that is implemented on top of PoW or PoS. A different take on Byzantine fault tolerance (51% attack, Sybil attack). Ethereum requires ⅔  attester confidence. PoH server generates a Verified Delay Function (VDF) and stamps each transaction. Validators check timestamp and send vote to PoH server. </a:t>
            </a:r>
            <a:r>
              <a:rPr b="1" lang="en"/>
              <a:t>No need for validators to come to consensus about a block.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PoH server a huge source of centrality.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Added complexity increases network outages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Decreased security checks means a lot of hacks!</a:t>
            </a:r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3">
            <a:alphaModFix/>
          </a:blip>
          <a:srcRect b="0" l="0" r="80959" t="0"/>
          <a:stretch/>
        </p:blipFill>
        <p:spPr>
          <a:xfrm>
            <a:off x="280500" y="3181025"/>
            <a:ext cx="1145524" cy="181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22"/>
          <p:cNvGrpSpPr/>
          <p:nvPr/>
        </p:nvGrpSpPr>
        <p:grpSpPr>
          <a:xfrm>
            <a:off x="4724400" y="3458650"/>
            <a:ext cx="3837224" cy="1274200"/>
            <a:chOff x="4876800" y="3382450"/>
            <a:chExt cx="3837224" cy="1274200"/>
          </a:xfrm>
        </p:grpSpPr>
        <p:pic>
          <p:nvPicPr>
            <p:cNvPr id="139" name="Google Shape;139;p22"/>
            <p:cNvPicPr preferRelativeResize="0"/>
            <p:nvPr/>
          </p:nvPicPr>
          <p:blipFill rotWithShape="1">
            <a:blip r:embed="rId4">
              <a:alphaModFix/>
            </a:blip>
            <a:srcRect b="0" l="0" r="76368" t="0"/>
            <a:stretch/>
          </p:blipFill>
          <p:spPr>
            <a:xfrm>
              <a:off x="4876800" y="3382450"/>
              <a:ext cx="2160824" cy="127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22"/>
            <p:cNvPicPr preferRelativeResize="0"/>
            <p:nvPr/>
          </p:nvPicPr>
          <p:blipFill rotWithShape="1">
            <a:blip r:embed="rId4">
              <a:alphaModFix/>
            </a:blip>
            <a:srcRect b="0" l="76744" r="-375" t="0"/>
            <a:stretch/>
          </p:blipFill>
          <p:spPr>
            <a:xfrm>
              <a:off x="6553200" y="3382450"/>
              <a:ext cx="2160824" cy="1274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1" name="Google Shape;14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0824" y="3219575"/>
            <a:ext cx="2563058" cy="1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Blockchain Trilemma</a:t>
            </a:r>
            <a:endParaRPr/>
          </a:p>
        </p:txBody>
      </p:sp>
      <p:sp>
        <p:nvSpPr>
          <p:cNvPr id="147" name="Google Shape;147;p23"/>
          <p:cNvSpPr/>
          <p:nvPr/>
        </p:nvSpPr>
        <p:spPr>
          <a:xfrm>
            <a:off x="2768475" y="1308225"/>
            <a:ext cx="3450300" cy="29487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Pick 2</a:t>
            </a:r>
            <a:endParaRPr sz="3300"/>
          </a:p>
        </p:txBody>
      </p:sp>
      <p:sp>
        <p:nvSpPr>
          <p:cNvPr id="148" name="Google Shape;148;p23"/>
          <p:cNvSpPr txBox="1"/>
          <p:nvPr/>
        </p:nvSpPr>
        <p:spPr>
          <a:xfrm>
            <a:off x="3951725" y="839625"/>
            <a:ext cx="107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Secure</a:t>
            </a:r>
            <a:endParaRPr sz="1900"/>
          </a:p>
        </p:txBody>
      </p:sp>
      <p:sp>
        <p:nvSpPr>
          <p:cNvPr id="149" name="Google Shape;149;p23"/>
          <p:cNvSpPr txBox="1"/>
          <p:nvPr/>
        </p:nvSpPr>
        <p:spPr>
          <a:xfrm>
            <a:off x="6258375" y="4124425"/>
            <a:ext cx="193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Decentralized</a:t>
            </a:r>
            <a:endParaRPr sz="2000"/>
          </a:p>
        </p:txBody>
      </p:sp>
      <p:sp>
        <p:nvSpPr>
          <p:cNvPr id="150" name="Google Shape;150;p23"/>
          <p:cNvSpPr txBox="1"/>
          <p:nvPr/>
        </p:nvSpPr>
        <p:spPr>
          <a:xfrm>
            <a:off x="1551975" y="4128700"/>
            <a:ext cx="13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Scalable</a:t>
            </a:r>
            <a:endParaRPr sz="2000"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575" y="2124525"/>
            <a:ext cx="980226" cy="98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505073">
            <a:off x="2121683" y="2051606"/>
            <a:ext cx="2209757" cy="124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0325" y="4321000"/>
            <a:ext cx="743250" cy="7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2350375"/>
            <a:ext cx="8520600" cy="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Let's play a game!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12" y="22140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rules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311700" y="901551"/>
            <a:ext cx="8520600" cy="3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round of the game will have 3 phases: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Phase 1: Data Propagation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professor gives a random student a message.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student will propagate the message according to the network topology announced by the professor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Strictly </a:t>
            </a:r>
            <a:r>
              <a:rPr b="1" lang="en"/>
              <a:t>no</a:t>
            </a:r>
            <a:r>
              <a:rPr lang="en"/>
              <a:t> verbal communication! Ex. Handwriting is bad, please clarify this letter.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Phase 2: Reaching Consensus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will stay the same.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Professor will explain the consensus mechanism to reach the final answer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Phase 3: Result and Reflection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correct final answer will award certain student(s) points.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points, up to 10, will count towards your Homework 1, Exercise 3.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the end of each round 90s to discuss, write down learnings into the work sheet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