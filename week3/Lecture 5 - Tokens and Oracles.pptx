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Old Standard TT"/>
      <p:regular r:id="rId48"/>
      <p:bold r:id="rId49"/>
      <p: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ldStandardTT-regular.fntdata"/><Relationship Id="rId47" Type="http://schemas.openxmlformats.org/officeDocument/2006/relationships/slide" Target="slides/slide42.xml"/><Relationship Id="rId49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33b6c21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033b6c21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c047357e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c047357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33b6c21a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33b6c21a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Coins are a type of token - but tokens are far more general, can be any representation of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0b47428b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b0b47428b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2016, first way to allow smart contracts accept tokens from a wallet. They then do something with the tokens, that's why they are called spenders.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Allowance checks how much a wallet can approve.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0d7252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70d7252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70d7252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70d7252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0d7252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70d7252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0d7252c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0d7252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0d7252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70d7252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0d7252c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0d7252c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1000 x 5 = 5000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(1000+500)x3 = 4500</a:t>
            </a:r>
            <a:br>
              <a:rPr lang="en"/>
            </a:br>
            <a:r>
              <a:rPr lang="en"/>
              <a:t>Q3: (1500 -50 - 100) x 4 = 5400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0d7252c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70d7252c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27a37e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b27a37e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1d60d0a0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1d60d0a0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b1f81fb74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b1f81fb7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1d60d0a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1d60d0a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1f81fb74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1f81fb7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1f81fb7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1f81fb7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b1f81fb74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1f81fb74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1f81fb74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1f81fb74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0d7252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70d7252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70d7252c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70d7252c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similar to traditional securities market - also used by centralized exchanges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Decentralized exchanges use robot market makers - some use order books as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 experimenting with a mixed model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70d7252c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70d7252c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70d7252c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70d7252c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0d7252c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0d7252c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0d7252c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70d7252c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70d7252c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70d7252c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70d7252c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70d7252c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70d7252c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70d7252c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from a graphical point of view, this is really good! Price stability for the major part of the quantities, only at very extremes, there is potential volatility.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70d7252c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70d7252c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70d7252c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b70d7252c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70d7252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70d7252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70d7252c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70d7252c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70d7252c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70d7252c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70d7252c1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70d7252c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70d7252c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70d7252c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70d7252c1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70d7252c1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70d7252c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70d7252c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70d7252c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70d7252c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70d7252c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70d7252c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70d7252c1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70d7252c1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Stiftung Warentest - paid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 - attack hijacks one data node and floods oracles with useless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Sybil attacks - posing as multiple identities to game to voting system f a group of decentralized oracles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70d7252c1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70d7252c1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and Oracles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350375"/>
            <a:ext cx="8520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Fungibility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Fungible Tokens?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081800" cy="3416400"/>
          </a:xfrm>
          <a:prstGeom prst="rect">
            <a:avLst/>
          </a:prstGeom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Fungible</a:t>
            </a:r>
            <a:endParaRPr b="1"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Exists an exact identical unit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Euro coin is not unique, many other 1 Euro coins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care about </a:t>
            </a:r>
            <a:r>
              <a:rPr b="1" lang="en"/>
              <a:t>how much</a:t>
            </a:r>
            <a:r>
              <a:rPr lang="en"/>
              <a:t>. 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750500" y="1171950"/>
            <a:ext cx="4081800" cy="3416400"/>
          </a:xfrm>
          <a:prstGeom prst="rect">
            <a:avLst/>
          </a:prstGeom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Non-</a:t>
            </a:r>
            <a:r>
              <a:rPr b="1" lang="en" sz="2700"/>
              <a:t>Fungible</a:t>
            </a:r>
            <a:endParaRPr b="1"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other unit is the same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house is different from its neighbour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care about </a:t>
            </a:r>
            <a:r>
              <a:rPr b="1" lang="en"/>
              <a:t>what feature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- A representation of Value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6325"/>
            <a:ext cx="8839197" cy="33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ERC20 Standard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64100" y="1152475"/>
            <a:ext cx="4481400" cy="572700"/>
          </a:xfrm>
          <a:prstGeom prst="rect">
            <a:avLst/>
          </a:prstGeom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en" sz="1865"/>
              <a:t>https://eips.ethereum.org/EIPS/eip-20</a:t>
            </a:r>
            <a:endParaRPr b="1" sz="1865"/>
          </a:p>
        </p:txBody>
      </p:sp>
      <p:sp>
        <p:nvSpPr>
          <p:cNvPr id="85" name="Google Shape;85;p17"/>
          <p:cNvSpPr txBox="1"/>
          <p:nvPr/>
        </p:nvSpPr>
        <p:spPr>
          <a:xfrm>
            <a:off x="743225" y="4252075"/>
            <a:ext cx="7828800" cy="723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event Transfer(address indexed _from, address indexed _to, uint256 _value)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200">
                <a:solidFill>
                  <a:srgbClr val="212529"/>
                </a:solidFill>
              </a:rPr>
              <a:t>event Approval(address indexed _owner, address indexed _spender, uint256 _value)</a:t>
            </a:r>
            <a:endParaRPr sz="1200"/>
          </a:p>
        </p:txBody>
      </p:sp>
      <p:sp>
        <p:nvSpPr>
          <p:cNvPr id="86" name="Google Shape;86;p17"/>
          <p:cNvSpPr txBox="1"/>
          <p:nvPr/>
        </p:nvSpPr>
        <p:spPr>
          <a:xfrm>
            <a:off x="5151600" y="789150"/>
            <a:ext cx="3687600" cy="102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name()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(string)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symbol()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(string)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decimals()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(uint8)</a:t>
            </a:r>
            <a:endParaRPr sz="1200"/>
          </a:p>
        </p:txBody>
      </p:sp>
      <p:sp>
        <p:nvSpPr>
          <p:cNvPr id="87" name="Google Shape;87;p17"/>
          <p:cNvSpPr txBox="1"/>
          <p:nvPr/>
        </p:nvSpPr>
        <p:spPr>
          <a:xfrm>
            <a:off x="857250" y="2018875"/>
            <a:ext cx="7489500" cy="2136900"/>
          </a:xfrm>
          <a:prstGeom prst="rect">
            <a:avLst/>
          </a:prstGeom>
          <a:solidFill>
            <a:srgbClr val="F6EAE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totalSupply()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(uint256)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balanceOf(address _owner)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(uint256 balance)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transfer(address _to, uint256 _value)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returns (bool success)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transferFrom(address _from, address _to, uint256 _value)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returns (bool success)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approve(address _spender, uint256 _value)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returns (bool success)</a:t>
            </a:r>
            <a:endParaRPr sz="1200">
              <a:solidFill>
                <a:srgbClr val="212529"/>
              </a:solidFill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" sz="1200">
                <a:solidFill>
                  <a:srgbClr val="212529"/>
                </a:solidFill>
              </a:rPr>
              <a:t>function</a:t>
            </a:r>
            <a:r>
              <a:rPr lang="en" sz="1200">
                <a:solidFill>
                  <a:srgbClr val="212529"/>
                </a:solidFill>
              </a:rPr>
              <a:t> allowance(address _owner, address _spender) </a:t>
            </a:r>
            <a:r>
              <a:rPr b="1" lang="en" sz="1200">
                <a:solidFill>
                  <a:srgbClr val="212529"/>
                </a:solidFill>
              </a:rPr>
              <a:t>public</a:t>
            </a:r>
            <a:r>
              <a:rPr lang="en" sz="1200">
                <a:solidFill>
                  <a:srgbClr val="212529"/>
                </a:solidFill>
              </a:rPr>
              <a:t> view returns (uint256 remaining)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045575"/>
            <a:ext cx="8520600" cy="1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Tokenomics - Financial Metrics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6">
                <a:solidFill>
                  <a:schemeClr val="lt1"/>
                </a:solidFill>
              </a:rPr>
              <a:t>Supply, Demand, Valuation</a:t>
            </a:r>
            <a:endParaRPr sz="2466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Supply - Definitions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941525"/>
            <a:ext cx="8520600" cy="4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Max Supply</a:t>
            </a:r>
            <a:r>
              <a:rPr lang="en"/>
              <a:t> - The total number of coins that can ever exist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Bitcoin has a Max supply of 21 Million.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Solana, Dogecoin has unlimited supply!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Issuance Rate / Supply schedule</a:t>
            </a:r>
            <a:r>
              <a:rPr lang="en"/>
              <a:t> - rate at which coins are minted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90% of bitcoin has been mined. Last coin in 120 years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Affects inflation / deflation of coin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Circulating Supply</a:t>
            </a:r>
            <a:r>
              <a:rPr lang="en"/>
              <a:t> - Amount currently on the market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Affected by issuance and burning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Total Supply</a:t>
            </a:r>
            <a:r>
              <a:rPr lang="en"/>
              <a:t> - circulating supply plus locked/staked/reserved tokens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Gap too big - possible market shock if there is supply flood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Supply - Control Mechanics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017725"/>
            <a:ext cx="85206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Reserve / Lockup</a:t>
            </a:r>
            <a:r>
              <a:rPr lang="en"/>
              <a:t> - Company holds coins to prevent it circulation. Worrisome for users if too large, suspect of market manipulation.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Buyback / Burn</a:t>
            </a:r>
            <a:r>
              <a:rPr lang="en"/>
              <a:t> - Company buys back tokens and destroys them to reduce supply, control inflation, boost prices.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Vesting and penalties</a:t>
            </a:r>
            <a:r>
              <a:rPr lang="en"/>
              <a:t> - Amount locked for a certain amount of time, pay a penalty if liquidated early. Drives stability. (TVL)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Staking - </a:t>
            </a:r>
            <a:r>
              <a:rPr lang="en"/>
              <a:t>locking up funds for services. To receive rewards from nodes or earn yield from lending. Improves stability and ensures continued activity.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Demand Generation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017725"/>
            <a:ext cx="8520600" cy="3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Community / User base</a:t>
            </a:r>
            <a:r>
              <a:rPr lang="en"/>
              <a:t> - How big is the community and how engaged they are.</a:t>
            </a:r>
            <a:endParaRPr/>
          </a:p>
          <a:p>
            <a:pPr indent="-334327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Attention Economy - Elon bought Dogecoin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Artificial Users - trading bots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Technological Niche</a:t>
            </a:r>
            <a:r>
              <a:rPr lang="en"/>
              <a:t> - project solves a technical need of the community.</a:t>
            </a:r>
            <a:endParaRPr/>
          </a:p>
          <a:p>
            <a:pPr indent="-334327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interactions from on and off chain.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Consensus Mechanisms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Trading Mechanisms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Conversion - </a:t>
            </a:r>
            <a:r>
              <a:rPr lang="en"/>
              <a:t>blue ocean strategy, partnerships with existing large web2 companies. Developing traditional use cases.</a:t>
            </a:r>
            <a:endParaRPr/>
          </a:p>
          <a:p>
            <a:pPr indent="-334327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Celo phone number to wallet mapping / DT SMS API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- Market Capitalization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2269825"/>
            <a:ext cx="8520600" cy="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100"/>
              <a:t>Market Cap = Circulating Supply x Coin Price</a:t>
            </a:r>
            <a:endParaRPr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Capitalization - Example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currently 1000 Dauphine Coins in circulation. The current price is $5 per coin.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Question 1</a:t>
            </a:r>
            <a:r>
              <a:rPr lang="en"/>
              <a:t>: What is the current Market Capitalization?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Question 2</a:t>
            </a:r>
            <a:r>
              <a:rPr lang="en"/>
              <a:t>: Dauphine decides to mint 1000 more coins and puts 500 in a reserve. After the mint, new coin price is $3. What is the new Market Capitalization?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Question 3</a:t>
            </a:r>
            <a:r>
              <a:rPr lang="en"/>
              <a:t>: A user locks 50 Dauphine Coins for rewards and Dauphine decides to burn 100 coins. Now, price goes up to $4. What is the new Market Capitalization?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- Other Metrics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71600"/>
            <a:ext cx="8520600" cy="3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Total Addressable Market</a:t>
            </a:r>
            <a:r>
              <a:rPr lang="en"/>
              <a:t> - What is the maximum amount of users that your protocol can capture?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Utility Token Model</a:t>
            </a:r>
            <a:r>
              <a:rPr lang="en"/>
              <a:t> - How is the native platform token being used? What need does it address?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Core Team</a:t>
            </a:r>
            <a:r>
              <a:rPr lang="en"/>
              <a:t> - Crypto is very new, what expertise does the core team have? Tech/Finance/Legal mix.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Community and Partnerships</a:t>
            </a:r>
            <a:r>
              <a:rPr lang="en"/>
              <a:t> - Both users and enterprise service providers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Other Traditional Financial Metrics</a:t>
            </a:r>
            <a:r>
              <a:rPr lang="en"/>
              <a:t> - Mostly used by VCs and applicable to exchanges and financial services. P/E ratio, Discounted Cash Flow,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045575"/>
            <a:ext cx="8520600" cy="1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Tokenomics - Social Considerations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6">
                <a:solidFill>
                  <a:schemeClr val="lt1"/>
                </a:solidFill>
              </a:rPr>
              <a:t>Network Effects and Incentives</a:t>
            </a:r>
            <a:endParaRPr sz="2466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bootstrapping problem</a:t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75" y="1976325"/>
            <a:ext cx="1680850" cy="16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7225" y="1976950"/>
            <a:ext cx="1680850" cy="16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975" y="1515425"/>
            <a:ext cx="3167824" cy="2539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network = stable utility</a:t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075" y="1000900"/>
            <a:ext cx="7168540" cy="38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TradFi can use </a:t>
            </a:r>
            <a:r>
              <a:rPr i="1" lang="en"/>
              <a:t>force</a:t>
            </a:r>
            <a:endParaRPr i="1"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25" y="1530950"/>
            <a:ext cx="2202050" cy="21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 txBox="1"/>
          <p:nvPr/>
        </p:nvSpPr>
        <p:spPr>
          <a:xfrm>
            <a:off x="1636350" y="4106925"/>
            <a:ext cx="58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 a decentralized world, we can only leverage </a:t>
            </a: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incentives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275" y="2048825"/>
            <a:ext cx="1667925" cy="14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4876800" y="1799200"/>
            <a:ext cx="3877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Backed by judiciary and political political power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Centralized and easily controlled - monopoly?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Entities are able to enforce consequences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Sushi Vs Uni - Vampiric Bootstrapping</a:t>
            </a:r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762150" y="1074500"/>
            <a:ext cx="3347100" cy="386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uint amountBTC;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uint amountETH;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function deposit(){}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function trade(){}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(AMM)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function LPToken(){}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650" y="1601750"/>
            <a:ext cx="2627350" cy="2627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9"/>
          <p:cNvCxnSpPr/>
          <p:nvPr/>
        </p:nvCxnSpPr>
        <p:spPr>
          <a:xfrm rot="10800000">
            <a:off x="3050825" y="1872100"/>
            <a:ext cx="2912100" cy="62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9"/>
          <p:cNvCxnSpPr/>
          <p:nvPr/>
        </p:nvCxnSpPr>
        <p:spPr>
          <a:xfrm flipH="1" rot="10800000">
            <a:off x="3410100" y="3498275"/>
            <a:ext cx="2439300" cy="47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825" y="14518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31198">
            <a:off x="4542435" y="1624028"/>
            <a:ext cx="427336" cy="6039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/>
        </p:nvSpPr>
        <p:spPr>
          <a:xfrm rot="781234">
            <a:off x="4374447" y="1266938"/>
            <a:ext cx="1588543" cy="400317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Respect the split!</a:t>
            </a:r>
            <a:endParaRPr/>
          </a:p>
        </p:txBody>
      </p:sp>
      <p:sp>
        <p:nvSpPr>
          <p:cNvPr id="169" name="Google Shape;169;p29"/>
          <p:cNvSpPr txBox="1"/>
          <p:nvPr/>
        </p:nvSpPr>
        <p:spPr>
          <a:xfrm rot="-683561">
            <a:off x="4040791" y="4408142"/>
            <a:ext cx="1588601" cy="400254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Entitled to profits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3850" y="3908701"/>
            <a:ext cx="472801" cy="47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7250" y="3756301"/>
            <a:ext cx="472801" cy="47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Sushi Vs Uni - Vampiric Bootstrapping</a:t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99" y="1222648"/>
            <a:ext cx="1177651" cy="117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3461975"/>
            <a:ext cx="1177650" cy="117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0"/>
          <p:cNvCxnSpPr>
            <a:endCxn id="178" idx="0"/>
          </p:cNvCxnSpPr>
          <p:nvPr/>
        </p:nvCxnSpPr>
        <p:spPr>
          <a:xfrm>
            <a:off x="1122225" y="2400275"/>
            <a:ext cx="0" cy="10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30"/>
          <p:cNvSpPr txBox="1"/>
          <p:nvPr/>
        </p:nvSpPr>
        <p:spPr>
          <a:xfrm>
            <a:off x="1214100" y="2722600"/>
            <a:ext cx="8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Fork!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2673600" y="1691050"/>
            <a:ext cx="624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Sushi gave its users one more incentive - stake the Sushi token and receive protocol returns (like equity)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 Sushi = 1 Uni - only way to receive sushi tokens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Then…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Uni users pumped liquidity into the protocol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Finally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Sushiswap drains 55% of Uniswap's liquidity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Sushi sucks $800Mil from Uni</a:t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982025"/>
            <a:ext cx="7370108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Tokenomics….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Overcome the initial bootstrapping problem and reach critical mass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 is CHEAP. Design incentives which empower individual users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Incentives contribute to the utility and security of the protocol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Achieve the correct incentives, then apply traditional economic wisdom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AMM Refresh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Algorithmic price setting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Exchange Models</a:t>
            </a:r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17725"/>
            <a:ext cx="7195651" cy="32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4"/>
          <p:cNvSpPr txBox="1"/>
          <p:nvPr/>
        </p:nvSpPr>
        <p:spPr>
          <a:xfrm>
            <a:off x="311700" y="4645050"/>
            <a:ext cx="885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https://blockchain-academy.hs-mittweida.de/courses/blockchain-introduction-technical-beginner-to-intermediate/lessons/lesson-26-decentralized-exchanges/topic/introduction-to-decentralized-exchanges/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Product Model: CP-AMM - Uniswap</a:t>
            </a:r>
            <a:endParaRPr/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00" y="1058225"/>
            <a:ext cx="4002502" cy="3780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5"/>
          <p:cNvSpPr txBox="1"/>
          <p:nvPr/>
        </p:nvSpPr>
        <p:spPr>
          <a:xfrm>
            <a:off x="6062525" y="2484475"/>
            <a:ext cx="1758600" cy="523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A * B = k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1990350" y="1516275"/>
            <a:ext cx="2809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 actuality, there is a fee charged which increases k. As k increase, the slippage lowers.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This fee is used to pay Liquidity Providers and the protocol.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4" name="Google Shape;214;p35"/>
          <p:cNvSpPr/>
          <p:nvPr/>
        </p:nvSpPr>
        <p:spPr>
          <a:xfrm>
            <a:off x="1502225" y="1159100"/>
            <a:ext cx="2750350" cy="2976550"/>
          </a:xfrm>
          <a:custGeom>
            <a:rect b="b" l="l" r="r" t="t"/>
            <a:pathLst>
              <a:path extrusionOk="0" h="119062" w="110014">
                <a:moveTo>
                  <a:pt x="0" y="0"/>
                </a:moveTo>
                <a:cubicBezTo>
                  <a:pt x="3413" y="14288"/>
                  <a:pt x="2143" y="65881"/>
                  <a:pt x="20479" y="85725"/>
                </a:cubicBezTo>
                <a:cubicBezTo>
                  <a:pt x="38815" y="105569"/>
                  <a:pt x="95092" y="113506"/>
                  <a:pt x="110014" y="119062"/>
                </a:cubicBezTo>
              </a:path>
            </a:pathLst>
          </a:cu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15" name="Google Shape;215;p35"/>
          <p:cNvCxnSpPr/>
          <p:nvPr/>
        </p:nvCxnSpPr>
        <p:spPr>
          <a:xfrm flipH="1" rot="10800000">
            <a:off x="1728450" y="3480725"/>
            <a:ext cx="2619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CPAMM - Examples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Liquidity Pool currently contains 1000 ETH and 10 BTC.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1: What is the current product constant? What is the current exchange rate?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1000 x 10 = 10 000                                		                   100 ETH : 1BTC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2: I want to buy 1 BTC. How much ETH do I have to pay? What is the new exchange rate?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(1000 + x) * (10 - 1) = 10000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                 1000 + x = 10000 /  9                                          111,11 ETH : 1BTC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                     x = 111,11 ETH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CPAMM - Examples Cont.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Liquidity Pool currently contains 1000 ETH and 10 BTC.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3: I want to buy 5 more BTC. What is the exchange ratio now?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(111,11 + x) * (9-5) = 10000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111,11 + x = 10000 / 4                                   2388,89 ETH : 5 BTC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x = 2388,89 ETH					 477,78 ETH : 1BTC</a:t>
            </a:r>
            <a:endParaRPr sz="1400"/>
          </a:p>
        </p:txBody>
      </p:sp>
      <p:sp>
        <p:nvSpPr>
          <p:cNvPr id="228" name="Google Shape;228;p37"/>
          <p:cNvSpPr txBox="1"/>
          <p:nvPr/>
        </p:nvSpPr>
        <p:spPr>
          <a:xfrm>
            <a:off x="1691525" y="4179100"/>
            <a:ext cx="5786400" cy="47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Towards the extremes, price volatility is exponential!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2164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Sum Model: CS-AMM</a:t>
            </a:r>
            <a:endParaRPr/>
          </a:p>
        </p:txBody>
      </p:sp>
      <p:sp>
        <p:nvSpPr>
          <p:cNvPr id="234" name="Google Shape;234;p38"/>
          <p:cNvSpPr txBox="1"/>
          <p:nvPr/>
        </p:nvSpPr>
        <p:spPr>
          <a:xfrm>
            <a:off x="6138725" y="2484475"/>
            <a:ext cx="1758600" cy="523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A + B = k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905825"/>
            <a:ext cx="4112168" cy="39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CSAMM - Examples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Liquidity Pool currently contains 1000 USDT and 1000 USD.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1: What is the current product constant? What is the current exchange rate?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1000 + 1000 = 2 000                                      1 USDT : 1USD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2: I want to buy 100 USDT. How much USD do I have to pay? What is the new exchange rate?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(1000 + x) + (1000 - 100) = 2000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1000 + x = 2000 - 900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x = 100                                                             1 USDT : 1USD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CPAMM - Examples Cont.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Liquidity Pool currently contains 1000 ETH and 10 BTC.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Question 3: I want to buy the remaining 900 USDT. What happens?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0 USDT remaining!!!</a:t>
            </a:r>
            <a:endParaRPr sz="1400"/>
          </a:p>
        </p:txBody>
      </p:sp>
      <p:sp>
        <p:nvSpPr>
          <p:cNvPr id="248" name="Google Shape;248;p40"/>
          <p:cNvSpPr txBox="1"/>
          <p:nvPr/>
        </p:nvSpPr>
        <p:spPr>
          <a:xfrm>
            <a:off x="2529725" y="3721900"/>
            <a:ext cx="3893100" cy="47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Price stable but liquidity danger!!!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CF-AMM - Curve Finance</a:t>
            </a:r>
            <a:endParaRPr/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058225"/>
            <a:ext cx="81153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2640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data! - Break free from 1:1</a:t>
            </a:r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 rotWithShape="1">
          <a:blip r:embed="rId3">
            <a:alphaModFix/>
          </a:blip>
          <a:srcRect b="0" l="12379" r="15729" t="0"/>
          <a:stretch/>
        </p:blipFill>
        <p:spPr>
          <a:xfrm>
            <a:off x="242550" y="1135275"/>
            <a:ext cx="5114701" cy="325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42"/>
          <p:cNvCxnSpPr/>
          <p:nvPr/>
        </p:nvCxnSpPr>
        <p:spPr>
          <a:xfrm>
            <a:off x="3704900" y="1909175"/>
            <a:ext cx="159600" cy="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42"/>
          <p:cNvSpPr txBox="1"/>
          <p:nvPr/>
        </p:nvSpPr>
        <p:spPr>
          <a:xfrm>
            <a:off x="5521775" y="2211600"/>
            <a:ext cx="318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Changing the constant factor flattens the curve (ends become straight like the line), decreasing price volatility and slippage.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data! - Dynamic leverage</a:t>
            </a:r>
            <a:endParaRPr/>
          </a:p>
        </p:txBody>
      </p:sp>
      <p:pic>
        <p:nvPicPr>
          <p:cNvPr id="268" name="Google Shape;268;p43"/>
          <p:cNvPicPr preferRelativeResize="0"/>
          <p:nvPr/>
        </p:nvPicPr>
        <p:blipFill rotWithShape="1">
          <a:blip r:embed="rId3">
            <a:alphaModFix/>
          </a:blip>
          <a:srcRect b="0" l="12087" r="0" t="0"/>
          <a:stretch/>
        </p:blipFill>
        <p:spPr>
          <a:xfrm>
            <a:off x="447350" y="1058225"/>
            <a:ext cx="71345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3"/>
          <p:cNvSpPr txBox="1"/>
          <p:nvPr/>
        </p:nvSpPr>
        <p:spPr>
          <a:xfrm>
            <a:off x="6616925" y="1626250"/>
            <a:ext cx="11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Weighting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70" name="Google Shape;270;p43"/>
          <p:cNvCxnSpPr>
            <a:stCxn id="269" idx="1"/>
          </p:cNvCxnSpPr>
          <p:nvPr/>
        </p:nvCxnSpPr>
        <p:spPr>
          <a:xfrm rot="10800000">
            <a:off x="5671325" y="1588450"/>
            <a:ext cx="945600" cy="2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43"/>
          <p:cNvCxnSpPr>
            <a:stCxn id="269" idx="1"/>
          </p:cNvCxnSpPr>
          <p:nvPr/>
        </p:nvCxnSpPr>
        <p:spPr>
          <a:xfrm flipH="1">
            <a:off x="5992925" y="1826350"/>
            <a:ext cx="624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43"/>
          <p:cNvSpPr txBox="1"/>
          <p:nvPr/>
        </p:nvSpPr>
        <p:spPr>
          <a:xfrm>
            <a:off x="6259975" y="2471150"/>
            <a:ext cx="2831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Adjust the weighting of both curves so the stable range is as large as possible.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Oracles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Pulling external data onchain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Volatility and Consensus</a:t>
            </a:r>
            <a:endParaRPr/>
          </a:p>
        </p:txBody>
      </p:sp>
      <p:pic>
        <p:nvPicPr>
          <p:cNvPr id="283" name="Google Shape;2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1286825"/>
            <a:ext cx="980076" cy="9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3188250"/>
            <a:ext cx="980076" cy="9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25" y="2266900"/>
            <a:ext cx="980076" cy="980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45"/>
          <p:cNvCxnSpPr>
            <a:endCxn id="283" idx="1"/>
          </p:cNvCxnSpPr>
          <p:nvPr/>
        </p:nvCxnSpPr>
        <p:spPr>
          <a:xfrm flipH="1" rot="10800000">
            <a:off x="1318500" y="1776863"/>
            <a:ext cx="434100" cy="4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5"/>
          <p:cNvCxnSpPr>
            <a:endCxn id="284" idx="1"/>
          </p:cNvCxnSpPr>
          <p:nvPr/>
        </p:nvCxnSpPr>
        <p:spPr>
          <a:xfrm>
            <a:off x="1240200" y="3142488"/>
            <a:ext cx="512400" cy="5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45"/>
          <p:cNvSpPr txBox="1"/>
          <p:nvPr/>
        </p:nvSpPr>
        <p:spPr>
          <a:xfrm>
            <a:off x="147875" y="3501950"/>
            <a:ext cx="109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0,99USDT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89" name="Google Shape;289;p45"/>
          <p:cNvSpPr txBox="1"/>
          <p:nvPr/>
        </p:nvSpPr>
        <p:spPr>
          <a:xfrm>
            <a:off x="1695438" y="2371650"/>
            <a:ext cx="109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0,98USDT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0" name="Google Shape;290;p45"/>
          <p:cNvSpPr txBox="1"/>
          <p:nvPr/>
        </p:nvSpPr>
        <p:spPr>
          <a:xfrm>
            <a:off x="1695450" y="4168325"/>
            <a:ext cx="121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0,996USDT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91" name="Google Shape;29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450" y="3340650"/>
            <a:ext cx="980076" cy="9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4000" y="3340650"/>
            <a:ext cx="980076" cy="9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825" y="3340650"/>
            <a:ext cx="980076" cy="9800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5"/>
          <p:cNvSpPr txBox="1"/>
          <p:nvPr/>
        </p:nvSpPr>
        <p:spPr>
          <a:xfrm>
            <a:off x="5992825" y="4475175"/>
            <a:ext cx="17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What is the price?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5" name="Google Shape;295;p45"/>
          <p:cNvSpPr/>
          <p:nvPr/>
        </p:nvSpPr>
        <p:spPr>
          <a:xfrm>
            <a:off x="5484900" y="1958150"/>
            <a:ext cx="2204388" cy="7503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USDT price is 0,995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96" name="Google Shape;296;p45"/>
          <p:cNvCxnSpPr>
            <a:stCxn id="291" idx="0"/>
          </p:cNvCxnSpPr>
          <p:nvPr/>
        </p:nvCxnSpPr>
        <p:spPr>
          <a:xfrm flipH="1" rot="10800000">
            <a:off x="5250488" y="2829750"/>
            <a:ext cx="758100" cy="5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45"/>
          <p:cNvCxnSpPr/>
          <p:nvPr/>
        </p:nvCxnSpPr>
        <p:spPr>
          <a:xfrm rot="10800000">
            <a:off x="6696538" y="2954850"/>
            <a:ext cx="7500" cy="3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45"/>
          <p:cNvCxnSpPr>
            <a:stCxn id="293" idx="0"/>
          </p:cNvCxnSpPr>
          <p:nvPr/>
        </p:nvCxnSpPr>
        <p:spPr>
          <a:xfrm rot="10800000">
            <a:off x="7259163" y="2845350"/>
            <a:ext cx="8187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45"/>
          <p:cNvCxnSpPr/>
          <p:nvPr/>
        </p:nvCxnSpPr>
        <p:spPr>
          <a:xfrm>
            <a:off x="3757300" y="1360125"/>
            <a:ext cx="15600" cy="30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45"/>
          <p:cNvSpPr txBox="1"/>
          <p:nvPr/>
        </p:nvSpPr>
        <p:spPr>
          <a:xfrm>
            <a:off x="4011375" y="1942525"/>
            <a:ext cx="1321200" cy="61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Hybrid Smart Contract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01" name="Google Shape;30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155" y="277845"/>
            <a:ext cx="2963948" cy="19754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45"/>
          <p:cNvCxnSpPr/>
          <p:nvPr/>
        </p:nvCxnSpPr>
        <p:spPr>
          <a:xfrm rot="10800000">
            <a:off x="6508850" y="1516375"/>
            <a:ext cx="0" cy="3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45"/>
          <p:cNvCxnSpPr/>
          <p:nvPr/>
        </p:nvCxnSpPr>
        <p:spPr>
          <a:xfrm>
            <a:off x="6758975" y="1487175"/>
            <a:ext cx="0" cy="3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Characteristics</a:t>
            </a:r>
            <a:endParaRPr/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311700" y="1171600"/>
            <a:ext cx="8520600" cy="3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Correctness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Authenticity - Is the data real. 18 degrees in winter?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Integrity - http network attacks. Did data get from A to B safely and unaltered?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Availability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Data must be available when requested. Must not hold up time sensitive executions.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Incentive Compatibility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91"/>
              <a:t>How to reward data providers so data quality increases</a:t>
            </a:r>
            <a:endParaRPr sz="15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91"/>
              <a:t>Attributability - Who supplied the data</a:t>
            </a:r>
            <a:endParaRPr sz="15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91"/>
              <a:t>Accountability - Appropriate reward and punishment</a:t>
            </a:r>
            <a:endParaRPr sz="159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311700" y="2164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Architecture</a:t>
            </a:r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000" y="748450"/>
            <a:ext cx="5410351" cy="42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7"/>
          <p:cNvSpPr txBox="1"/>
          <p:nvPr/>
        </p:nvSpPr>
        <p:spPr>
          <a:xfrm>
            <a:off x="25850" y="2683100"/>
            <a:ext cx="204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Emitted events are shown on chain, and are detected by data indexers (like GraphQL) interfacing with Validators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7" name="Google Shape;317;p47"/>
          <p:cNvSpPr txBox="1"/>
          <p:nvPr/>
        </p:nvSpPr>
        <p:spPr>
          <a:xfrm>
            <a:off x="7317250" y="3566525"/>
            <a:ext cx="165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UpdateRequest is a SC call going through EVM nodes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Example - State</a:t>
            </a:r>
            <a:endParaRPr/>
          </a:p>
        </p:txBody>
      </p:sp>
      <p:pic>
        <p:nvPicPr>
          <p:cNvPr id="323" name="Google Shape;3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7825"/>
            <a:ext cx="8834075" cy="23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Example - Requests</a:t>
            </a:r>
            <a:endParaRPr/>
          </a:p>
        </p:txBody>
      </p:sp>
      <p:pic>
        <p:nvPicPr>
          <p:cNvPr id="329" name="Google Shape;3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820225"/>
            <a:ext cx="764857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Example - Result Collection</a:t>
            </a:r>
            <a:endParaRPr/>
          </a:p>
        </p:txBody>
      </p:sp>
      <p:sp>
        <p:nvSpPr>
          <p:cNvPr id="335" name="Google Shape;335;p50"/>
          <p:cNvSpPr txBox="1"/>
          <p:nvPr/>
        </p:nvSpPr>
        <p:spPr>
          <a:xfrm>
            <a:off x="663800" y="1561400"/>
            <a:ext cx="6577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1. Check if the result comes from the list of "trusted" Oracles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2. Record the answer and mark the Oracle as "voted"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3. Loop through all the answers and compare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4. When an agreement is found, increment the Quorum Count.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5. Check when Quorum is reached 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6. Update Request to the requesting smart smart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Oracle Example - Update Requests</a:t>
            </a:r>
            <a:endParaRPr/>
          </a:p>
        </p:txBody>
      </p:sp>
      <p:pic>
        <p:nvPicPr>
          <p:cNvPr id="341" name="Google Shape;34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667825"/>
            <a:ext cx="7180649" cy="21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Architecture Types - Client Agreements</a:t>
            </a:r>
            <a:endParaRPr/>
          </a:p>
        </p:txBody>
      </p:sp>
      <p:sp>
        <p:nvSpPr>
          <p:cNvPr id="347" name="Google Shape;347;p52"/>
          <p:cNvSpPr txBox="1"/>
          <p:nvPr/>
        </p:nvSpPr>
        <p:spPr>
          <a:xfrm>
            <a:off x="888450" y="1485200"/>
            <a:ext cx="3220500" cy="400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Request-Receive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8" name="Google Shape;348;p52"/>
          <p:cNvSpPr txBox="1"/>
          <p:nvPr/>
        </p:nvSpPr>
        <p:spPr>
          <a:xfrm>
            <a:off x="888400" y="1862375"/>
            <a:ext cx="3220500" cy="1908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Model in previous example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request is made, fee payment and data is gathered from sources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Suitable for once off, non time critical requests.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Users only require a small unit of data.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9" name="Google Shape;349;p52"/>
          <p:cNvSpPr txBox="1"/>
          <p:nvPr/>
        </p:nvSpPr>
        <p:spPr>
          <a:xfrm>
            <a:off x="4980550" y="1485200"/>
            <a:ext cx="3220500" cy="400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Publish-Subscribe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4980500" y="1862375"/>
            <a:ext cx="3220500" cy="23397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Deals with constant data streams like pricing data.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client subscribes to an Oracle data stream, gets notified of updates in frequent intervals. Fee payment for a full interval.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Client contracts, will listen for updates like an event listener in Javascript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Providers - Offchain Nodes</a:t>
            </a:r>
            <a:endParaRPr/>
          </a:p>
        </p:txBody>
      </p:sp>
      <p:sp>
        <p:nvSpPr>
          <p:cNvPr id="356" name="Google Shape;356;p53"/>
          <p:cNvSpPr txBox="1"/>
          <p:nvPr/>
        </p:nvSpPr>
        <p:spPr>
          <a:xfrm>
            <a:off x="659855" y="1028000"/>
            <a:ext cx="3525600" cy="400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Centralized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7" name="Google Shape;357;p53"/>
          <p:cNvSpPr txBox="1"/>
          <p:nvPr/>
        </p:nvSpPr>
        <p:spPr>
          <a:xfrm>
            <a:off x="659800" y="1405175"/>
            <a:ext cx="3525600" cy="29862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All off chain nodes feeds into a central oracle that makes a final decision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Suitable for proprietary data sets (Statista, World Bank, Forbes, Stiftung Warentest)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Pros: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consensus needed - fast decision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Cons: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checks resulting in low correctness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Low data diversity - DOS attacks possible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8" name="Google Shape;358;p53"/>
          <p:cNvSpPr txBox="1"/>
          <p:nvPr/>
        </p:nvSpPr>
        <p:spPr>
          <a:xfrm>
            <a:off x="4904350" y="1028000"/>
            <a:ext cx="3967200" cy="400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Decentralized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9" name="Google Shape;359;p53"/>
          <p:cNvSpPr txBox="1"/>
          <p:nvPr/>
        </p:nvSpPr>
        <p:spPr>
          <a:xfrm>
            <a:off x="4904300" y="1405175"/>
            <a:ext cx="3967200" cy="3201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Multiple onchain Oracles come to a consensus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Pros: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Authenticity proofs (TLS proof, Trusted Execution Environments)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Voting or staking on the accuracy of data - Sybil attacks!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High availability - if one Oracle goes down, many others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Incentivized - on chain oracles have reputation scores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0" name="Google Shape;360;p53"/>
          <p:cNvSpPr txBox="1"/>
          <p:nvPr/>
        </p:nvSpPr>
        <p:spPr>
          <a:xfrm>
            <a:off x="265200" y="4537725"/>
            <a:ext cx="43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https://www.youtube.com/watch?v=6AzhClN240M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- Tokenomics Analysis Example</a:t>
            </a:r>
            <a:endParaRPr/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225" y="2106225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00" y="3610125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1900" y="3610125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4"/>
          <p:cNvSpPr txBox="1"/>
          <p:nvPr/>
        </p:nvSpPr>
        <p:spPr>
          <a:xfrm>
            <a:off x="3162575" y="3495525"/>
            <a:ext cx="5981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Nodes are integration point with blockchain and traditional data sources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LINK tokens to vote which nodes can supply information to the Oracle - data reliability and verification.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LINK as a reward for data delivered to an Oracle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4"/>
          <p:cNvSpPr txBox="1"/>
          <p:nvPr/>
        </p:nvSpPr>
        <p:spPr>
          <a:xfrm>
            <a:off x="3162575" y="789125"/>
            <a:ext cx="5475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Smart Contract pay Oracles LINK (now ETH also possible) for this information retrieval and verification. Everyone needs data, huge addressable market.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Service Level Agreement is created: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Oracle reputation (In decentralized Oracles)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Order Matching - Nodes must bid to fulfill this data request. LINK used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Oracle contract - collects all bids and computes final results from all oracles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Penalties can be charged in LINK for fake / low quality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54"/>
          <p:cNvCxnSpPr/>
          <p:nvPr/>
        </p:nvCxnSpPr>
        <p:spPr>
          <a:xfrm rot="10800000">
            <a:off x="3069800" y="3498900"/>
            <a:ext cx="5880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2" name="Google Shape;37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4348" y="724025"/>
            <a:ext cx="657059" cy="104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