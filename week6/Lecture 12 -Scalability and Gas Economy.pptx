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Old Standard TT"/>
      <p:regular r:id="rId33"/>
      <p:bold r:id="rId34"/>
      <p: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OldStandardTT-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OldStandardTT-italic.fntdata"/><Relationship Id="rId12" Type="http://schemas.openxmlformats.org/officeDocument/2006/relationships/slide" Target="slides/slide7.xml"/><Relationship Id="rId34" Type="http://schemas.openxmlformats.org/officeDocument/2006/relationships/font" Target="fonts/OldStandardTT-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c7402b83a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c7402b83a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3sta2DnUwM^yjVzZsy^*RZ5Hid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84771eee4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84771eee4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3sta2DnUwM^yjVzZsy^*RZ5Hid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b680b95b1a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b680b95b1a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2b0b5863e5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2b0b5863e5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b5081dbbd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b5081dbbd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b5081dbbd9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2b5081dbbd9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b5081dbbd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b5081dbbd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b5081dbbd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b5081dbbd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b5081dbbd9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b5081dbbd9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b5081dbbd9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b5081dbbd9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2b5081dbbd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2b5081dbbd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b5081dbbd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b5081dbbd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b680b95b1a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b680b95b1a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b680b95b1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b680b95b1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84771eee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c84771eee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c84771eee4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c84771eee4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c84771eee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c84771eee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c84771eee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c84771eee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c84771eee4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c84771eee4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c84771eee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c84771eee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c84771eee4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c84771eee4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c84771eee4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c84771eee4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c84771eee4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c84771eee4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c84771eee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c84771eee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3sta2DnUwM^yjVzZsy^*RZ5Hid</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c84771eee4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c84771eee4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84771eee4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c84771eee4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 name="Google Shape;11;p2"/>
          <p:cNvCxnSpPr/>
          <p:nvPr/>
        </p:nvCxnSpPr>
        <p:spPr>
          <a:xfrm>
            <a:off x="641934" y="3597500"/>
            <a:ext cx="390300" cy="0"/>
          </a:xfrm>
          <a:prstGeom prst="straightConnector1">
            <a:avLst/>
          </a:prstGeom>
          <a:noFill/>
          <a:ln cap="flat" cmpd="sng" w="28575">
            <a:solidFill>
              <a:schemeClr val="accent1"/>
            </a:solidFill>
            <a:prstDash val="solid"/>
            <a:round/>
            <a:headEnd len="sm" w="sm" type="none"/>
            <a:tailEnd len="sm" w="sm" type="none"/>
          </a:ln>
        </p:spPr>
      </p:cxnSp>
      <p:sp>
        <p:nvSpPr>
          <p:cNvPr id="12" name="Google Shape;12;p2"/>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p:txBody>
      </p:sp>
      <p:sp>
        <p:nvSpPr>
          <p:cNvPr id="13" name="Google Shape;13;p2"/>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5"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cap="flat" cmpd="sng" w="28575">
            <a:solidFill>
              <a:schemeClr val="lt2"/>
            </a:solidFill>
            <a:prstDash val="solid"/>
            <a:round/>
            <a:headEnd len="sm" w="sm" type="none"/>
            <a:tailEnd len="sm" w="sm" type="none"/>
          </a:ln>
        </p:spPr>
      </p:cxnSp>
      <p:sp>
        <p:nvSpPr>
          <p:cNvPr id="17" name="Google Shape;17;p3"/>
          <p:cNvSpPr txBox="1"/>
          <p:nvPr>
            <p:ph type="title"/>
          </p:nvPr>
        </p:nvSpPr>
        <p:spPr>
          <a:xfrm>
            <a:off x="512700" y="1893300"/>
            <a:ext cx="8118600" cy="1522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71600"/>
            <a:ext cx="8520600" cy="3397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2" type="body"/>
          </p:nvPr>
        </p:nvSpPr>
        <p:spPr>
          <a:xfrm>
            <a:off x="4832400" y="1171675"/>
            <a:ext cx="3999900" cy="3397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6132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p:txBody>
      </p:sp>
      <p:sp>
        <p:nvSpPr>
          <p:cNvPr id="38" name="Google Shape;38;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686400" cy="0"/>
          </a:xfrm>
          <a:prstGeom prst="straightConnector1">
            <a:avLst/>
          </a:prstGeom>
          <a:noFill/>
          <a:ln cap="flat" cmpd="sng" w="19050">
            <a:solidFill>
              <a:schemeClr val="lt2"/>
            </a:solidFill>
            <a:prstDash val="solid"/>
            <a:round/>
            <a:headEnd len="sm" w="sm" type="none"/>
            <a:tailEnd len="sm" w="sm" type="none"/>
          </a:ln>
        </p:spPr>
      </p:cxnSp>
      <p:sp>
        <p:nvSpPr>
          <p:cNvPr id="42" name="Google Shape;42;p9"/>
          <p:cNvSpPr txBox="1"/>
          <p:nvPr>
            <p:ph type="title"/>
          </p:nvPr>
        </p:nvSpPr>
        <p:spPr>
          <a:xfrm>
            <a:off x="265500" y="1382350"/>
            <a:ext cx="4045200" cy="1333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p:txBody>
      </p:sp>
      <p:sp>
        <p:nvSpPr>
          <p:cNvPr id="43" name="Google Shape;43;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45" name="Google Shape;45;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8" name="Google Shape;4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039650"/>
            <a:ext cx="8520600" cy="2106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perback">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132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p:txBody>
      </p:sp>
      <p:sp>
        <p:nvSpPr>
          <p:cNvPr id="7" name="Google Shape;7;p1"/>
          <p:cNvSpPr txBox="1"/>
          <p:nvPr>
            <p:ph idx="1" type="body"/>
          </p:nvPr>
        </p:nvSpPr>
        <p:spPr>
          <a:xfrm>
            <a:off x="311700" y="1171600"/>
            <a:ext cx="8520600" cy="3397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indent="-317500" lvl="1" marL="914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indent="-317500" lvl="2" marL="1371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indent="-317500" lvl="3" marL="1828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indent="-317500" lvl="4" marL="22860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indent="-317500" lvl="5" marL="27432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indent="-317500" lvl="6" marL="32004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indent="-317500" lvl="7" marL="36576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indent="-317500" lvl="8" marL="41148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9.png"/><Relationship Id="rId5" Type="http://schemas.openxmlformats.org/officeDocument/2006/relationships/image" Target="../media/image11.png"/><Relationship Id="rId6" Type="http://schemas.openxmlformats.org/officeDocument/2006/relationships/hyperlink" Target="https://www.blockchain.com/explorer/mempool/eth" TargetMode="External"/><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5.png"/><Relationship Id="rId4" Type="http://schemas.openxmlformats.org/officeDocument/2006/relationships/image" Target="../media/image27.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13.png"/><Relationship Id="rId5"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4.png"/><Relationship Id="rId4" Type="http://schemas.openxmlformats.org/officeDocument/2006/relationships/image" Target="../media/image23.png"/><Relationship Id="rId11" Type="http://schemas.openxmlformats.org/officeDocument/2006/relationships/image" Target="../media/image32.png"/><Relationship Id="rId10" Type="http://schemas.openxmlformats.org/officeDocument/2006/relationships/image" Target="../media/image26.png"/><Relationship Id="rId12" Type="http://schemas.openxmlformats.org/officeDocument/2006/relationships/image" Target="../media/image31.png"/><Relationship Id="rId9" Type="http://schemas.openxmlformats.org/officeDocument/2006/relationships/image" Target="../media/image25.png"/><Relationship Id="rId5" Type="http://schemas.openxmlformats.org/officeDocument/2006/relationships/image" Target="../media/image34.png"/><Relationship Id="rId6" Type="http://schemas.openxmlformats.org/officeDocument/2006/relationships/image" Target="../media/image29.png"/><Relationship Id="rId7" Type="http://schemas.openxmlformats.org/officeDocument/2006/relationships/image" Target="../media/image22.png"/><Relationship Id="rId8"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5.png"/><Relationship Id="rId4" Type="http://schemas.openxmlformats.org/officeDocument/2006/relationships/image" Target="../media/image3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2700" y="1893300"/>
            <a:ext cx="8118600" cy="15228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Lecture 12</a:t>
            </a:r>
            <a:endParaRPr/>
          </a:p>
        </p:txBody>
      </p:sp>
      <p:sp>
        <p:nvSpPr>
          <p:cNvPr id="60" name="Google Shape;60;p13"/>
          <p:cNvSpPr txBox="1"/>
          <p:nvPr>
            <p:ph idx="1" type="subTitle"/>
          </p:nvPr>
        </p:nvSpPr>
        <p:spPr>
          <a:xfrm>
            <a:off x="512700" y="3840639"/>
            <a:ext cx="8118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Scalability</a:t>
            </a:r>
            <a:r>
              <a:rPr lang="en"/>
              <a:t> and Gas Economy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4" name="Shape 64"/>
        <p:cNvGrpSpPr/>
        <p:nvPr/>
      </p:nvGrpSpPr>
      <p:grpSpPr>
        <a:xfrm>
          <a:off x="0" y="0"/>
          <a:ext cx="0" cy="0"/>
          <a:chOff x="0" y="0"/>
          <a:chExt cx="0" cy="0"/>
        </a:xfrm>
      </p:grpSpPr>
      <p:sp>
        <p:nvSpPr>
          <p:cNvPr id="65" name="Google Shape;65;p14"/>
          <p:cNvSpPr txBox="1"/>
          <p:nvPr>
            <p:ph type="title"/>
          </p:nvPr>
        </p:nvSpPr>
        <p:spPr>
          <a:xfrm>
            <a:off x="311700" y="1816975"/>
            <a:ext cx="8520600" cy="1631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Transaction Markets</a:t>
            </a:r>
            <a:endParaRPr>
              <a:solidFill>
                <a:schemeClr val="lt1"/>
              </a:solidFill>
            </a:endParaRPr>
          </a:p>
          <a:p>
            <a:pPr indent="0" lvl="0" marL="0" rtl="0" algn="ctr">
              <a:spcBef>
                <a:spcPts val="0"/>
              </a:spcBef>
              <a:spcAft>
                <a:spcPts val="0"/>
              </a:spcAft>
              <a:buNone/>
            </a:pPr>
            <a:r>
              <a:t/>
            </a:r>
            <a:endParaRPr>
              <a:solidFill>
                <a:schemeClr val="lt1"/>
              </a:solidFill>
            </a:endParaRPr>
          </a:p>
          <a:p>
            <a:pPr indent="0" lvl="0" marL="0" rtl="0" algn="ctr">
              <a:spcBef>
                <a:spcPts val="0"/>
              </a:spcBef>
              <a:spcAft>
                <a:spcPts val="0"/>
              </a:spcAft>
              <a:buNone/>
            </a:pPr>
            <a:r>
              <a:rPr lang="en" sz="2000">
                <a:solidFill>
                  <a:schemeClr val="lt1"/>
                </a:solidFill>
              </a:rPr>
              <a:t>Miner → Maximum Extractable Value</a:t>
            </a:r>
            <a:endParaRPr sz="2000">
              <a:solidFill>
                <a:schemeClr val="lt1"/>
              </a:solidFill>
            </a:endParaRPr>
          </a:p>
          <a:p>
            <a:pPr indent="0" lvl="0" marL="0" rtl="0" algn="ctr">
              <a:spcBef>
                <a:spcPts val="0"/>
              </a:spcBef>
              <a:spcAft>
                <a:spcPts val="0"/>
              </a:spcAft>
              <a:buNone/>
            </a:pPr>
            <a:r>
              <a:t/>
            </a:r>
            <a:endParaRPr sz="2700"/>
          </a:p>
          <a:p>
            <a:pPr indent="0" lvl="0" marL="0" rtl="0" algn="ctr">
              <a:spcBef>
                <a:spcPts val="0"/>
              </a:spcBef>
              <a:spcAft>
                <a:spcPts val="0"/>
              </a:spcAft>
              <a:buNone/>
            </a:pPr>
            <a:r>
              <a:t/>
            </a:r>
            <a:endParaRPr sz="25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257451" y="2100366"/>
            <a:ext cx="8520600" cy="1224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If Google is a browser but is selling ads, what is Ethereum selling? What is the internal currency?</a:t>
            </a:r>
            <a:endParaRPr sz="2300">
              <a:solidFill>
                <a:schemeClr val="lt1"/>
              </a:solidFill>
            </a:endParaRPr>
          </a:p>
        </p:txBody>
      </p:sp>
      <p:sp>
        <p:nvSpPr>
          <p:cNvPr id="71" name="Google Shape;71;p15"/>
          <p:cNvSpPr txBox="1"/>
          <p:nvPr>
            <p:ph type="title"/>
          </p:nvPr>
        </p:nvSpPr>
        <p:spPr>
          <a:xfrm>
            <a:off x="6762150" y="191050"/>
            <a:ext cx="2175600" cy="62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Bonus Point</a:t>
            </a:r>
            <a:endParaRPr sz="23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p:cNvPicPr preferRelativeResize="0"/>
          <p:nvPr/>
        </p:nvPicPr>
        <p:blipFill>
          <a:blip r:embed="rId3">
            <a:alphaModFix/>
          </a:blip>
          <a:stretch>
            <a:fillRect/>
          </a:stretch>
        </p:blipFill>
        <p:spPr>
          <a:xfrm>
            <a:off x="546213" y="252900"/>
            <a:ext cx="8051575" cy="4637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7"/>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Miner to Maximizer</a:t>
            </a:r>
            <a:endParaRPr/>
          </a:p>
        </p:txBody>
      </p:sp>
      <p:sp>
        <p:nvSpPr>
          <p:cNvPr id="82" name="Google Shape;82;p17"/>
          <p:cNvSpPr txBox="1"/>
          <p:nvPr/>
        </p:nvSpPr>
        <p:spPr>
          <a:xfrm>
            <a:off x="1878450" y="1027425"/>
            <a:ext cx="5387100" cy="738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latin typeface="Old Standard TT"/>
                <a:ea typeface="Old Standard TT"/>
                <a:cs typeface="Old Standard TT"/>
                <a:sym typeface="Old Standard TT"/>
              </a:rPr>
              <a:t>Last Bitcoin Halving: 22 April 2024</a:t>
            </a:r>
            <a:endParaRPr b="1" sz="18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b="1" lang="en" sz="1800">
                <a:solidFill>
                  <a:schemeClr val="dk1"/>
                </a:solidFill>
                <a:latin typeface="Old Standard TT"/>
                <a:ea typeface="Old Standard TT"/>
                <a:cs typeface="Old Standard TT"/>
                <a:sym typeface="Old Standard TT"/>
              </a:rPr>
              <a:t>6.25 to 3.125 Bitcoin per validated block.</a:t>
            </a:r>
            <a:endParaRPr b="1" sz="1800">
              <a:solidFill>
                <a:schemeClr val="dk1"/>
              </a:solidFill>
              <a:latin typeface="Old Standard TT"/>
              <a:ea typeface="Old Standard TT"/>
              <a:cs typeface="Old Standard TT"/>
              <a:sym typeface="Old Standard TT"/>
            </a:endParaRPr>
          </a:p>
        </p:txBody>
      </p:sp>
      <p:pic>
        <p:nvPicPr>
          <p:cNvPr id="83" name="Google Shape;83;p17"/>
          <p:cNvPicPr preferRelativeResize="0"/>
          <p:nvPr/>
        </p:nvPicPr>
        <p:blipFill>
          <a:blip r:embed="rId3">
            <a:alphaModFix/>
          </a:blip>
          <a:stretch>
            <a:fillRect/>
          </a:stretch>
        </p:blipFill>
        <p:spPr>
          <a:xfrm>
            <a:off x="1524000" y="1994925"/>
            <a:ext cx="6096000" cy="27908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3688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Mempool/Txpool - Transaction lifecycle V1</a:t>
            </a:r>
            <a:endParaRPr/>
          </a:p>
        </p:txBody>
      </p:sp>
      <p:pic>
        <p:nvPicPr>
          <p:cNvPr id="89" name="Google Shape;89;p18"/>
          <p:cNvPicPr preferRelativeResize="0"/>
          <p:nvPr/>
        </p:nvPicPr>
        <p:blipFill>
          <a:blip r:embed="rId3">
            <a:alphaModFix/>
          </a:blip>
          <a:stretch>
            <a:fillRect/>
          </a:stretch>
        </p:blipFill>
        <p:spPr>
          <a:xfrm>
            <a:off x="152400" y="1363025"/>
            <a:ext cx="1220874" cy="1220874"/>
          </a:xfrm>
          <a:prstGeom prst="rect">
            <a:avLst/>
          </a:prstGeom>
          <a:noFill/>
          <a:ln>
            <a:noFill/>
          </a:ln>
        </p:spPr>
      </p:pic>
      <p:pic>
        <p:nvPicPr>
          <p:cNvPr id="90" name="Google Shape;90;p18"/>
          <p:cNvPicPr preferRelativeResize="0"/>
          <p:nvPr/>
        </p:nvPicPr>
        <p:blipFill>
          <a:blip r:embed="rId4">
            <a:alphaModFix/>
          </a:blip>
          <a:stretch>
            <a:fillRect/>
          </a:stretch>
        </p:blipFill>
        <p:spPr>
          <a:xfrm>
            <a:off x="5889500" y="1852737"/>
            <a:ext cx="1438025" cy="1438025"/>
          </a:xfrm>
          <a:prstGeom prst="rect">
            <a:avLst/>
          </a:prstGeom>
          <a:noFill/>
          <a:ln>
            <a:noFill/>
          </a:ln>
        </p:spPr>
      </p:pic>
      <p:cxnSp>
        <p:nvCxnSpPr>
          <p:cNvPr id="91" name="Google Shape;91;p18"/>
          <p:cNvCxnSpPr>
            <a:stCxn id="89" idx="3"/>
            <a:endCxn id="90" idx="1"/>
          </p:cNvCxnSpPr>
          <p:nvPr/>
        </p:nvCxnSpPr>
        <p:spPr>
          <a:xfrm>
            <a:off x="1373274" y="1973462"/>
            <a:ext cx="4516200" cy="598200"/>
          </a:xfrm>
          <a:prstGeom prst="straightConnector1">
            <a:avLst/>
          </a:prstGeom>
          <a:noFill/>
          <a:ln cap="flat" cmpd="sng" w="9525">
            <a:solidFill>
              <a:schemeClr val="dk2"/>
            </a:solidFill>
            <a:prstDash val="solid"/>
            <a:round/>
            <a:headEnd len="med" w="med" type="none"/>
            <a:tailEnd len="med" w="med" type="triangle"/>
          </a:ln>
        </p:spPr>
      </p:cxnSp>
      <p:sp>
        <p:nvSpPr>
          <p:cNvPr id="92" name="Google Shape;92;p18"/>
          <p:cNvSpPr txBox="1"/>
          <p:nvPr/>
        </p:nvSpPr>
        <p:spPr>
          <a:xfrm rot="408901">
            <a:off x="1674046" y="1652138"/>
            <a:ext cx="4821164" cy="615695"/>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Call func x at contract address 0xblahblah</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The maximum (gas limit) I am willing to pay is y.</a:t>
            </a:r>
            <a:endParaRPr>
              <a:solidFill>
                <a:schemeClr val="dk1"/>
              </a:solidFill>
              <a:latin typeface="Old Standard TT"/>
              <a:ea typeface="Old Standard TT"/>
              <a:cs typeface="Old Standard TT"/>
              <a:sym typeface="Old Standard TT"/>
            </a:endParaRPr>
          </a:p>
        </p:txBody>
      </p:sp>
      <p:pic>
        <p:nvPicPr>
          <p:cNvPr id="93" name="Google Shape;93;p18"/>
          <p:cNvPicPr preferRelativeResize="0"/>
          <p:nvPr/>
        </p:nvPicPr>
        <p:blipFill>
          <a:blip r:embed="rId5">
            <a:alphaModFix/>
          </a:blip>
          <a:stretch>
            <a:fillRect/>
          </a:stretch>
        </p:blipFill>
        <p:spPr>
          <a:xfrm>
            <a:off x="382675" y="3819750"/>
            <a:ext cx="790350" cy="790350"/>
          </a:xfrm>
          <a:prstGeom prst="rect">
            <a:avLst/>
          </a:prstGeom>
          <a:noFill/>
          <a:ln>
            <a:noFill/>
          </a:ln>
        </p:spPr>
      </p:pic>
      <p:sp>
        <p:nvSpPr>
          <p:cNvPr id="94" name="Google Shape;94;p18"/>
          <p:cNvSpPr/>
          <p:nvPr/>
        </p:nvSpPr>
        <p:spPr>
          <a:xfrm>
            <a:off x="1843875" y="3892875"/>
            <a:ext cx="716400" cy="6132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Old Standard TT"/>
                <a:ea typeface="Old Standard TT"/>
                <a:cs typeface="Old Standard TT"/>
                <a:sym typeface="Old Standard TT"/>
              </a:rPr>
              <a:t>EVM</a:t>
            </a:r>
            <a:endParaRPr>
              <a:latin typeface="Old Standard TT"/>
              <a:ea typeface="Old Standard TT"/>
              <a:cs typeface="Old Standard TT"/>
              <a:sym typeface="Old Standard TT"/>
            </a:endParaRPr>
          </a:p>
        </p:txBody>
      </p:sp>
      <p:cxnSp>
        <p:nvCxnSpPr>
          <p:cNvPr id="95" name="Google Shape;95;p18"/>
          <p:cNvCxnSpPr>
            <a:endCxn id="94" idx="1"/>
          </p:cNvCxnSpPr>
          <p:nvPr/>
        </p:nvCxnSpPr>
        <p:spPr>
          <a:xfrm flipH="1" rot="10800000">
            <a:off x="1173075" y="4199475"/>
            <a:ext cx="670800" cy="15300"/>
          </a:xfrm>
          <a:prstGeom prst="straightConnector1">
            <a:avLst/>
          </a:prstGeom>
          <a:noFill/>
          <a:ln cap="flat" cmpd="sng" w="9525">
            <a:solidFill>
              <a:schemeClr val="dk2"/>
            </a:solidFill>
            <a:prstDash val="solid"/>
            <a:round/>
            <a:headEnd len="med" w="med" type="none"/>
            <a:tailEnd len="med" w="med" type="triangle"/>
          </a:ln>
        </p:spPr>
      </p:cxnSp>
      <p:cxnSp>
        <p:nvCxnSpPr>
          <p:cNvPr id="96" name="Google Shape;96;p18"/>
          <p:cNvCxnSpPr>
            <a:stCxn id="94" idx="3"/>
            <a:endCxn id="90" idx="1"/>
          </p:cNvCxnSpPr>
          <p:nvPr/>
        </p:nvCxnSpPr>
        <p:spPr>
          <a:xfrm flipH="1" rot="10800000">
            <a:off x="2560275" y="2571675"/>
            <a:ext cx="3329100" cy="1627800"/>
          </a:xfrm>
          <a:prstGeom prst="straightConnector1">
            <a:avLst/>
          </a:prstGeom>
          <a:noFill/>
          <a:ln cap="flat" cmpd="sng" w="9525">
            <a:solidFill>
              <a:schemeClr val="dk2"/>
            </a:solidFill>
            <a:prstDash val="solid"/>
            <a:round/>
            <a:headEnd len="med" w="med" type="none"/>
            <a:tailEnd len="med" w="med" type="triangle"/>
          </a:ln>
        </p:spPr>
      </p:cxnSp>
      <p:sp>
        <p:nvSpPr>
          <p:cNvPr id="97" name="Google Shape;97;p18"/>
          <p:cNvSpPr txBox="1"/>
          <p:nvPr/>
        </p:nvSpPr>
        <p:spPr>
          <a:xfrm rot="-1410878">
            <a:off x="2870895" y="2835869"/>
            <a:ext cx="6055892" cy="554213"/>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ld Standard TT"/>
                <a:ea typeface="Old Standard TT"/>
                <a:cs typeface="Old Standard TT"/>
                <a:sym typeface="Old Standard TT"/>
              </a:rPr>
              <a:t>The max (gas limit) I am willing to pay</a:t>
            </a:r>
            <a:endParaRPr sz="12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200">
                <a:solidFill>
                  <a:schemeClr val="dk1"/>
                </a:solidFill>
                <a:latin typeface="Old Standard TT"/>
                <a:ea typeface="Old Standard TT"/>
                <a:cs typeface="Old Standard TT"/>
                <a:sym typeface="Old Standard TT"/>
              </a:rPr>
              <a:t>A payload of Bytecode.</a:t>
            </a:r>
            <a:endParaRPr sz="1200">
              <a:solidFill>
                <a:schemeClr val="dk1"/>
              </a:solidFill>
              <a:latin typeface="Old Standard TT"/>
              <a:ea typeface="Old Standard TT"/>
              <a:cs typeface="Old Standard TT"/>
              <a:sym typeface="Old Standard TT"/>
            </a:endParaRPr>
          </a:p>
        </p:txBody>
      </p:sp>
      <p:sp>
        <p:nvSpPr>
          <p:cNvPr id="98" name="Google Shape;98;p18"/>
          <p:cNvSpPr txBox="1"/>
          <p:nvPr/>
        </p:nvSpPr>
        <p:spPr>
          <a:xfrm>
            <a:off x="5191250" y="3780450"/>
            <a:ext cx="3720300" cy="4617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u="sng">
                <a:solidFill>
                  <a:schemeClr val="hlink"/>
                </a:solidFill>
                <a:latin typeface="Old Standard TT"/>
                <a:ea typeface="Old Standard TT"/>
                <a:cs typeface="Old Standard TT"/>
                <a:sym typeface="Old Standard TT"/>
                <a:hlinkClick r:id="rId6"/>
              </a:rPr>
              <a:t>A stream of incoming transactions</a:t>
            </a:r>
            <a:endParaRPr sz="1800">
              <a:solidFill>
                <a:schemeClr val="dk1"/>
              </a:solidFill>
              <a:latin typeface="Old Standard TT"/>
              <a:ea typeface="Old Standard TT"/>
              <a:cs typeface="Old Standard TT"/>
              <a:sym typeface="Old Standard TT"/>
            </a:endParaRPr>
          </a:p>
        </p:txBody>
      </p:sp>
      <p:cxnSp>
        <p:nvCxnSpPr>
          <p:cNvPr id="99" name="Google Shape;99;p18"/>
          <p:cNvCxnSpPr/>
          <p:nvPr/>
        </p:nvCxnSpPr>
        <p:spPr>
          <a:xfrm flipH="1">
            <a:off x="1939050" y="2922550"/>
            <a:ext cx="2406900" cy="14400"/>
          </a:xfrm>
          <a:prstGeom prst="straightConnector1">
            <a:avLst/>
          </a:prstGeom>
          <a:noFill/>
          <a:ln cap="flat" cmpd="sng" w="9525">
            <a:solidFill>
              <a:schemeClr val="dk2"/>
            </a:solidFill>
            <a:prstDash val="solid"/>
            <a:round/>
            <a:headEnd len="med" w="med" type="none"/>
            <a:tailEnd len="med" w="med" type="triangle"/>
          </a:ln>
        </p:spPr>
      </p:cxnSp>
      <p:sp>
        <p:nvSpPr>
          <p:cNvPr id="100" name="Google Shape;100;p18"/>
          <p:cNvSpPr txBox="1"/>
          <p:nvPr/>
        </p:nvSpPr>
        <p:spPr>
          <a:xfrm>
            <a:off x="2129775" y="2550050"/>
            <a:ext cx="22923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Old Standard TT"/>
                <a:ea typeface="Old Standard TT"/>
                <a:cs typeface="Old Standard TT"/>
                <a:sym typeface="Old Standard TT"/>
              </a:rPr>
              <a:t>Refund unused gas</a:t>
            </a:r>
            <a:endParaRPr sz="1700">
              <a:solidFill>
                <a:schemeClr val="dk1"/>
              </a:solidFill>
              <a:latin typeface="Old Standard TT"/>
              <a:ea typeface="Old Standard TT"/>
              <a:cs typeface="Old Standard TT"/>
              <a:sym typeface="Old Standard TT"/>
            </a:endParaRPr>
          </a:p>
        </p:txBody>
      </p:sp>
      <p:pic>
        <p:nvPicPr>
          <p:cNvPr id="101" name="Google Shape;101;p18"/>
          <p:cNvPicPr preferRelativeResize="0"/>
          <p:nvPr/>
        </p:nvPicPr>
        <p:blipFill>
          <a:blip r:embed="rId7">
            <a:alphaModFix/>
          </a:blip>
          <a:stretch>
            <a:fillRect/>
          </a:stretch>
        </p:blipFill>
        <p:spPr>
          <a:xfrm>
            <a:off x="7646175" y="2100363"/>
            <a:ext cx="847312" cy="790350"/>
          </a:xfrm>
          <a:prstGeom prst="rect">
            <a:avLst/>
          </a:prstGeom>
          <a:noFill/>
          <a:ln>
            <a:noFill/>
          </a:ln>
        </p:spPr>
      </p:pic>
      <p:sp>
        <p:nvSpPr>
          <p:cNvPr id="102" name="Google Shape;102;p18"/>
          <p:cNvSpPr txBox="1"/>
          <p:nvPr/>
        </p:nvSpPr>
        <p:spPr>
          <a:xfrm>
            <a:off x="6056100" y="1046325"/>
            <a:ext cx="1221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Does this exceed block gas limit?</a:t>
            </a:r>
            <a:endParaRPr>
              <a:solidFill>
                <a:schemeClr val="dk1"/>
              </a:solidFill>
              <a:latin typeface="Old Standard TT"/>
              <a:ea typeface="Old Standard TT"/>
              <a:cs typeface="Old Standard TT"/>
              <a:sym typeface="Old Standard T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9"/>
          <p:cNvSpPr txBox="1"/>
          <p:nvPr>
            <p:ph type="title"/>
          </p:nvPr>
        </p:nvSpPr>
        <p:spPr>
          <a:xfrm>
            <a:off x="311700" y="3688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PoW - First price auction market</a:t>
            </a:r>
            <a:endParaRPr/>
          </a:p>
        </p:txBody>
      </p:sp>
      <p:sp>
        <p:nvSpPr>
          <p:cNvPr id="108" name="Google Shape;108;p19"/>
          <p:cNvSpPr txBox="1"/>
          <p:nvPr/>
        </p:nvSpPr>
        <p:spPr>
          <a:xfrm>
            <a:off x="2497725" y="1256025"/>
            <a:ext cx="4556100" cy="5079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1"/>
                </a:solidFill>
                <a:latin typeface="Old Standard TT"/>
                <a:ea typeface="Old Standard TT"/>
                <a:cs typeface="Old Standard TT"/>
                <a:sym typeface="Old Standard TT"/>
              </a:rPr>
              <a:t>Fixed supply, iterable, blind auctions</a:t>
            </a:r>
            <a:endParaRPr sz="2100">
              <a:solidFill>
                <a:schemeClr val="dk1"/>
              </a:solidFill>
              <a:latin typeface="Old Standard TT"/>
              <a:ea typeface="Old Standard TT"/>
              <a:cs typeface="Old Standard TT"/>
              <a:sym typeface="Old Standard TT"/>
            </a:endParaRPr>
          </a:p>
        </p:txBody>
      </p:sp>
      <p:sp>
        <p:nvSpPr>
          <p:cNvPr id="109" name="Google Shape;109;p19"/>
          <p:cNvSpPr txBox="1"/>
          <p:nvPr/>
        </p:nvSpPr>
        <p:spPr>
          <a:xfrm>
            <a:off x="448925" y="3132900"/>
            <a:ext cx="2965800" cy="10158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chemeClr val="dk1"/>
                </a:solidFill>
                <a:latin typeface="Old Standard TT"/>
                <a:ea typeface="Old Standard TT"/>
                <a:cs typeface="Old Standard TT"/>
                <a:sym typeface="Old Standard TT"/>
              </a:rPr>
              <a:t>Every block is capped at 15Mil gas computation power</a:t>
            </a:r>
            <a:endParaRPr sz="1800">
              <a:solidFill>
                <a:schemeClr val="dk1"/>
              </a:solidFill>
              <a:latin typeface="Old Standard TT"/>
              <a:ea typeface="Old Standard TT"/>
              <a:cs typeface="Old Standard TT"/>
              <a:sym typeface="Old Standard TT"/>
            </a:endParaRPr>
          </a:p>
        </p:txBody>
      </p:sp>
      <p:cxnSp>
        <p:nvCxnSpPr>
          <p:cNvPr id="110" name="Google Shape;110;p19"/>
          <p:cNvCxnSpPr>
            <a:stCxn id="109" idx="0"/>
          </p:cNvCxnSpPr>
          <p:nvPr/>
        </p:nvCxnSpPr>
        <p:spPr>
          <a:xfrm flipH="1" rot="10800000">
            <a:off x="1931825" y="1943700"/>
            <a:ext cx="1239300" cy="1189200"/>
          </a:xfrm>
          <a:prstGeom prst="straightConnector1">
            <a:avLst/>
          </a:prstGeom>
          <a:noFill/>
          <a:ln cap="flat" cmpd="sng" w="9525">
            <a:solidFill>
              <a:schemeClr val="dk2"/>
            </a:solidFill>
            <a:prstDash val="solid"/>
            <a:round/>
            <a:headEnd len="med" w="med" type="none"/>
            <a:tailEnd len="med" w="med" type="triangle"/>
          </a:ln>
        </p:spPr>
      </p:cxnSp>
      <p:sp>
        <p:nvSpPr>
          <p:cNvPr id="111" name="Google Shape;111;p19"/>
          <p:cNvSpPr txBox="1"/>
          <p:nvPr/>
        </p:nvSpPr>
        <p:spPr>
          <a:xfrm>
            <a:off x="3621100" y="2895175"/>
            <a:ext cx="2292300" cy="12930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If I don't get included in this block, I try to get into the next block</a:t>
            </a:r>
            <a:endParaRPr sz="1800">
              <a:solidFill>
                <a:schemeClr val="dk1"/>
              </a:solidFill>
              <a:latin typeface="Old Standard TT"/>
              <a:ea typeface="Old Standard TT"/>
              <a:cs typeface="Old Standard TT"/>
              <a:sym typeface="Old Standard TT"/>
            </a:endParaRPr>
          </a:p>
        </p:txBody>
      </p:sp>
      <p:cxnSp>
        <p:nvCxnSpPr>
          <p:cNvPr id="112" name="Google Shape;112;p19"/>
          <p:cNvCxnSpPr>
            <a:stCxn id="111" idx="0"/>
          </p:cNvCxnSpPr>
          <p:nvPr/>
        </p:nvCxnSpPr>
        <p:spPr>
          <a:xfrm flipH="1" rot="10800000">
            <a:off x="4767250" y="2086975"/>
            <a:ext cx="8400" cy="808200"/>
          </a:xfrm>
          <a:prstGeom prst="straightConnector1">
            <a:avLst/>
          </a:prstGeom>
          <a:noFill/>
          <a:ln cap="flat" cmpd="sng" w="9525">
            <a:solidFill>
              <a:schemeClr val="dk2"/>
            </a:solidFill>
            <a:prstDash val="solid"/>
            <a:round/>
            <a:headEnd len="med" w="med" type="none"/>
            <a:tailEnd len="med" w="med" type="triangle"/>
          </a:ln>
        </p:spPr>
      </p:cxnSp>
      <p:sp>
        <p:nvSpPr>
          <p:cNvPr id="113" name="Google Shape;113;p19"/>
          <p:cNvSpPr txBox="1"/>
          <p:nvPr/>
        </p:nvSpPr>
        <p:spPr>
          <a:xfrm>
            <a:off x="6119775" y="3033775"/>
            <a:ext cx="2731800" cy="10158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Don't know what others are setting their max gas limits to </a:t>
            </a:r>
            <a:endParaRPr sz="1800">
              <a:solidFill>
                <a:schemeClr val="dk1"/>
              </a:solidFill>
              <a:latin typeface="Old Standard TT"/>
              <a:ea typeface="Old Standard TT"/>
              <a:cs typeface="Old Standard TT"/>
              <a:sym typeface="Old Standard TT"/>
            </a:endParaRPr>
          </a:p>
        </p:txBody>
      </p:sp>
      <p:cxnSp>
        <p:nvCxnSpPr>
          <p:cNvPr id="114" name="Google Shape;114;p19"/>
          <p:cNvCxnSpPr>
            <a:stCxn id="113" idx="0"/>
          </p:cNvCxnSpPr>
          <p:nvPr/>
        </p:nvCxnSpPr>
        <p:spPr>
          <a:xfrm rot="10800000">
            <a:off x="6323175" y="2115775"/>
            <a:ext cx="1162500" cy="918000"/>
          </a:xfrm>
          <a:prstGeom prst="straightConnector1">
            <a:avLst/>
          </a:prstGeom>
          <a:noFill/>
          <a:ln cap="flat" cmpd="sng" w="9525">
            <a:solidFill>
              <a:schemeClr val="dk2"/>
            </a:solidFill>
            <a:prstDash val="solid"/>
            <a:round/>
            <a:headEnd len="med" w="med" type="none"/>
            <a:tailEnd len="med" w="med" type="triangle"/>
          </a:ln>
        </p:spPr>
      </p:cxnSp>
      <p:sp>
        <p:nvSpPr>
          <p:cNvPr id="115" name="Google Shape;115;p19"/>
          <p:cNvSpPr txBox="1"/>
          <p:nvPr/>
        </p:nvSpPr>
        <p:spPr>
          <a:xfrm>
            <a:off x="3078975" y="4403475"/>
            <a:ext cx="3393600" cy="4617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Users pay for computing power!</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Perfectly discriminated, completely full blocks</a:t>
            </a:r>
            <a:endParaRPr/>
          </a:p>
        </p:txBody>
      </p:sp>
      <p:pic>
        <p:nvPicPr>
          <p:cNvPr id="121" name="Google Shape;121;p20"/>
          <p:cNvPicPr preferRelativeResize="0"/>
          <p:nvPr/>
        </p:nvPicPr>
        <p:blipFill>
          <a:blip r:embed="rId3">
            <a:alphaModFix/>
          </a:blip>
          <a:stretch>
            <a:fillRect/>
          </a:stretch>
        </p:blipFill>
        <p:spPr>
          <a:xfrm>
            <a:off x="381000" y="1058225"/>
            <a:ext cx="4222200" cy="3493175"/>
          </a:xfrm>
          <a:prstGeom prst="rect">
            <a:avLst/>
          </a:prstGeom>
          <a:noFill/>
          <a:ln>
            <a:noFill/>
          </a:ln>
        </p:spPr>
      </p:pic>
      <p:sp>
        <p:nvSpPr>
          <p:cNvPr id="122" name="Google Shape;122;p20"/>
          <p:cNvSpPr txBox="1"/>
          <p:nvPr/>
        </p:nvSpPr>
        <p:spPr>
          <a:xfrm>
            <a:off x="1143850" y="4527850"/>
            <a:ext cx="2980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ld Standard TT"/>
                <a:ea typeface="Old Standard TT"/>
                <a:cs typeface="Old Standard TT"/>
                <a:sym typeface="Old Standard TT"/>
              </a:rPr>
              <a:t>https://hackmd.io/@adietrichs/eip-1559</a:t>
            </a:r>
            <a:endParaRPr sz="1200">
              <a:solidFill>
                <a:schemeClr val="dk1"/>
              </a:solidFill>
              <a:latin typeface="Old Standard TT"/>
              <a:ea typeface="Old Standard TT"/>
              <a:cs typeface="Old Standard TT"/>
              <a:sym typeface="Old Standard TT"/>
            </a:endParaRPr>
          </a:p>
        </p:txBody>
      </p:sp>
      <p:cxnSp>
        <p:nvCxnSpPr>
          <p:cNvPr id="123" name="Google Shape;123;p20"/>
          <p:cNvCxnSpPr/>
          <p:nvPr/>
        </p:nvCxnSpPr>
        <p:spPr>
          <a:xfrm flipH="1">
            <a:off x="5358600" y="2259075"/>
            <a:ext cx="14400" cy="1662000"/>
          </a:xfrm>
          <a:prstGeom prst="straightConnector1">
            <a:avLst/>
          </a:prstGeom>
          <a:noFill/>
          <a:ln cap="flat" cmpd="sng" w="9525">
            <a:solidFill>
              <a:schemeClr val="dk2"/>
            </a:solidFill>
            <a:prstDash val="solid"/>
            <a:round/>
            <a:headEnd len="med" w="med" type="none"/>
            <a:tailEnd len="med" w="med" type="none"/>
          </a:ln>
        </p:spPr>
      </p:cxnSp>
      <p:cxnSp>
        <p:nvCxnSpPr>
          <p:cNvPr id="124" name="Google Shape;124;p20"/>
          <p:cNvCxnSpPr/>
          <p:nvPr/>
        </p:nvCxnSpPr>
        <p:spPr>
          <a:xfrm flipH="1">
            <a:off x="5358600" y="3911775"/>
            <a:ext cx="3400800" cy="9300"/>
          </a:xfrm>
          <a:prstGeom prst="straightConnector1">
            <a:avLst/>
          </a:prstGeom>
          <a:noFill/>
          <a:ln cap="flat" cmpd="sng" w="9525">
            <a:solidFill>
              <a:schemeClr val="dk2"/>
            </a:solidFill>
            <a:prstDash val="solid"/>
            <a:round/>
            <a:headEnd len="med" w="med" type="none"/>
            <a:tailEnd len="med" w="med" type="none"/>
          </a:ln>
        </p:spPr>
      </p:cxnSp>
      <p:sp>
        <p:nvSpPr>
          <p:cNvPr id="125" name="Google Shape;125;p20"/>
          <p:cNvSpPr/>
          <p:nvPr/>
        </p:nvSpPr>
        <p:spPr>
          <a:xfrm>
            <a:off x="5635400" y="2688750"/>
            <a:ext cx="401100" cy="123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26" name="Google Shape;126;p20"/>
          <p:cNvSpPr/>
          <p:nvPr/>
        </p:nvSpPr>
        <p:spPr>
          <a:xfrm>
            <a:off x="6168800" y="2803375"/>
            <a:ext cx="401100" cy="111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27" name="Google Shape;127;p20"/>
          <p:cNvSpPr/>
          <p:nvPr/>
        </p:nvSpPr>
        <p:spPr>
          <a:xfrm>
            <a:off x="6702200" y="2803375"/>
            <a:ext cx="401100" cy="111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28" name="Google Shape;128;p20"/>
          <p:cNvSpPr/>
          <p:nvPr/>
        </p:nvSpPr>
        <p:spPr>
          <a:xfrm>
            <a:off x="7235600" y="2688775"/>
            <a:ext cx="401100" cy="12324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29" name="Google Shape;129;p20"/>
          <p:cNvSpPr/>
          <p:nvPr/>
        </p:nvSpPr>
        <p:spPr>
          <a:xfrm>
            <a:off x="7769000" y="2803375"/>
            <a:ext cx="401100" cy="1117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30" name="Google Shape;130;p20"/>
          <p:cNvSpPr txBox="1"/>
          <p:nvPr/>
        </p:nvSpPr>
        <p:spPr>
          <a:xfrm>
            <a:off x="5372975" y="1117950"/>
            <a:ext cx="3462300" cy="9234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What if I really want to get in but have no money? What if my txn is extremely large?</a:t>
            </a:r>
            <a:endParaRPr sz="1600">
              <a:solidFill>
                <a:schemeClr val="dk1"/>
              </a:solidFill>
              <a:latin typeface="Old Standard TT"/>
              <a:ea typeface="Old Standard TT"/>
              <a:cs typeface="Old Standard TT"/>
              <a:sym typeface="Old Standard TT"/>
            </a:endParaRPr>
          </a:p>
        </p:txBody>
      </p:sp>
      <p:sp>
        <p:nvSpPr>
          <p:cNvPr id="131" name="Google Shape;131;p20"/>
          <p:cNvSpPr txBox="1"/>
          <p:nvPr/>
        </p:nvSpPr>
        <p:spPr>
          <a:xfrm>
            <a:off x="1499375" y="3138100"/>
            <a:ext cx="15393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Old Standard TT"/>
                <a:ea typeface="Old Standard TT"/>
                <a:cs typeface="Old Standard TT"/>
                <a:sym typeface="Old Standard TT"/>
              </a:rPr>
              <a:t>Market clearance price</a:t>
            </a:r>
            <a:endParaRPr sz="1000">
              <a:solidFill>
                <a:schemeClr val="dk1"/>
              </a:solidFill>
              <a:latin typeface="Old Standard TT"/>
              <a:ea typeface="Old Standard TT"/>
              <a:cs typeface="Old Standard TT"/>
              <a:sym typeface="Old Standard TT"/>
            </a:endParaRPr>
          </a:p>
        </p:txBody>
      </p:sp>
      <p:pic>
        <p:nvPicPr>
          <p:cNvPr id="132" name="Google Shape;132;p20"/>
          <p:cNvPicPr preferRelativeResize="0"/>
          <p:nvPr/>
        </p:nvPicPr>
        <p:blipFill>
          <a:blip r:embed="rId4">
            <a:alphaModFix/>
          </a:blip>
          <a:stretch>
            <a:fillRect/>
          </a:stretch>
        </p:blipFill>
        <p:spPr>
          <a:xfrm>
            <a:off x="586675" y="2571750"/>
            <a:ext cx="1905000" cy="1547025"/>
          </a:xfrm>
          <a:prstGeom prst="rect">
            <a:avLst/>
          </a:prstGeom>
          <a:noFill/>
          <a:ln>
            <a:noFill/>
          </a:ln>
        </p:spPr>
      </p:pic>
      <p:pic>
        <p:nvPicPr>
          <p:cNvPr id="133" name="Google Shape;133;p20"/>
          <p:cNvPicPr preferRelativeResize="0"/>
          <p:nvPr/>
        </p:nvPicPr>
        <p:blipFill>
          <a:blip r:embed="rId4">
            <a:alphaModFix/>
          </a:blip>
          <a:stretch>
            <a:fillRect/>
          </a:stretch>
        </p:blipFill>
        <p:spPr>
          <a:xfrm>
            <a:off x="890625" y="2882550"/>
            <a:ext cx="1905000" cy="1232400"/>
          </a:xfrm>
          <a:prstGeom prst="rect">
            <a:avLst/>
          </a:prstGeom>
          <a:noFill/>
          <a:ln>
            <a:noFill/>
          </a:ln>
        </p:spPr>
      </p:pic>
      <p:pic>
        <p:nvPicPr>
          <p:cNvPr id="134" name="Google Shape;134;p20"/>
          <p:cNvPicPr preferRelativeResize="0"/>
          <p:nvPr/>
        </p:nvPicPr>
        <p:blipFill>
          <a:blip r:embed="rId4">
            <a:alphaModFix/>
          </a:blip>
          <a:stretch>
            <a:fillRect/>
          </a:stretch>
        </p:blipFill>
        <p:spPr>
          <a:xfrm>
            <a:off x="1409700" y="3016050"/>
            <a:ext cx="1905000" cy="1117800"/>
          </a:xfrm>
          <a:prstGeom prst="rect">
            <a:avLst/>
          </a:prstGeom>
          <a:noFill/>
          <a:ln>
            <a:noFill/>
          </a:ln>
        </p:spPr>
      </p:pic>
      <p:pic>
        <p:nvPicPr>
          <p:cNvPr id="135" name="Google Shape;135;p20"/>
          <p:cNvPicPr preferRelativeResize="0"/>
          <p:nvPr/>
        </p:nvPicPr>
        <p:blipFill>
          <a:blip r:embed="rId4">
            <a:alphaModFix/>
          </a:blip>
          <a:stretch>
            <a:fillRect/>
          </a:stretch>
        </p:blipFill>
        <p:spPr>
          <a:xfrm>
            <a:off x="1928775" y="3138100"/>
            <a:ext cx="1905000" cy="976850"/>
          </a:xfrm>
          <a:prstGeom prst="rect">
            <a:avLst/>
          </a:prstGeom>
          <a:noFill/>
          <a:ln>
            <a:noFill/>
          </a:ln>
        </p:spPr>
      </p:pic>
      <p:pic>
        <p:nvPicPr>
          <p:cNvPr id="136" name="Google Shape;136;p20"/>
          <p:cNvPicPr preferRelativeResize="0"/>
          <p:nvPr/>
        </p:nvPicPr>
        <p:blipFill>
          <a:blip r:embed="rId4">
            <a:alphaModFix/>
          </a:blip>
          <a:stretch>
            <a:fillRect/>
          </a:stretch>
        </p:blipFill>
        <p:spPr>
          <a:xfrm>
            <a:off x="2462175" y="3225625"/>
            <a:ext cx="1905000" cy="923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1"/>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EIP 1559 - Towards diversification and deflation</a:t>
            </a:r>
            <a:endParaRPr/>
          </a:p>
        </p:txBody>
      </p:sp>
      <p:sp>
        <p:nvSpPr>
          <p:cNvPr id="142" name="Google Shape;142;p21"/>
          <p:cNvSpPr txBox="1"/>
          <p:nvPr>
            <p:ph idx="1" type="body"/>
          </p:nvPr>
        </p:nvSpPr>
        <p:spPr>
          <a:xfrm>
            <a:off x="311700" y="1171600"/>
            <a:ext cx="8520600" cy="2133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Bitcoin has a supply cap of 21Mil and is halving miner rewards</a:t>
            </a:r>
            <a:endParaRPr/>
          </a:p>
          <a:p>
            <a:pPr indent="-342900" lvl="0" marL="457200" rtl="0" algn="l">
              <a:spcBef>
                <a:spcPts val="0"/>
              </a:spcBef>
              <a:spcAft>
                <a:spcPts val="0"/>
              </a:spcAft>
              <a:buSzPts val="1800"/>
              <a:buChar char="●"/>
            </a:pPr>
            <a:r>
              <a:rPr lang="en"/>
              <a:t>Ethereum has UNLIMITED supply. How to control?</a:t>
            </a:r>
            <a:endParaRPr/>
          </a:p>
          <a:p>
            <a:pPr indent="-342900" lvl="0" marL="457200" rtl="0" algn="l">
              <a:spcBef>
                <a:spcPts val="0"/>
              </a:spcBef>
              <a:spcAft>
                <a:spcPts val="0"/>
              </a:spcAft>
              <a:buSzPts val="1800"/>
              <a:buChar char="●"/>
            </a:pPr>
            <a:r>
              <a:rPr lang="en"/>
              <a:t>All MEV going towards miners. Users are maximally exploited.</a:t>
            </a:r>
            <a:endParaRPr/>
          </a:p>
          <a:p>
            <a:pPr indent="-342900" lvl="0" marL="457200" rtl="0" algn="l">
              <a:spcBef>
                <a:spcPts val="0"/>
              </a:spcBef>
              <a:spcAft>
                <a:spcPts val="0"/>
              </a:spcAft>
              <a:buSzPts val="1800"/>
              <a:buChar char="●"/>
            </a:pPr>
            <a:r>
              <a:rPr lang="en"/>
              <a:t>Miner monopoly on txn order leads to shady collusion. Giving more value to miners.</a:t>
            </a:r>
            <a:endParaRPr/>
          </a:p>
          <a:p>
            <a:pPr indent="-342900" lvl="0" marL="457200" rtl="0" algn="l">
              <a:spcBef>
                <a:spcPts val="0"/>
              </a:spcBef>
              <a:spcAft>
                <a:spcPts val="0"/>
              </a:spcAft>
              <a:buSzPts val="1800"/>
              <a:buChar char="●"/>
            </a:pPr>
            <a:r>
              <a:rPr b="1" lang="en"/>
              <a:t>Goal: reduce mining incentive and transfer to other forms of value</a:t>
            </a:r>
            <a:endParaRPr b="1"/>
          </a:p>
        </p:txBody>
      </p:sp>
      <p:sp>
        <p:nvSpPr>
          <p:cNvPr id="143" name="Google Shape;143;p21"/>
          <p:cNvSpPr txBox="1"/>
          <p:nvPr/>
        </p:nvSpPr>
        <p:spPr>
          <a:xfrm>
            <a:off x="579150" y="3647400"/>
            <a:ext cx="8118900" cy="939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900">
                <a:solidFill>
                  <a:schemeClr val="dk1"/>
                </a:solidFill>
                <a:latin typeface="Old Standard TT"/>
                <a:ea typeface="Old Standard TT"/>
                <a:cs typeface="Old Standard TT"/>
                <a:sym typeface="Old Standard TT"/>
              </a:rPr>
              <a:t>Move to a </a:t>
            </a:r>
            <a:r>
              <a:rPr b="1" lang="en" sz="1900">
                <a:solidFill>
                  <a:schemeClr val="dk1"/>
                </a:solidFill>
                <a:latin typeface="Old Standard TT"/>
                <a:ea typeface="Old Standard TT"/>
                <a:cs typeface="Old Standard TT"/>
                <a:sym typeface="Old Standard TT"/>
              </a:rPr>
              <a:t>uniform price auction model</a:t>
            </a:r>
            <a:endParaRPr b="1" sz="1900">
              <a:solidFill>
                <a:schemeClr val="dk1"/>
              </a:solidFill>
              <a:latin typeface="Old Standard TT"/>
              <a:ea typeface="Old Standard TT"/>
              <a:cs typeface="Old Standard TT"/>
              <a:sym typeface="Old Standard TT"/>
            </a:endParaRPr>
          </a:p>
          <a:p>
            <a:pPr indent="0" lvl="0" marL="0" rtl="0" algn="ctr">
              <a:spcBef>
                <a:spcPts val="0"/>
              </a:spcBef>
              <a:spcAft>
                <a:spcPts val="0"/>
              </a:spcAft>
              <a:buNone/>
            </a:pPr>
            <a:r>
              <a:rPr lang="en" sz="1500">
                <a:solidFill>
                  <a:schemeClr val="dk1"/>
                </a:solidFill>
                <a:latin typeface="Old Standard TT"/>
                <a:ea typeface="Old Standard TT"/>
                <a:cs typeface="Old Standard TT"/>
                <a:sym typeface="Old Standard TT"/>
              </a:rPr>
              <a:t>There are n amount of products and the top n bidders pay the first rejected bid (aka. everyone pays market clearing price)</a:t>
            </a:r>
            <a:endParaRPr sz="1500">
              <a:solidFill>
                <a:schemeClr val="dk1"/>
              </a:solidFill>
              <a:latin typeface="Old Standard TT"/>
              <a:ea typeface="Old Standard TT"/>
              <a:cs typeface="Old Standard TT"/>
              <a:sym typeface="Old Standard T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2"/>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Gas fee calculation - EIP 1559</a:t>
            </a:r>
            <a:endParaRPr/>
          </a:p>
        </p:txBody>
      </p:sp>
      <p:sp>
        <p:nvSpPr>
          <p:cNvPr id="149" name="Google Shape;149;p22"/>
          <p:cNvSpPr txBox="1"/>
          <p:nvPr/>
        </p:nvSpPr>
        <p:spPr>
          <a:xfrm>
            <a:off x="1524000" y="1371600"/>
            <a:ext cx="6289800" cy="554100"/>
          </a:xfrm>
          <a:prstGeom prst="rect">
            <a:avLst/>
          </a:prstGeom>
          <a:noFill/>
          <a:ln cap="flat" cmpd="sng" w="19050">
            <a:solidFill>
              <a:schemeClr val="dk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lang="en" sz="2400">
                <a:solidFill>
                  <a:srgbClr val="4C4C4C"/>
                </a:solidFill>
                <a:latin typeface="Old Standard TT"/>
                <a:ea typeface="Old Standard TT"/>
                <a:cs typeface="Old Standard TT"/>
                <a:sym typeface="Old Standard TT"/>
              </a:rPr>
              <a:t>units of gas used * (base fee + priority fee)</a:t>
            </a:r>
            <a:endParaRPr b="1" sz="2400">
              <a:latin typeface="Old Standard TT"/>
              <a:ea typeface="Old Standard TT"/>
              <a:cs typeface="Old Standard TT"/>
              <a:sym typeface="Old Standard TT"/>
            </a:endParaRPr>
          </a:p>
        </p:txBody>
      </p:sp>
      <p:sp>
        <p:nvSpPr>
          <p:cNvPr id="150" name="Google Shape;150;p22"/>
          <p:cNvSpPr txBox="1"/>
          <p:nvPr/>
        </p:nvSpPr>
        <p:spPr>
          <a:xfrm>
            <a:off x="354450" y="2581888"/>
            <a:ext cx="3051600" cy="8313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Based on transaction complexity</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Deploying a contract is very expensive!</a:t>
            </a:r>
            <a:endParaRPr>
              <a:solidFill>
                <a:schemeClr val="dk1"/>
              </a:solidFill>
              <a:latin typeface="Old Standard TT"/>
              <a:ea typeface="Old Standard TT"/>
              <a:cs typeface="Old Standard TT"/>
              <a:sym typeface="Old Standard TT"/>
            </a:endParaRPr>
          </a:p>
        </p:txBody>
      </p:sp>
      <p:cxnSp>
        <p:nvCxnSpPr>
          <p:cNvPr id="151" name="Google Shape;151;p22"/>
          <p:cNvCxnSpPr>
            <a:stCxn id="150" idx="0"/>
          </p:cNvCxnSpPr>
          <p:nvPr/>
        </p:nvCxnSpPr>
        <p:spPr>
          <a:xfrm flipH="1" rot="10800000">
            <a:off x="1880250" y="2049088"/>
            <a:ext cx="794700" cy="532800"/>
          </a:xfrm>
          <a:prstGeom prst="straightConnector1">
            <a:avLst/>
          </a:prstGeom>
          <a:noFill/>
          <a:ln cap="flat" cmpd="sng" w="9525">
            <a:solidFill>
              <a:schemeClr val="dk2"/>
            </a:solidFill>
            <a:prstDash val="solid"/>
            <a:round/>
            <a:headEnd len="med" w="med" type="none"/>
            <a:tailEnd len="med" w="med" type="triangle"/>
          </a:ln>
        </p:spPr>
      </p:cxnSp>
      <p:sp>
        <p:nvSpPr>
          <p:cNvPr id="152" name="Google Shape;152;p22"/>
          <p:cNvSpPr txBox="1"/>
          <p:nvPr/>
        </p:nvSpPr>
        <p:spPr>
          <a:xfrm>
            <a:off x="354450" y="3725175"/>
            <a:ext cx="5033400" cy="10467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Minimum amount required for txn to be considered valid. Affected by the queue length in mempools of many nodes.</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Long queues = high txn volume = higher fees</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This fee is </a:t>
            </a:r>
            <a:r>
              <a:rPr lang="en">
                <a:solidFill>
                  <a:srgbClr val="FF0000"/>
                </a:solidFill>
                <a:latin typeface="Old Standard TT"/>
                <a:ea typeface="Old Standard TT"/>
                <a:cs typeface="Old Standard TT"/>
                <a:sym typeface="Old Standard TT"/>
              </a:rPr>
              <a:t>burned </a:t>
            </a:r>
            <a:r>
              <a:rPr lang="en">
                <a:solidFill>
                  <a:schemeClr val="dk1"/>
                </a:solidFill>
                <a:latin typeface="Old Standard TT"/>
                <a:ea typeface="Old Standard TT"/>
                <a:cs typeface="Old Standard TT"/>
                <a:sym typeface="Old Standard TT"/>
              </a:rPr>
              <a:t>upon successful incorporation into a block</a:t>
            </a:r>
            <a:endParaRPr>
              <a:solidFill>
                <a:schemeClr val="dk1"/>
              </a:solidFill>
              <a:latin typeface="Old Standard TT"/>
              <a:ea typeface="Old Standard TT"/>
              <a:cs typeface="Old Standard TT"/>
              <a:sym typeface="Old Standard TT"/>
            </a:endParaRPr>
          </a:p>
        </p:txBody>
      </p:sp>
      <p:cxnSp>
        <p:nvCxnSpPr>
          <p:cNvPr id="153" name="Google Shape;153;p22"/>
          <p:cNvCxnSpPr/>
          <p:nvPr/>
        </p:nvCxnSpPr>
        <p:spPr>
          <a:xfrm flipH="1" rot="10800000">
            <a:off x="3787175" y="2207025"/>
            <a:ext cx="951000" cy="1413000"/>
          </a:xfrm>
          <a:prstGeom prst="straightConnector1">
            <a:avLst/>
          </a:prstGeom>
          <a:noFill/>
          <a:ln cap="flat" cmpd="sng" w="9525">
            <a:solidFill>
              <a:schemeClr val="dk2"/>
            </a:solidFill>
            <a:prstDash val="solid"/>
            <a:round/>
            <a:headEnd len="med" w="med" type="none"/>
            <a:tailEnd len="med" w="med" type="triangle"/>
          </a:ln>
        </p:spPr>
      </p:cxnSp>
      <p:sp>
        <p:nvSpPr>
          <p:cNvPr id="154" name="Google Shape;154;p22"/>
          <p:cNvSpPr txBox="1"/>
          <p:nvPr/>
        </p:nvSpPr>
        <p:spPr>
          <a:xfrm>
            <a:off x="5874975" y="2536350"/>
            <a:ext cx="3051600" cy="1908600"/>
          </a:xfrm>
          <a:prstGeom prst="rect">
            <a:avLst/>
          </a:prstGeom>
          <a:noFill/>
          <a:ln cap="flat" cmpd="sng" w="19050">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A "tip" for the validator.</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Remember zero bids on Black Thursday?</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This fee is </a:t>
            </a:r>
            <a:r>
              <a:rPr lang="en">
                <a:solidFill>
                  <a:srgbClr val="0000FF"/>
                </a:solidFill>
                <a:latin typeface="Old Standard TT"/>
                <a:ea typeface="Old Standard TT"/>
                <a:cs typeface="Old Standard TT"/>
                <a:sym typeface="Old Standard TT"/>
              </a:rPr>
              <a:t>retained </a:t>
            </a:r>
            <a:r>
              <a:rPr lang="en">
                <a:solidFill>
                  <a:schemeClr val="dk1"/>
                </a:solidFill>
                <a:latin typeface="Old Standard TT"/>
                <a:ea typeface="Old Standard TT"/>
                <a:cs typeface="Old Standard TT"/>
                <a:sym typeface="Old Standard TT"/>
              </a:rPr>
              <a:t>by validator</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Mining pools usually set a minimum (2 gwei)</a:t>
            </a:r>
            <a:endParaRPr>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a:solidFill>
                  <a:schemeClr val="dk1"/>
                </a:solidFill>
                <a:latin typeface="Old Standard TT"/>
                <a:ea typeface="Old Standard TT"/>
                <a:cs typeface="Old Standard TT"/>
                <a:sym typeface="Old Standard TT"/>
              </a:rPr>
              <a:t>Wallets allow different settings. Or set your own through RPC.</a:t>
            </a:r>
            <a:endParaRPr>
              <a:solidFill>
                <a:schemeClr val="dk1"/>
              </a:solidFill>
              <a:latin typeface="Old Standard TT"/>
              <a:ea typeface="Old Standard TT"/>
              <a:cs typeface="Old Standard TT"/>
              <a:sym typeface="Old Standard TT"/>
            </a:endParaRPr>
          </a:p>
        </p:txBody>
      </p:sp>
      <p:cxnSp>
        <p:nvCxnSpPr>
          <p:cNvPr id="155" name="Google Shape;155;p22"/>
          <p:cNvCxnSpPr>
            <a:stCxn id="154" idx="0"/>
          </p:cNvCxnSpPr>
          <p:nvPr/>
        </p:nvCxnSpPr>
        <p:spPr>
          <a:xfrm rot="10800000">
            <a:off x="6865275" y="2039550"/>
            <a:ext cx="535500" cy="496800"/>
          </a:xfrm>
          <a:prstGeom prst="straightConnector1">
            <a:avLst/>
          </a:prstGeom>
          <a:noFill/>
          <a:ln cap="flat" cmpd="sng" w="9525">
            <a:solidFill>
              <a:schemeClr val="dk2"/>
            </a:solidFill>
            <a:prstDash val="solid"/>
            <a:round/>
            <a:headEnd len="med" w="med" type="none"/>
            <a:tailEnd len="med" w="med" type="triangle"/>
          </a:ln>
        </p:spPr>
      </p:cxnSp>
      <p:sp>
        <p:nvSpPr>
          <p:cNvPr id="156" name="Google Shape;156;p22"/>
          <p:cNvSpPr txBox="1"/>
          <p:nvPr/>
        </p:nvSpPr>
        <p:spPr>
          <a:xfrm>
            <a:off x="5932350" y="262875"/>
            <a:ext cx="2918100" cy="7389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This fee is paid regardless of outcome - success or fail</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311700" y="3688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Perfect (user) competition, half filled blocks</a:t>
            </a:r>
            <a:endParaRPr/>
          </a:p>
        </p:txBody>
      </p:sp>
      <p:pic>
        <p:nvPicPr>
          <p:cNvPr id="162" name="Google Shape;162;p23"/>
          <p:cNvPicPr preferRelativeResize="0"/>
          <p:nvPr/>
        </p:nvPicPr>
        <p:blipFill>
          <a:blip r:embed="rId3">
            <a:alphaModFix/>
          </a:blip>
          <a:stretch>
            <a:fillRect/>
          </a:stretch>
        </p:blipFill>
        <p:spPr>
          <a:xfrm>
            <a:off x="207050" y="1503548"/>
            <a:ext cx="5826875" cy="2686543"/>
          </a:xfrm>
          <a:prstGeom prst="rect">
            <a:avLst/>
          </a:prstGeom>
          <a:noFill/>
          <a:ln>
            <a:noFill/>
          </a:ln>
        </p:spPr>
      </p:pic>
      <p:sp>
        <p:nvSpPr>
          <p:cNvPr id="163" name="Google Shape;163;p23"/>
          <p:cNvSpPr txBox="1"/>
          <p:nvPr/>
        </p:nvSpPr>
        <p:spPr>
          <a:xfrm>
            <a:off x="4837984" y="1228650"/>
            <a:ext cx="11592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Old Standard TT"/>
                <a:ea typeface="Old Standard TT"/>
                <a:cs typeface="Old Standard TT"/>
                <a:sym typeface="Old Standard TT"/>
              </a:rPr>
              <a:t>30Mil gas limit</a:t>
            </a:r>
            <a:endParaRPr sz="1000">
              <a:solidFill>
                <a:schemeClr val="dk1"/>
              </a:solidFill>
              <a:latin typeface="Old Standard TT"/>
              <a:ea typeface="Old Standard TT"/>
              <a:cs typeface="Old Standard TT"/>
              <a:sym typeface="Old Standard TT"/>
            </a:endParaRPr>
          </a:p>
        </p:txBody>
      </p:sp>
      <p:sp>
        <p:nvSpPr>
          <p:cNvPr id="164" name="Google Shape;164;p23"/>
          <p:cNvSpPr txBox="1"/>
          <p:nvPr/>
        </p:nvSpPr>
        <p:spPr>
          <a:xfrm>
            <a:off x="3165859" y="4023845"/>
            <a:ext cx="13347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latin typeface="Old Standard TT"/>
                <a:ea typeface="Old Standard TT"/>
                <a:cs typeface="Old Standard TT"/>
                <a:sym typeface="Old Standard TT"/>
              </a:rPr>
              <a:t>15</a:t>
            </a:r>
            <a:r>
              <a:rPr lang="en" sz="1100">
                <a:solidFill>
                  <a:schemeClr val="dk1"/>
                </a:solidFill>
                <a:latin typeface="Old Standard TT"/>
                <a:ea typeface="Old Standard TT"/>
                <a:cs typeface="Old Standard TT"/>
                <a:sym typeface="Old Standard TT"/>
              </a:rPr>
              <a:t>Mil gas target</a:t>
            </a:r>
            <a:endParaRPr sz="1100">
              <a:solidFill>
                <a:schemeClr val="dk1"/>
              </a:solidFill>
              <a:latin typeface="Old Standard TT"/>
              <a:ea typeface="Old Standard TT"/>
              <a:cs typeface="Old Standard TT"/>
              <a:sym typeface="Old Standard TT"/>
            </a:endParaRPr>
          </a:p>
        </p:txBody>
      </p:sp>
      <p:cxnSp>
        <p:nvCxnSpPr>
          <p:cNvPr id="165" name="Google Shape;165;p23"/>
          <p:cNvCxnSpPr/>
          <p:nvPr/>
        </p:nvCxnSpPr>
        <p:spPr>
          <a:xfrm flipH="1">
            <a:off x="6295022" y="2426951"/>
            <a:ext cx="10500" cy="1189500"/>
          </a:xfrm>
          <a:prstGeom prst="straightConnector1">
            <a:avLst/>
          </a:prstGeom>
          <a:noFill/>
          <a:ln cap="flat" cmpd="sng" w="9525">
            <a:solidFill>
              <a:schemeClr val="dk2"/>
            </a:solidFill>
            <a:prstDash val="solid"/>
            <a:round/>
            <a:headEnd len="med" w="med" type="none"/>
            <a:tailEnd len="med" w="med" type="none"/>
          </a:ln>
        </p:spPr>
      </p:cxnSp>
      <p:cxnSp>
        <p:nvCxnSpPr>
          <p:cNvPr id="166" name="Google Shape;166;p23"/>
          <p:cNvCxnSpPr/>
          <p:nvPr/>
        </p:nvCxnSpPr>
        <p:spPr>
          <a:xfrm flipH="1">
            <a:off x="6295200" y="3609641"/>
            <a:ext cx="2464200" cy="6600"/>
          </a:xfrm>
          <a:prstGeom prst="straightConnector1">
            <a:avLst/>
          </a:prstGeom>
          <a:noFill/>
          <a:ln cap="flat" cmpd="sng" w="9525">
            <a:solidFill>
              <a:schemeClr val="dk2"/>
            </a:solidFill>
            <a:prstDash val="solid"/>
            <a:round/>
            <a:headEnd len="med" w="med" type="none"/>
            <a:tailEnd len="med" w="med" type="none"/>
          </a:ln>
        </p:spPr>
      </p:cxnSp>
      <p:sp>
        <p:nvSpPr>
          <p:cNvPr id="167" name="Google Shape;167;p23"/>
          <p:cNvSpPr/>
          <p:nvPr/>
        </p:nvSpPr>
        <p:spPr>
          <a:xfrm>
            <a:off x="6495675" y="3089927"/>
            <a:ext cx="290700" cy="52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68" name="Google Shape;168;p23"/>
          <p:cNvSpPr/>
          <p:nvPr/>
        </p:nvSpPr>
        <p:spPr>
          <a:xfrm>
            <a:off x="6882175" y="3405131"/>
            <a:ext cx="290700" cy="21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69" name="Google Shape;169;p23"/>
          <p:cNvSpPr/>
          <p:nvPr/>
        </p:nvSpPr>
        <p:spPr>
          <a:xfrm>
            <a:off x="7268700" y="3003051"/>
            <a:ext cx="290700" cy="61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70" name="Google Shape;170;p23"/>
          <p:cNvSpPr/>
          <p:nvPr/>
        </p:nvSpPr>
        <p:spPr>
          <a:xfrm>
            <a:off x="7655225" y="2571750"/>
            <a:ext cx="290700" cy="104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71" name="Google Shape;171;p23"/>
          <p:cNvSpPr/>
          <p:nvPr/>
        </p:nvSpPr>
        <p:spPr>
          <a:xfrm>
            <a:off x="8041725" y="3089752"/>
            <a:ext cx="290700" cy="526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ld Standard TT"/>
              <a:ea typeface="Old Standard TT"/>
              <a:cs typeface="Old Standard TT"/>
              <a:sym typeface="Old Standard TT"/>
            </a:endParaRPr>
          </a:p>
        </p:txBody>
      </p:sp>
      <p:sp>
        <p:nvSpPr>
          <p:cNvPr id="172" name="Google Shape;172;p23"/>
          <p:cNvSpPr txBox="1"/>
          <p:nvPr/>
        </p:nvSpPr>
        <p:spPr>
          <a:xfrm>
            <a:off x="6233225" y="1666325"/>
            <a:ext cx="26172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15Mil block target balances out long and short term goals</a:t>
            </a:r>
            <a:endParaRPr sz="1300">
              <a:solidFill>
                <a:schemeClr val="dk1"/>
              </a:solidFill>
              <a:latin typeface="Old Standard TT"/>
              <a:ea typeface="Old Standard TT"/>
              <a:cs typeface="Old Standard TT"/>
              <a:sym typeface="Old Standard TT"/>
            </a:endParaRPr>
          </a:p>
        </p:txBody>
      </p:sp>
      <p:cxnSp>
        <p:nvCxnSpPr>
          <p:cNvPr id="173" name="Google Shape;173;p23"/>
          <p:cNvCxnSpPr/>
          <p:nvPr/>
        </p:nvCxnSpPr>
        <p:spPr>
          <a:xfrm flipH="1" rot="10800000">
            <a:off x="7555250" y="3863675"/>
            <a:ext cx="214800" cy="515700"/>
          </a:xfrm>
          <a:prstGeom prst="straightConnector1">
            <a:avLst/>
          </a:prstGeom>
          <a:noFill/>
          <a:ln cap="flat" cmpd="sng" w="9525">
            <a:solidFill>
              <a:schemeClr val="dk2"/>
            </a:solidFill>
            <a:prstDash val="solid"/>
            <a:round/>
            <a:headEnd len="med" w="med" type="none"/>
            <a:tailEnd len="med" w="med" type="triangle"/>
          </a:ln>
        </p:spPr>
      </p:cxnSp>
      <p:sp>
        <p:nvSpPr>
          <p:cNvPr id="174" name="Google Shape;174;p23"/>
          <p:cNvSpPr txBox="1"/>
          <p:nvPr/>
        </p:nvSpPr>
        <p:spPr>
          <a:xfrm>
            <a:off x="6361250" y="4522650"/>
            <a:ext cx="2602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latin typeface="Old Standard TT"/>
                <a:ea typeface="Old Standard TT"/>
                <a:cs typeface="Old Standard TT"/>
                <a:sym typeface="Old Standard TT"/>
              </a:rPr>
              <a:t>Can tolerate high transaction volume but not forever</a:t>
            </a:r>
            <a:endParaRPr sz="1000">
              <a:solidFill>
                <a:schemeClr val="dk1"/>
              </a:solidFill>
              <a:latin typeface="Old Standard TT"/>
              <a:ea typeface="Old Standard TT"/>
              <a:cs typeface="Old Standard TT"/>
              <a:sym typeface="Old Standard T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4"/>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Base fee calculation - Tâtonnement</a:t>
            </a:r>
            <a:endParaRPr/>
          </a:p>
        </p:txBody>
      </p:sp>
      <p:sp>
        <p:nvSpPr>
          <p:cNvPr id="180" name="Google Shape;180;p24"/>
          <p:cNvSpPr txBox="1"/>
          <p:nvPr>
            <p:ph idx="1" type="body"/>
          </p:nvPr>
        </p:nvSpPr>
        <p:spPr>
          <a:xfrm>
            <a:off x="311700" y="1046950"/>
            <a:ext cx="8520600" cy="14802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If you can read French - https://www.jstor.org/stable/44346456</a:t>
            </a:r>
            <a:endParaRPr/>
          </a:p>
          <a:p>
            <a:pPr indent="-342900" lvl="0" marL="457200" rtl="0" algn="l">
              <a:spcBef>
                <a:spcPts val="0"/>
              </a:spcBef>
              <a:spcAft>
                <a:spcPts val="0"/>
              </a:spcAft>
              <a:buSzPts val="1800"/>
              <a:buChar char="●"/>
            </a:pPr>
            <a:r>
              <a:rPr lang="en"/>
              <a:t>A control method to estimate market clearing price based on revealed demand.</a:t>
            </a:r>
            <a:endParaRPr/>
          </a:p>
          <a:p>
            <a:pPr indent="-317500" lvl="1" marL="914400" rtl="0" algn="l">
              <a:spcBef>
                <a:spcPts val="0"/>
              </a:spcBef>
              <a:spcAft>
                <a:spcPts val="0"/>
              </a:spcAft>
              <a:buSzPts val="1400"/>
              <a:buChar char="○"/>
            </a:pPr>
            <a:r>
              <a:rPr lang="en"/>
              <a:t>Block higher than 15Mil will increase base price and decrease txns</a:t>
            </a:r>
            <a:endParaRPr/>
          </a:p>
          <a:p>
            <a:pPr indent="-317500" lvl="1" marL="914400" rtl="0" algn="l">
              <a:spcBef>
                <a:spcPts val="0"/>
              </a:spcBef>
              <a:spcAft>
                <a:spcPts val="0"/>
              </a:spcAft>
              <a:buSzPts val="1400"/>
              <a:buChar char="○"/>
            </a:pPr>
            <a:r>
              <a:rPr lang="en"/>
              <a:t>Block lower than 15Mil will decrease base price and increase txn submission</a:t>
            </a:r>
            <a:endParaRPr/>
          </a:p>
          <a:p>
            <a:pPr indent="-317500" lvl="1" marL="914400" rtl="0" algn="l">
              <a:spcBef>
                <a:spcPts val="0"/>
              </a:spcBef>
              <a:spcAft>
                <a:spcPts val="0"/>
              </a:spcAft>
              <a:buSzPts val="1400"/>
              <a:buChar char="○"/>
            </a:pPr>
            <a:r>
              <a:rPr lang="en"/>
              <a:t>How to prevent miners mining zero blocks?</a:t>
            </a:r>
            <a:endParaRPr/>
          </a:p>
        </p:txBody>
      </p:sp>
      <p:sp>
        <p:nvSpPr>
          <p:cNvPr id="181" name="Google Shape;181;p24"/>
          <p:cNvSpPr txBox="1"/>
          <p:nvPr/>
        </p:nvSpPr>
        <p:spPr>
          <a:xfrm>
            <a:off x="2827250" y="3003950"/>
            <a:ext cx="6327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1"/>
              </a:solidFill>
              <a:latin typeface="Old Standard TT"/>
              <a:ea typeface="Old Standard TT"/>
              <a:cs typeface="Old Standard TT"/>
              <a:sym typeface="Old Standard TT"/>
            </a:endParaRPr>
          </a:p>
        </p:txBody>
      </p:sp>
      <p:pic>
        <p:nvPicPr>
          <p:cNvPr id="182" name="Google Shape;182;p24" title="This is the rendered form of the equation. You can not edit this directly. Right click will give you the option to save the image, and in most browsers you can drag the image onto your desktop or another program."/>
          <p:cNvPicPr preferRelativeResize="0"/>
          <p:nvPr/>
        </p:nvPicPr>
        <p:blipFill>
          <a:blip r:embed="rId3">
            <a:alphaModFix/>
          </a:blip>
          <a:stretch>
            <a:fillRect/>
          </a:stretch>
        </p:blipFill>
        <p:spPr>
          <a:xfrm>
            <a:off x="1600200" y="2871500"/>
            <a:ext cx="5606417" cy="613200"/>
          </a:xfrm>
          <a:prstGeom prst="rect">
            <a:avLst/>
          </a:prstGeom>
          <a:noFill/>
          <a:ln cap="flat" cmpd="sng" w="9525">
            <a:solidFill>
              <a:schemeClr val="lt2"/>
            </a:solidFill>
            <a:prstDash val="solid"/>
            <a:round/>
            <a:headEnd len="sm" w="sm" type="none"/>
            <a:tailEnd len="sm" w="sm" type="none"/>
          </a:ln>
        </p:spPr>
      </p:pic>
      <p:sp>
        <p:nvSpPr>
          <p:cNvPr id="183" name="Google Shape;183;p24"/>
          <p:cNvSpPr txBox="1"/>
          <p:nvPr/>
        </p:nvSpPr>
        <p:spPr>
          <a:xfrm>
            <a:off x="2271150" y="4016000"/>
            <a:ext cx="5444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1"/>
                </a:solidFill>
                <a:latin typeface="Old Standard TT"/>
                <a:ea typeface="Old Standard TT"/>
                <a:cs typeface="Old Standard TT"/>
                <a:sym typeface="Old Standard TT"/>
              </a:rPr>
              <a:t>The bigger the k, the smaller the change. Current k = 8.</a:t>
            </a:r>
            <a:endParaRPr sz="1600">
              <a:solidFill>
                <a:schemeClr val="dk1"/>
              </a:solidFill>
              <a:latin typeface="Old Standard TT"/>
              <a:ea typeface="Old Standard TT"/>
              <a:cs typeface="Old Standard TT"/>
              <a:sym typeface="Old Standard T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MEV Value Chain - All is fair in love and MEV </a:t>
            </a:r>
            <a:endParaRPr/>
          </a:p>
        </p:txBody>
      </p:sp>
      <p:pic>
        <p:nvPicPr>
          <p:cNvPr id="189" name="Google Shape;189;p25"/>
          <p:cNvPicPr preferRelativeResize="0"/>
          <p:nvPr/>
        </p:nvPicPr>
        <p:blipFill>
          <a:blip r:embed="rId3">
            <a:alphaModFix/>
          </a:blip>
          <a:stretch>
            <a:fillRect/>
          </a:stretch>
        </p:blipFill>
        <p:spPr>
          <a:xfrm>
            <a:off x="152400" y="1439225"/>
            <a:ext cx="8839204" cy="2516238"/>
          </a:xfrm>
          <a:prstGeom prst="rect">
            <a:avLst/>
          </a:prstGeom>
          <a:noFill/>
          <a:ln>
            <a:noFill/>
          </a:ln>
        </p:spPr>
      </p:pic>
      <p:sp>
        <p:nvSpPr>
          <p:cNvPr id="190" name="Google Shape;190;p25"/>
          <p:cNvSpPr txBox="1"/>
          <p:nvPr/>
        </p:nvSpPr>
        <p:spPr>
          <a:xfrm>
            <a:off x="1781350" y="960350"/>
            <a:ext cx="561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1 month after The Merge, only ~23% Miners remained</a:t>
            </a:r>
            <a:endParaRPr sz="1800">
              <a:solidFill>
                <a:schemeClr val="dk1"/>
              </a:solidFill>
              <a:latin typeface="Old Standard TT"/>
              <a:ea typeface="Old Standard TT"/>
              <a:cs typeface="Old Standard TT"/>
              <a:sym typeface="Old Standard TT"/>
            </a:endParaRPr>
          </a:p>
        </p:txBody>
      </p:sp>
      <p:cxnSp>
        <p:nvCxnSpPr>
          <p:cNvPr id="191" name="Google Shape;191;p25"/>
          <p:cNvCxnSpPr>
            <a:stCxn id="192" idx="0"/>
          </p:cNvCxnSpPr>
          <p:nvPr/>
        </p:nvCxnSpPr>
        <p:spPr>
          <a:xfrm flipH="1" rot="10800000">
            <a:off x="1553575" y="3433650"/>
            <a:ext cx="1646400" cy="631800"/>
          </a:xfrm>
          <a:prstGeom prst="straightConnector1">
            <a:avLst/>
          </a:prstGeom>
          <a:noFill/>
          <a:ln cap="flat" cmpd="sng" w="9525">
            <a:solidFill>
              <a:schemeClr val="dk2"/>
            </a:solidFill>
            <a:prstDash val="solid"/>
            <a:round/>
            <a:headEnd len="med" w="med" type="none"/>
            <a:tailEnd len="med" w="med" type="triangle"/>
          </a:ln>
        </p:spPr>
      </p:cxnSp>
      <p:sp>
        <p:nvSpPr>
          <p:cNvPr id="192" name="Google Shape;192;p25"/>
          <p:cNvSpPr txBox="1"/>
          <p:nvPr/>
        </p:nvSpPr>
        <p:spPr>
          <a:xfrm>
            <a:off x="364225" y="4065450"/>
            <a:ext cx="2378700" cy="9234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1"/>
                </a:solidFill>
                <a:latin typeface="Old Standard TT"/>
                <a:ea typeface="Old Standard TT"/>
                <a:cs typeface="Old Standard TT"/>
                <a:sym typeface="Old Standard TT"/>
              </a:rPr>
              <a:t>Searches for transactions in many mempools and create bundles of profitable txns through simulating txn ordering</a:t>
            </a:r>
            <a:endParaRPr sz="1200">
              <a:solidFill>
                <a:schemeClr val="dk1"/>
              </a:solidFill>
              <a:latin typeface="Old Standard TT"/>
              <a:ea typeface="Old Standard TT"/>
              <a:cs typeface="Old Standard TT"/>
              <a:sym typeface="Old Standard TT"/>
            </a:endParaRPr>
          </a:p>
        </p:txBody>
      </p:sp>
      <p:sp>
        <p:nvSpPr>
          <p:cNvPr id="193" name="Google Shape;193;p25"/>
          <p:cNvSpPr txBox="1"/>
          <p:nvPr/>
        </p:nvSpPr>
        <p:spPr>
          <a:xfrm>
            <a:off x="3047500" y="4031600"/>
            <a:ext cx="2269800" cy="9852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Builders aggregate these bundles into a full block.</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Direct competitor to public mempools.</a:t>
            </a:r>
            <a:endParaRPr sz="1300">
              <a:solidFill>
                <a:schemeClr val="dk1"/>
              </a:solidFill>
              <a:latin typeface="Old Standard TT"/>
              <a:ea typeface="Old Standard TT"/>
              <a:cs typeface="Old Standard TT"/>
              <a:sym typeface="Old Standard TT"/>
            </a:endParaRPr>
          </a:p>
        </p:txBody>
      </p:sp>
      <p:cxnSp>
        <p:nvCxnSpPr>
          <p:cNvPr id="194" name="Google Shape;194;p25"/>
          <p:cNvCxnSpPr>
            <a:stCxn id="193" idx="0"/>
          </p:cNvCxnSpPr>
          <p:nvPr/>
        </p:nvCxnSpPr>
        <p:spPr>
          <a:xfrm flipH="1" rot="10800000">
            <a:off x="4182400" y="3519800"/>
            <a:ext cx="264000" cy="511800"/>
          </a:xfrm>
          <a:prstGeom prst="straightConnector1">
            <a:avLst/>
          </a:prstGeom>
          <a:noFill/>
          <a:ln cap="flat" cmpd="sng" w="9525">
            <a:solidFill>
              <a:schemeClr val="dk2"/>
            </a:solidFill>
            <a:prstDash val="solid"/>
            <a:round/>
            <a:headEnd len="med" w="med" type="none"/>
            <a:tailEnd len="med" w="med" type="triangle"/>
          </a:ln>
        </p:spPr>
      </p:cxnSp>
      <p:sp>
        <p:nvSpPr>
          <p:cNvPr id="195" name="Google Shape;195;p25"/>
          <p:cNvSpPr txBox="1"/>
          <p:nvPr/>
        </p:nvSpPr>
        <p:spPr>
          <a:xfrm>
            <a:off x="5412000" y="4034550"/>
            <a:ext cx="3579600" cy="985200"/>
          </a:xfrm>
          <a:prstGeom prst="rect">
            <a:avLst/>
          </a:prstGeom>
          <a:noFill/>
          <a:ln cap="flat" cmpd="sng" w="9525">
            <a:solidFill>
              <a:schemeClr val="lt2"/>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Relayers aggregate builders and send most valuable blocks to validators - who are also running mev-boost (transaction marketplace)</a:t>
            </a:r>
            <a:endParaRPr sz="13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300">
                <a:solidFill>
                  <a:schemeClr val="dk1"/>
                </a:solidFill>
                <a:latin typeface="Old Standard TT"/>
                <a:ea typeface="Old Standard TT"/>
                <a:cs typeface="Old Standard TT"/>
                <a:sym typeface="Old Standard TT"/>
              </a:rPr>
              <a:t>90% of blocks today are MEV bot mined.</a:t>
            </a:r>
            <a:endParaRPr sz="1300">
              <a:solidFill>
                <a:schemeClr val="dk1"/>
              </a:solidFill>
              <a:latin typeface="Old Standard TT"/>
              <a:ea typeface="Old Standard TT"/>
              <a:cs typeface="Old Standard TT"/>
              <a:sym typeface="Old Standard TT"/>
            </a:endParaRPr>
          </a:p>
        </p:txBody>
      </p:sp>
      <p:cxnSp>
        <p:nvCxnSpPr>
          <p:cNvPr id="196" name="Google Shape;196;p25"/>
          <p:cNvCxnSpPr>
            <a:stCxn id="195" idx="0"/>
          </p:cNvCxnSpPr>
          <p:nvPr/>
        </p:nvCxnSpPr>
        <p:spPr>
          <a:xfrm rot="10800000">
            <a:off x="6895800" y="3469050"/>
            <a:ext cx="306000" cy="565500"/>
          </a:xfrm>
          <a:prstGeom prst="straightConnector1">
            <a:avLst/>
          </a:prstGeom>
          <a:noFill/>
          <a:ln cap="flat" cmpd="sng" w="9525">
            <a:solidFill>
              <a:schemeClr val="dk2"/>
            </a:solidFill>
            <a:prstDash val="solid"/>
            <a:round/>
            <a:headEnd len="med" w="med" type="none"/>
            <a:tailEnd len="med" w="med" type="triangle"/>
          </a:ln>
        </p:spPr>
      </p:cxnSp>
      <p:sp>
        <p:nvSpPr>
          <p:cNvPr id="197" name="Google Shape;197;p25"/>
          <p:cNvSpPr txBox="1"/>
          <p:nvPr/>
        </p:nvSpPr>
        <p:spPr>
          <a:xfrm>
            <a:off x="6347200" y="1495025"/>
            <a:ext cx="12375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FF0000"/>
                </a:solidFill>
                <a:latin typeface="Old Standard TT"/>
                <a:ea typeface="Old Standard TT"/>
                <a:cs typeface="Old Standard TT"/>
                <a:sym typeface="Old Standard TT"/>
              </a:rPr>
              <a:t>MEV Boost Config</a:t>
            </a:r>
            <a:endParaRPr sz="1000">
              <a:solidFill>
                <a:srgbClr val="FF0000"/>
              </a:solidFill>
              <a:latin typeface="Old Standard TT"/>
              <a:ea typeface="Old Standard TT"/>
              <a:cs typeface="Old Standard TT"/>
              <a:sym typeface="Old Standard T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current state of MEV</a:t>
            </a:r>
            <a:endParaRPr/>
          </a:p>
        </p:txBody>
      </p:sp>
      <p:pic>
        <p:nvPicPr>
          <p:cNvPr id="203" name="Google Shape;203;p26"/>
          <p:cNvPicPr preferRelativeResize="0"/>
          <p:nvPr/>
        </p:nvPicPr>
        <p:blipFill>
          <a:blip r:embed="rId3">
            <a:alphaModFix/>
          </a:blip>
          <a:stretch>
            <a:fillRect/>
          </a:stretch>
        </p:blipFill>
        <p:spPr>
          <a:xfrm>
            <a:off x="228600" y="1441575"/>
            <a:ext cx="3663425" cy="2064575"/>
          </a:xfrm>
          <a:prstGeom prst="rect">
            <a:avLst/>
          </a:prstGeom>
          <a:noFill/>
          <a:ln>
            <a:noFill/>
          </a:ln>
        </p:spPr>
      </p:pic>
      <p:sp>
        <p:nvSpPr>
          <p:cNvPr id="204" name="Google Shape;204;p26"/>
          <p:cNvSpPr txBox="1"/>
          <p:nvPr/>
        </p:nvSpPr>
        <p:spPr>
          <a:xfrm>
            <a:off x="1451200" y="1133350"/>
            <a:ext cx="123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ld Standard TT"/>
                <a:ea typeface="Old Standard TT"/>
                <a:cs typeface="Old Standard TT"/>
                <a:sym typeface="Old Standard TT"/>
              </a:rPr>
              <a:t>The Good</a:t>
            </a:r>
            <a:endParaRPr b="1" sz="1800">
              <a:solidFill>
                <a:schemeClr val="dk1"/>
              </a:solidFill>
              <a:latin typeface="Old Standard TT"/>
              <a:ea typeface="Old Standard TT"/>
              <a:cs typeface="Old Standard TT"/>
              <a:sym typeface="Old Standard TT"/>
            </a:endParaRPr>
          </a:p>
        </p:txBody>
      </p:sp>
      <p:sp>
        <p:nvSpPr>
          <p:cNvPr id="205" name="Google Shape;205;p26"/>
          <p:cNvSpPr txBox="1"/>
          <p:nvPr/>
        </p:nvSpPr>
        <p:spPr>
          <a:xfrm>
            <a:off x="540075" y="3606975"/>
            <a:ext cx="3605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More efficient DeFi markets, higher returns for </a:t>
            </a:r>
            <a:r>
              <a:rPr lang="en" sz="1800">
                <a:solidFill>
                  <a:schemeClr val="dk1"/>
                </a:solidFill>
                <a:latin typeface="Old Standard TT"/>
                <a:ea typeface="Old Standard TT"/>
                <a:cs typeface="Old Standard TT"/>
                <a:sym typeface="Old Standard TT"/>
              </a:rPr>
              <a:t>arbitrageurs</a:t>
            </a:r>
            <a:endParaRPr sz="1800">
              <a:solidFill>
                <a:schemeClr val="dk1"/>
              </a:solidFill>
              <a:latin typeface="Old Standard TT"/>
              <a:ea typeface="Old Standard TT"/>
              <a:cs typeface="Old Standard TT"/>
              <a:sym typeface="Old Standard TT"/>
            </a:endParaRPr>
          </a:p>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New financial products - MEV blocker, permissioned mempools</a:t>
            </a:r>
            <a:endParaRPr sz="1800">
              <a:solidFill>
                <a:schemeClr val="dk1"/>
              </a:solidFill>
              <a:latin typeface="Old Standard TT"/>
              <a:ea typeface="Old Standard TT"/>
              <a:cs typeface="Old Standard TT"/>
              <a:sym typeface="Old Standard TT"/>
            </a:endParaRPr>
          </a:p>
        </p:txBody>
      </p:sp>
      <p:sp>
        <p:nvSpPr>
          <p:cNvPr id="206" name="Google Shape;206;p26"/>
          <p:cNvSpPr txBox="1"/>
          <p:nvPr/>
        </p:nvSpPr>
        <p:spPr>
          <a:xfrm>
            <a:off x="5372300" y="1209550"/>
            <a:ext cx="2851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ld Standard TT"/>
                <a:ea typeface="Old Standard TT"/>
                <a:cs typeface="Old Standard TT"/>
                <a:sym typeface="Old Standard TT"/>
              </a:rPr>
              <a:t>The Bad - centralization</a:t>
            </a:r>
            <a:endParaRPr b="1" sz="1800">
              <a:solidFill>
                <a:schemeClr val="dk1"/>
              </a:solidFill>
              <a:latin typeface="Old Standard TT"/>
              <a:ea typeface="Old Standard TT"/>
              <a:cs typeface="Old Standard TT"/>
              <a:sym typeface="Old Standard TT"/>
            </a:endParaRPr>
          </a:p>
        </p:txBody>
      </p:sp>
      <p:sp>
        <p:nvSpPr>
          <p:cNvPr id="207" name="Google Shape;207;p26"/>
          <p:cNvSpPr txBox="1"/>
          <p:nvPr/>
        </p:nvSpPr>
        <p:spPr>
          <a:xfrm>
            <a:off x="4604475" y="1877300"/>
            <a:ext cx="43221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Builder centralization - currently 80% of blocks created by 5 groups</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Relay centralization - 7 relays controlling 90%</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Validator reordering - validators take turns, block reordering profitable</a:t>
            </a:r>
            <a:endParaRPr sz="1800">
              <a:solidFill>
                <a:schemeClr val="dk1"/>
              </a:solidFill>
              <a:latin typeface="Old Standard TT"/>
              <a:ea typeface="Old Standard TT"/>
              <a:cs typeface="Old Standard TT"/>
              <a:sym typeface="Old Standard TT"/>
            </a:endParaRPr>
          </a:p>
          <a:p>
            <a:pPr indent="-342900" lvl="0" marL="457200" rtl="0" algn="l">
              <a:spcBef>
                <a:spcPts val="0"/>
              </a:spcBef>
              <a:spcAft>
                <a:spcPts val="0"/>
              </a:spcAft>
              <a:buClr>
                <a:schemeClr val="dk1"/>
              </a:buClr>
              <a:buSzPts val="1800"/>
              <a:buFont typeface="Old Standard TT"/>
              <a:buChar char="●"/>
            </a:pPr>
            <a:r>
              <a:rPr lang="en" sz="1800">
                <a:solidFill>
                  <a:schemeClr val="dk1"/>
                </a:solidFill>
                <a:latin typeface="Old Standard TT"/>
                <a:ea typeface="Old Standard TT"/>
                <a:cs typeface="Old Standard TT"/>
                <a:sym typeface="Old Standard TT"/>
              </a:rPr>
              <a:t>Toxic forms of MEV - Sandwich Attacks</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7"/>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future of MEV (of Blockchain?)</a:t>
            </a:r>
            <a:endParaRPr/>
          </a:p>
        </p:txBody>
      </p:sp>
      <p:pic>
        <p:nvPicPr>
          <p:cNvPr id="213" name="Google Shape;213;p27"/>
          <p:cNvPicPr preferRelativeResize="0"/>
          <p:nvPr/>
        </p:nvPicPr>
        <p:blipFill>
          <a:blip r:embed="rId3">
            <a:alphaModFix/>
          </a:blip>
          <a:stretch>
            <a:fillRect/>
          </a:stretch>
        </p:blipFill>
        <p:spPr>
          <a:xfrm>
            <a:off x="5401600" y="2987567"/>
            <a:ext cx="3433500" cy="1927333"/>
          </a:xfrm>
          <a:prstGeom prst="rect">
            <a:avLst/>
          </a:prstGeom>
          <a:noFill/>
          <a:ln>
            <a:noFill/>
          </a:ln>
        </p:spPr>
      </p:pic>
      <p:sp>
        <p:nvSpPr>
          <p:cNvPr id="214" name="Google Shape;214;p27"/>
          <p:cNvSpPr txBox="1"/>
          <p:nvPr/>
        </p:nvSpPr>
        <p:spPr>
          <a:xfrm>
            <a:off x="5401600" y="961625"/>
            <a:ext cx="3677400" cy="153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ld Standard TT"/>
                <a:ea typeface="Old Standard TT"/>
                <a:cs typeface="Old Standard TT"/>
                <a:sym typeface="Old Standard TT"/>
              </a:rPr>
              <a:t>MEV Burning vs Smoothing</a:t>
            </a:r>
            <a:endParaRPr b="1" sz="1800">
              <a:solidFill>
                <a:schemeClr val="dk1"/>
              </a:solidFill>
              <a:latin typeface="Old Standard TT"/>
              <a:ea typeface="Old Standard TT"/>
              <a:cs typeface="Old Standard TT"/>
              <a:sym typeface="Old Standard TT"/>
            </a:endParaRPr>
          </a:p>
          <a:p>
            <a:pPr indent="-317500" lvl="0" marL="457200" rtl="0" algn="l">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The chain takes control of the MEV and burn it like the base price.</a:t>
            </a:r>
            <a:endParaRPr>
              <a:solidFill>
                <a:schemeClr val="dk1"/>
              </a:solidFill>
              <a:latin typeface="Old Standard TT"/>
              <a:ea typeface="Old Standard TT"/>
              <a:cs typeface="Old Standard TT"/>
              <a:sym typeface="Old Standard TT"/>
            </a:endParaRPr>
          </a:p>
          <a:p>
            <a:pPr indent="-317500" lvl="0" marL="457200" rtl="0" algn="l">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Mechanism for distributing MEV </a:t>
            </a:r>
            <a:r>
              <a:rPr lang="en">
                <a:solidFill>
                  <a:schemeClr val="dk1"/>
                </a:solidFill>
                <a:latin typeface="Old Standard TT"/>
                <a:ea typeface="Old Standard TT"/>
                <a:cs typeface="Old Standard TT"/>
                <a:sym typeface="Old Standard TT"/>
              </a:rPr>
              <a:t>amongst</a:t>
            </a:r>
            <a:r>
              <a:rPr lang="en">
                <a:solidFill>
                  <a:schemeClr val="dk1"/>
                </a:solidFill>
                <a:latin typeface="Old Standard TT"/>
                <a:ea typeface="Old Standard TT"/>
                <a:cs typeface="Old Standard TT"/>
                <a:sym typeface="Old Standard TT"/>
              </a:rPr>
              <a:t> validators</a:t>
            </a:r>
            <a:endParaRPr>
              <a:solidFill>
                <a:schemeClr val="dk1"/>
              </a:solidFill>
              <a:latin typeface="Old Standard TT"/>
              <a:ea typeface="Old Standard TT"/>
              <a:cs typeface="Old Standard TT"/>
              <a:sym typeface="Old Standard TT"/>
            </a:endParaRPr>
          </a:p>
          <a:p>
            <a:pPr indent="-317500" lvl="0" marL="457200" rtl="0" algn="l">
              <a:spcBef>
                <a:spcPts val="0"/>
              </a:spcBef>
              <a:spcAft>
                <a:spcPts val="0"/>
              </a:spcAft>
              <a:buClr>
                <a:schemeClr val="dk1"/>
              </a:buClr>
              <a:buSzPts val="1400"/>
              <a:buFont typeface="Old Standard TT"/>
              <a:buChar char="●"/>
            </a:pPr>
            <a:r>
              <a:rPr lang="en">
                <a:solidFill>
                  <a:schemeClr val="dk1"/>
                </a:solidFill>
                <a:latin typeface="Old Standard TT"/>
                <a:ea typeface="Old Standard TT"/>
                <a:cs typeface="Old Standard TT"/>
                <a:sym typeface="Old Standard TT"/>
              </a:rPr>
              <a:t>MEV tax (half burn?)</a:t>
            </a:r>
            <a:endParaRPr>
              <a:solidFill>
                <a:schemeClr val="dk1"/>
              </a:solidFill>
              <a:latin typeface="Old Standard TT"/>
              <a:ea typeface="Old Standard TT"/>
              <a:cs typeface="Old Standard TT"/>
              <a:sym typeface="Old Standard TT"/>
            </a:endParaRPr>
          </a:p>
        </p:txBody>
      </p:sp>
      <p:sp>
        <p:nvSpPr>
          <p:cNvPr id="215" name="Google Shape;215;p27"/>
          <p:cNvSpPr txBox="1"/>
          <p:nvPr/>
        </p:nvSpPr>
        <p:spPr>
          <a:xfrm>
            <a:off x="5358625" y="2655550"/>
            <a:ext cx="372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1"/>
                </a:solidFill>
                <a:latin typeface="Old Standard TT"/>
                <a:ea typeface="Old Standard TT"/>
                <a:cs typeface="Old Standard TT"/>
                <a:sym typeface="Old Standard TT"/>
              </a:rPr>
              <a:t>MEV Sharing</a:t>
            </a:r>
            <a:endParaRPr b="1" sz="1800">
              <a:solidFill>
                <a:schemeClr val="dk1"/>
              </a:solidFill>
              <a:latin typeface="Old Standard TT"/>
              <a:ea typeface="Old Standard TT"/>
              <a:cs typeface="Old Standard TT"/>
              <a:sym typeface="Old Standard TT"/>
            </a:endParaRPr>
          </a:p>
        </p:txBody>
      </p:sp>
      <p:sp>
        <p:nvSpPr>
          <p:cNvPr id="216" name="Google Shape;216;p27"/>
          <p:cNvSpPr txBox="1"/>
          <p:nvPr/>
        </p:nvSpPr>
        <p:spPr>
          <a:xfrm>
            <a:off x="477575" y="1180475"/>
            <a:ext cx="418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Old Standard TT"/>
                <a:ea typeface="Old Standard TT"/>
                <a:cs typeface="Old Standard TT"/>
                <a:sym typeface="Old Standard TT"/>
              </a:rPr>
              <a:t>Once again towards decentralization….</a:t>
            </a:r>
            <a:endParaRPr b="1">
              <a:solidFill>
                <a:schemeClr val="dk1"/>
              </a:solidFill>
              <a:latin typeface="Old Standard TT"/>
              <a:ea typeface="Old Standard TT"/>
              <a:cs typeface="Old Standard TT"/>
              <a:sym typeface="Old Standard TT"/>
            </a:endParaRPr>
          </a:p>
        </p:txBody>
      </p:sp>
      <p:pic>
        <p:nvPicPr>
          <p:cNvPr id="217" name="Google Shape;217;p27"/>
          <p:cNvPicPr preferRelativeResize="0"/>
          <p:nvPr/>
        </p:nvPicPr>
        <p:blipFill>
          <a:blip r:embed="rId4">
            <a:alphaModFix/>
          </a:blip>
          <a:stretch>
            <a:fillRect/>
          </a:stretch>
        </p:blipFill>
        <p:spPr>
          <a:xfrm>
            <a:off x="228600" y="2237100"/>
            <a:ext cx="4680675" cy="2498925"/>
          </a:xfrm>
          <a:prstGeom prst="rect">
            <a:avLst/>
          </a:prstGeom>
          <a:noFill/>
          <a:ln>
            <a:noFill/>
          </a:ln>
        </p:spPr>
      </p:pic>
      <p:sp>
        <p:nvSpPr>
          <p:cNvPr id="218" name="Google Shape;218;p27"/>
          <p:cNvSpPr txBox="1"/>
          <p:nvPr/>
        </p:nvSpPr>
        <p:spPr>
          <a:xfrm>
            <a:off x="568100" y="1671525"/>
            <a:ext cx="396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ld Standard TT"/>
                <a:ea typeface="Old Standard TT"/>
                <a:cs typeface="Old Standard TT"/>
                <a:sym typeface="Old Standard TT"/>
              </a:rPr>
              <a:t>Multi-chain mempool democratization</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22" name="Shape 222"/>
        <p:cNvGrpSpPr/>
        <p:nvPr/>
      </p:nvGrpSpPr>
      <p:grpSpPr>
        <a:xfrm>
          <a:off x="0" y="0"/>
          <a:ext cx="0" cy="0"/>
          <a:chOff x="0" y="0"/>
          <a:chExt cx="0" cy="0"/>
        </a:xfrm>
      </p:grpSpPr>
      <p:sp>
        <p:nvSpPr>
          <p:cNvPr id="223" name="Google Shape;223;p28"/>
          <p:cNvSpPr txBox="1"/>
          <p:nvPr>
            <p:ph type="title"/>
          </p:nvPr>
        </p:nvSpPr>
        <p:spPr>
          <a:xfrm>
            <a:off x="311700" y="1969375"/>
            <a:ext cx="8520600" cy="13458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chemeClr val="lt1"/>
                </a:solidFill>
              </a:rPr>
              <a:t>Layer 2 Scaling</a:t>
            </a:r>
            <a:endParaRPr>
              <a:solidFill>
                <a:schemeClr val="lt1"/>
              </a:solidFill>
            </a:endParaRPr>
          </a:p>
          <a:p>
            <a:pPr indent="0" lvl="0" marL="0" rtl="0" algn="ctr">
              <a:spcBef>
                <a:spcPts val="0"/>
              </a:spcBef>
              <a:spcAft>
                <a:spcPts val="0"/>
              </a:spcAft>
              <a:buNone/>
            </a:pPr>
            <a:r>
              <a:t/>
            </a:r>
            <a:endParaRPr>
              <a:solidFill>
                <a:schemeClr val="lt1"/>
              </a:solidFill>
            </a:endParaRPr>
          </a:p>
          <a:p>
            <a:pPr indent="0" lvl="0" marL="0" rtl="0" algn="ctr">
              <a:spcBef>
                <a:spcPts val="0"/>
              </a:spcBef>
              <a:spcAft>
                <a:spcPts val="0"/>
              </a:spcAft>
              <a:buNone/>
            </a:pPr>
            <a:r>
              <a:rPr lang="en" sz="2355">
                <a:solidFill>
                  <a:schemeClr val="lt1"/>
                </a:solidFill>
              </a:rPr>
              <a:t>State Channels, Side Chains, Rollups</a:t>
            </a:r>
            <a:endParaRPr sz="2355">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9"/>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 Channels - Moving transactions off chain</a:t>
            </a:r>
            <a:endParaRPr/>
          </a:p>
        </p:txBody>
      </p:sp>
      <p:pic>
        <p:nvPicPr>
          <p:cNvPr id="229" name="Google Shape;229;p29"/>
          <p:cNvPicPr preferRelativeResize="0"/>
          <p:nvPr/>
        </p:nvPicPr>
        <p:blipFill>
          <a:blip r:embed="rId3">
            <a:alphaModFix/>
          </a:blip>
          <a:stretch>
            <a:fillRect/>
          </a:stretch>
        </p:blipFill>
        <p:spPr>
          <a:xfrm>
            <a:off x="1761325" y="1093925"/>
            <a:ext cx="5621351" cy="3137275"/>
          </a:xfrm>
          <a:prstGeom prst="rect">
            <a:avLst/>
          </a:prstGeom>
          <a:noFill/>
          <a:ln>
            <a:noFill/>
          </a:ln>
        </p:spPr>
      </p:pic>
      <p:sp>
        <p:nvSpPr>
          <p:cNvPr id="230" name="Google Shape;230;p29"/>
          <p:cNvSpPr txBox="1"/>
          <p:nvPr/>
        </p:nvSpPr>
        <p:spPr>
          <a:xfrm>
            <a:off x="1831950" y="4469100"/>
            <a:ext cx="5480100" cy="400200"/>
          </a:xfrm>
          <a:prstGeom prst="rect">
            <a:avLst/>
          </a:prstGeom>
          <a:noFill/>
          <a:ln cap="flat" cmpd="sng" w="19050">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Only 2 transactions: channel open state and channel close state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State Channels - multisig smart contracts</a:t>
            </a:r>
            <a:endParaRPr/>
          </a:p>
        </p:txBody>
      </p:sp>
      <p:pic>
        <p:nvPicPr>
          <p:cNvPr id="236" name="Google Shape;236;p30"/>
          <p:cNvPicPr preferRelativeResize="0"/>
          <p:nvPr/>
        </p:nvPicPr>
        <p:blipFill>
          <a:blip r:embed="rId3">
            <a:alphaModFix/>
          </a:blip>
          <a:stretch>
            <a:fillRect/>
          </a:stretch>
        </p:blipFill>
        <p:spPr>
          <a:xfrm>
            <a:off x="3052625" y="1100275"/>
            <a:ext cx="1182875" cy="1182875"/>
          </a:xfrm>
          <a:prstGeom prst="rect">
            <a:avLst/>
          </a:prstGeom>
          <a:noFill/>
          <a:ln>
            <a:noFill/>
          </a:ln>
        </p:spPr>
      </p:pic>
      <p:pic>
        <p:nvPicPr>
          <p:cNvPr id="237" name="Google Shape;237;p30"/>
          <p:cNvPicPr preferRelativeResize="0"/>
          <p:nvPr/>
        </p:nvPicPr>
        <p:blipFill>
          <a:blip r:embed="rId4">
            <a:alphaModFix/>
          </a:blip>
          <a:stretch>
            <a:fillRect/>
          </a:stretch>
        </p:blipFill>
        <p:spPr>
          <a:xfrm>
            <a:off x="6294700" y="1100275"/>
            <a:ext cx="675525" cy="675525"/>
          </a:xfrm>
          <a:prstGeom prst="rect">
            <a:avLst/>
          </a:prstGeom>
          <a:noFill/>
          <a:ln>
            <a:noFill/>
          </a:ln>
        </p:spPr>
      </p:pic>
      <p:pic>
        <p:nvPicPr>
          <p:cNvPr id="238" name="Google Shape;238;p30"/>
          <p:cNvPicPr preferRelativeResize="0"/>
          <p:nvPr/>
        </p:nvPicPr>
        <p:blipFill>
          <a:blip r:embed="rId4">
            <a:alphaModFix/>
          </a:blip>
          <a:stretch>
            <a:fillRect/>
          </a:stretch>
        </p:blipFill>
        <p:spPr>
          <a:xfrm>
            <a:off x="6970225" y="1100275"/>
            <a:ext cx="675525" cy="675525"/>
          </a:xfrm>
          <a:prstGeom prst="rect">
            <a:avLst/>
          </a:prstGeom>
          <a:noFill/>
          <a:ln>
            <a:noFill/>
          </a:ln>
        </p:spPr>
      </p:pic>
      <p:cxnSp>
        <p:nvCxnSpPr>
          <p:cNvPr id="239" name="Google Shape;239;p30"/>
          <p:cNvCxnSpPr>
            <a:endCxn id="236" idx="3"/>
          </p:cNvCxnSpPr>
          <p:nvPr/>
        </p:nvCxnSpPr>
        <p:spPr>
          <a:xfrm flipH="1">
            <a:off x="4235500" y="1516812"/>
            <a:ext cx="1778700" cy="174900"/>
          </a:xfrm>
          <a:prstGeom prst="straightConnector1">
            <a:avLst/>
          </a:prstGeom>
          <a:noFill/>
          <a:ln cap="flat" cmpd="sng" w="9525">
            <a:solidFill>
              <a:schemeClr val="dk2"/>
            </a:solidFill>
            <a:prstDash val="solid"/>
            <a:round/>
            <a:headEnd len="med" w="med" type="none"/>
            <a:tailEnd len="med" w="med" type="triangle"/>
          </a:ln>
        </p:spPr>
      </p:cxnSp>
      <p:sp>
        <p:nvSpPr>
          <p:cNvPr id="240" name="Google Shape;240;p30"/>
          <p:cNvSpPr txBox="1"/>
          <p:nvPr/>
        </p:nvSpPr>
        <p:spPr>
          <a:xfrm rot="-478477">
            <a:off x="4202474" y="1022965"/>
            <a:ext cx="1969950" cy="554049"/>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Deposit some ETH into the contract - initial capital</a:t>
            </a:r>
            <a:endParaRPr sz="1200"/>
          </a:p>
        </p:txBody>
      </p:sp>
      <p:pic>
        <p:nvPicPr>
          <p:cNvPr id="241" name="Google Shape;241;p30"/>
          <p:cNvPicPr preferRelativeResize="0"/>
          <p:nvPr/>
        </p:nvPicPr>
        <p:blipFill>
          <a:blip r:embed="rId5">
            <a:alphaModFix/>
          </a:blip>
          <a:stretch>
            <a:fillRect/>
          </a:stretch>
        </p:blipFill>
        <p:spPr>
          <a:xfrm>
            <a:off x="873450" y="2283150"/>
            <a:ext cx="1004077" cy="1599500"/>
          </a:xfrm>
          <a:prstGeom prst="rect">
            <a:avLst/>
          </a:prstGeom>
          <a:noFill/>
          <a:ln>
            <a:noFill/>
          </a:ln>
        </p:spPr>
      </p:pic>
      <p:cxnSp>
        <p:nvCxnSpPr>
          <p:cNvPr id="242" name="Google Shape;242;p30"/>
          <p:cNvCxnSpPr>
            <a:stCxn id="241" idx="3"/>
            <a:endCxn id="236" idx="1"/>
          </p:cNvCxnSpPr>
          <p:nvPr/>
        </p:nvCxnSpPr>
        <p:spPr>
          <a:xfrm flipH="1" rot="10800000">
            <a:off x="1877527" y="1691800"/>
            <a:ext cx="1175100" cy="1391100"/>
          </a:xfrm>
          <a:prstGeom prst="straightConnector1">
            <a:avLst/>
          </a:prstGeom>
          <a:noFill/>
          <a:ln cap="flat" cmpd="sng" w="9525">
            <a:solidFill>
              <a:schemeClr val="dk2"/>
            </a:solidFill>
            <a:prstDash val="solid"/>
            <a:round/>
            <a:headEnd len="med" w="med" type="none"/>
            <a:tailEnd len="med" w="med" type="triangle"/>
          </a:ln>
        </p:spPr>
      </p:cxnSp>
      <p:sp>
        <p:nvSpPr>
          <p:cNvPr id="243" name="Google Shape;243;p30"/>
          <p:cNvSpPr txBox="1"/>
          <p:nvPr/>
        </p:nvSpPr>
        <p:spPr>
          <a:xfrm>
            <a:off x="817875" y="1612525"/>
            <a:ext cx="1986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Opens the channel by creating multisig contract</a:t>
            </a:r>
            <a:endParaRPr sz="1200"/>
          </a:p>
        </p:txBody>
      </p:sp>
      <p:pic>
        <p:nvPicPr>
          <p:cNvPr id="244" name="Google Shape;244;p30"/>
          <p:cNvPicPr preferRelativeResize="0"/>
          <p:nvPr/>
        </p:nvPicPr>
        <p:blipFill>
          <a:blip r:embed="rId4">
            <a:alphaModFix/>
          </a:blip>
          <a:stretch>
            <a:fillRect/>
          </a:stretch>
        </p:blipFill>
        <p:spPr>
          <a:xfrm>
            <a:off x="5421600" y="2628688"/>
            <a:ext cx="675525" cy="675525"/>
          </a:xfrm>
          <a:prstGeom prst="rect">
            <a:avLst/>
          </a:prstGeom>
          <a:noFill/>
          <a:ln>
            <a:noFill/>
          </a:ln>
        </p:spPr>
      </p:pic>
      <p:pic>
        <p:nvPicPr>
          <p:cNvPr id="245" name="Google Shape;245;p30"/>
          <p:cNvPicPr preferRelativeResize="0"/>
          <p:nvPr/>
        </p:nvPicPr>
        <p:blipFill>
          <a:blip r:embed="rId4">
            <a:alphaModFix/>
          </a:blip>
          <a:stretch>
            <a:fillRect/>
          </a:stretch>
        </p:blipFill>
        <p:spPr>
          <a:xfrm>
            <a:off x="7416700" y="2628688"/>
            <a:ext cx="675525" cy="675525"/>
          </a:xfrm>
          <a:prstGeom prst="rect">
            <a:avLst/>
          </a:prstGeom>
          <a:noFill/>
          <a:ln>
            <a:noFill/>
          </a:ln>
        </p:spPr>
      </p:pic>
      <p:cxnSp>
        <p:nvCxnSpPr>
          <p:cNvPr id="246" name="Google Shape;246;p30"/>
          <p:cNvCxnSpPr>
            <a:stCxn id="244" idx="3"/>
            <a:endCxn id="245" idx="1"/>
          </p:cNvCxnSpPr>
          <p:nvPr/>
        </p:nvCxnSpPr>
        <p:spPr>
          <a:xfrm>
            <a:off x="6097125" y="2966450"/>
            <a:ext cx="1319700" cy="0"/>
          </a:xfrm>
          <a:prstGeom prst="straightConnector1">
            <a:avLst/>
          </a:prstGeom>
          <a:noFill/>
          <a:ln cap="flat" cmpd="sng" w="9525">
            <a:solidFill>
              <a:schemeClr val="dk2"/>
            </a:solidFill>
            <a:prstDash val="solid"/>
            <a:round/>
            <a:headEnd len="med" w="med" type="none"/>
            <a:tailEnd len="med" w="med" type="triangle"/>
          </a:ln>
        </p:spPr>
      </p:cxnSp>
      <p:cxnSp>
        <p:nvCxnSpPr>
          <p:cNvPr id="247" name="Google Shape;247;p30"/>
          <p:cNvCxnSpPr/>
          <p:nvPr/>
        </p:nvCxnSpPr>
        <p:spPr>
          <a:xfrm rot="10800000">
            <a:off x="6097125" y="2814050"/>
            <a:ext cx="1319700" cy="0"/>
          </a:xfrm>
          <a:prstGeom prst="straightConnector1">
            <a:avLst/>
          </a:prstGeom>
          <a:noFill/>
          <a:ln cap="flat" cmpd="sng" w="9525">
            <a:solidFill>
              <a:schemeClr val="dk2"/>
            </a:solidFill>
            <a:prstDash val="solid"/>
            <a:round/>
            <a:headEnd len="med" w="med" type="none"/>
            <a:tailEnd len="med" w="med" type="triangle"/>
          </a:ln>
        </p:spPr>
      </p:cxnSp>
      <p:sp>
        <p:nvSpPr>
          <p:cNvPr id="248" name="Google Shape;248;p30"/>
          <p:cNvSpPr txBox="1"/>
          <p:nvPr/>
        </p:nvSpPr>
        <p:spPr>
          <a:xfrm>
            <a:off x="5941825" y="2101200"/>
            <a:ext cx="1986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Every transaction requires both signatures (or quorum)</a:t>
            </a:r>
            <a:endParaRPr sz="1200"/>
          </a:p>
        </p:txBody>
      </p:sp>
      <p:pic>
        <p:nvPicPr>
          <p:cNvPr id="249" name="Google Shape;249;p30"/>
          <p:cNvPicPr preferRelativeResize="0"/>
          <p:nvPr/>
        </p:nvPicPr>
        <p:blipFill>
          <a:blip r:embed="rId4">
            <a:alphaModFix/>
          </a:blip>
          <a:stretch>
            <a:fillRect/>
          </a:stretch>
        </p:blipFill>
        <p:spPr>
          <a:xfrm>
            <a:off x="4008700" y="3919675"/>
            <a:ext cx="675525" cy="675525"/>
          </a:xfrm>
          <a:prstGeom prst="rect">
            <a:avLst/>
          </a:prstGeom>
          <a:noFill/>
          <a:ln>
            <a:noFill/>
          </a:ln>
        </p:spPr>
      </p:pic>
      <p:pic>
        <p:nvPicPr>
          <p:cNvPr id="250" name="Google Shape;250;p30"/>
          <p:cNvPicPr preferRelativeResize="0"/>
          <p:nvPr/>
        </p:nvPicPr>
        <p:blipFill>
          <a:blip r:embed="rId4">
            <a:alphaModFix/>
          </a:blip>
          <a:stretch>
            <a:fillRect/>
          </a:stretch>
        </p:blipFill>
        <p:spPr>
          <a:xfrm>
            <a:off x="4684225" y="3919675"/>
            <a:ext cx="675525" cy="675525"/>
          </a:xfrm>
          <a:prstGeom prst="rect">
            <a:avLst/>
          </a:prstGeom>
          <a:noFill/>
          <a:ln>
            <a:noFill/>
          </a:ln>
        </p:spPr>
      </p:pic>
      <p:cxnSp>
        <p:nvCxnSpPr>
          <p:cNvPr id="251" name="Google Shape;251;p30"/>
          <p:cNvCxnSpPr>
            <a:stCxn id="236" idx="2"/>
          </p:cNvCxnSpPr>
          <p:nvPr/>
        </p:nvCxnSpPr>
        <p:spPr>
          <a:xfrm>
            <a:off x="3644062" y="2283150"/>
            <a:ext cx="1104300" cy="1364700"/>
          </a:xfrm>
          <a:prstGeom prst="straightConnector1">
            <a:avLst/>
          </a:prstGeom>
          <a:noFill/>
          <a:ln cap="flat" cmpd="sng" w="19050">
            <a:solidFill>
              <a:srgbClr val="6AA84F"/>
            </a:solidFill>
            <a:prstDash val="solid"/>
            <a:round/>
            <a:headEnd len="med" w="med" type="none"/>
            <a:tailEnd len="med" w="med" type="triangle"/>
          </a:ln>
        </p:spPr>
      </p:cxnSp>
      <p:cxnSp>
        <p:nvCxnSpPr>
          <p:cNvPr id="252" name="Google Shape;252;p30"/>
          <p:cNvCxnSpPr>
            <a:stCxn id="236" idx="2"/>
          </p:cNvCxnSpPr>
          <p:nvPr/>
        </p:nvCxnSpPr>
        <p:spPr>
          <a:xfrm>
            <a:off x="3644062" y="2283150"/>
            <a:ext cx="751800" cy="1316700"/>
          </a:xfrm>
          <a:prstGeom prst="straightConnector1">
            <a:avLst/>
          </a:prstGeom>
          <a:noFill/>
          <a:ln cap="flat" cmpd="sng" w="19050">
            <a:solidFill>
              <a:srgbClr val="6AA84F"/>
            </a:solidFill>
            <a:prstDash val="solid"/>
            <a:round/>
            <a:headEnd len="med" w="med" type="none"/>
            <a:tailEnd len="med" w="med" type="triangle"/>
          </a:ln>
        </p:spPr>
      </p:cxnSp>
      <p:sp>
        <p:nvSpPr>
          <p:cNvPr id="253" name="Google Shape;253;p30"/>
          <p:cNvSpPr txBox="1"/>
          <p:nvPr/>
        </p:nvSpPr>
        <p:spPr>
          <a:xfrm>
            <a:off x="5409125" y="3791850"/>
            <a:ext cx="3680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 the good case, everyone finishes transacting and closes the contract, getting their remaining balance back. Contract sends final state to the blockchain.</a:t>
            </a:r>
            <a:endParaRPr/>
          </a:p>
        </p:txBody>
      </p:sp>
      <p:pic>
        <p:nvPicPr>
          <p:cNvPr id="254" name="Google Shape;254;p30"/>
          <p:cNvPicPr preferRelativeResize="0"/>
          <p:nvPr/>
        </p:nvPicPr>
        <p:blipFill>
          <a:blip r:embed="rId4">
            <a:alphaModFix/>
          </a:blip>
          <a:stretch>
            <a:fillRect/>
          </a:stretch>
        </p:blipFill>
        <p:spPr>
          <a:xfrm>
            <a:off x="2615025" y="3985575"/>
            <a:ext cx="675525" cy="675525"/>
          </a:xfrm>
          <a:prstGeom prst="rect">
            <a:avLst/>
          </a:prstGeom>
          <a:noFill/>
          <a:ln>
            <a:noFill/>
          </a:ln>
        </p:spPr>
      </p:pic>
      <p:cxnSp>
        <p:nvCxnSpPr>
          <p:cNvPr id="255" name="Google Shape;255;p30"/>
          <p:cNvCxnSpPr>
            <a:stCxn id="254" idx="0"/>
            <a:endCxn id="236" idx="2"/>
          </p:cNvCxnSpPr>
          <p:nvPr/>
        </p:nvCxnSpPr>
        <p:spPr>
          <a:xfrm flipH="1" rot="10800000">
            <a:off x="2952788" y="2283075"/>
            <a:ext cx="691200" cy="1702500"/>
          </a:xfrm>
          <a:prstGeom prst="straightConnector1">
            <a:avLst/>
          </a:prstGeom>
          <a:noFill/>
          <a:ln cap="flat" cmpd="sng" w="28575">
            <a:solidFill>
              <a:srgbClr val="FF0000"/>
            </a:solidFill>
            <a:prstDash val="solid"/>
            <a:round/>
            <a:headEnd len="med" w="med" type="none"/>
            <a:tailEnd len="med" w="med" type="triangle"/>
          </a:ln>
        </p:spPr>
      </p:cxnSp>
      <p:sp>
        <p:nvSpPr>
          <p:cNvPr id="256" name="Google Shape;256;p30"/>
          <p:cNvSpPr txBox="1"/>
          <p:nvPr/>
        </p:nvSpPr>
        <p:spPr>
          <a:xfrm>
            <a:off x="133638" y="3909375"/>
            <a:ext cx="2483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In the bad case, one person can call a contract kill option. Last transaction with all signatures is final state. There is a challenge period before resolution.</a:t>
            </a:r>
            <a:endParaRPr sz="1200"/>
          </a:p>
        </p:txBody>
      </p:sp>
      <p:sp>
        <p:nvSpPr>
          <p:cNvPr id="257" name="Google Shape;257;p30"/>
          <p:cNvSpPr txBox="1"/>
          <p:nvPr/>
        </p:nvSpPr>
        <p:spPr>
          <a:xfrm>
            <a:off x="6086025" y="2942600"/>
            <a:ext cx="1319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Instantaneous</a:t>
            </a:r>
            <a:endParaRPr/>
          </a:p>
          <a:p>
            <a:pPr indent="0" lvl="0" marL="0" rtl="0" algn="l">
              <a:spcBef>
                <a:spcPts val="0"/>
              </a:spcBef>
              <a:spcAft>
                <a:spcPts val="0"/>
              </a:spcAft>
              <a:buNone/>
            </a:pPr>
            <a:r>
              <a:rPr lang="en"/>
              <a:t>Fee-less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1"/>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Side Chain Example - Polygon Matic</a:t>
            </a:r>
            <a:endParaRPr/>
          </a:p>
        </p:txBody>
      </p:sp>
      <p:pic>
        <p:nvPicPr>
          <p:cNvPr id="263" name="Google Shape;263;p31"/>
          <p:cNvPicPr preferRelativeResize="0"/>
          <p:nvPr/>
        </p:nvPicPr>
        <p:blipFill>
          <a:blip r:embed="rId3">
            <a:alphaModFix/>
          </a:blip>
          <a:stretch>
            <a:fillRect/>
          </a:stretch>
        </p:blipFill>
        <p:spPr>
          <a:xfrm>
            <a:off x="1219200" y="941525"/>
            <a:ext cx="6767285" cy="3973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2"/>
          <p:cNvSpPr txBox="1"/>
          <p:nvPr>
            <p:ph type="title"/>
          </p:nvPr>
        </p:nvSpPr>
        <p:spPr>
          <a:xfrm>
            <a:off x="311700" y="216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Heimdall Checkpoints</a:t>
            </a:r>
            <a:endParaRPr/>
          </a:p>
        </p:txBody>
      </p:sp>
      <p:pic>
        <p:nvPicPr>
          <p:cNvPr id="269" name="Google Shape;269;p32"/>
          <p:cNvPicPr preferRelativeResize="0"/>
          <p:nvPr/>
        </p:nvPicPr>
        <p:blipFill>
          <a:blip r:embed="rId3">
            <a:alphaModFix/>
          </a:blip>
          <a:stretch>
            <a:fillRect/>
          </a:stretch>
        </p:blipFill>
        <p:spPr>
          <a:xfrm>
            <a:off x="381000" y="941525"/>
            <a:ext cx="4844645" cy="3820974"/>
          </a:xfrm>
          <a:prstGeom prst="rect">
            <a:avLst/>
          </a:prstGeom>
          <a:noFill/>
          <a:ln>
            <a:noFill/>
          </a:ln>
        </p:spPr>
      </p:pic>
      <p:sp>
        <p:nvSpPr>
          <p:cNvPr id="270" name="Google Shape;270;p32"/>
          <p:cNvSpPr txBox="1"/>
          <p:nvPr/>
        </p:nvSpPr>
        <p:spPr>
          <a:xfrm>
            <a:off x="5364975" y="1874025"/>
            <a:ext cx="3648000" cy="21240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Heimdall Nodes must produce checkpoints which conform to the struct shown in code.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RootHash hashes all blocks from start to end.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Validator group must vote on the validity of this checkpoint before it is submitted to the Checkpoint contract on Ethereum.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3"/>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Rollups - best of both world</a:t>
            </a:r>
            <a:endParaRPr/>
          </a:p>
        </p:txBody>
      </p:sp>
      <p:sp>
        <p:nvSpPr>
          <p:cNvPr id="276" name="Google Shape;276;p33"/>
          <p:cNvSpPr txBox="1"/>
          <p:nvPr/>
        </p:nvSpPr>
        <p:spPr>
          <a:xfrm>
            <a:off x="2302725" y="1039750"/>
            <a:ext cx="4566600" cy="61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State Channels are only useful for limited use cases.</a:t>
            </a:r>
            <a:endParaRPr/>
          </a:p>
          <a:p>
            <a:pPr indent="0" lvl="0" marL="0" rtl="0" algn="ctr">
              <a:spcBef>
                <a:spcPts val="0"/>
              </a:spcBef>
              <a:spcAft>
                <a:spcPts val="0"/>
              </a:spcAft>
              <a:buNone/>
            </a:pPr>
            <a:r>
              <a:rPr lang="en"/>
              <a:t>Side Chains sacrifice security for speed</a:t>
            </a:r>
            <a:endParaRPr/>
          </a:p>
        </p:txBody>
      </p:sp>
      <p:sp>
        <p:nvSpPr>
          <p:cNvPr id="277" name="Google Shape;277;p33"/>
          <p:cNvSpPr/>
          <p:nvPr/>
        </p:nvSpPr>
        <p:spPr>
          <a:xfrm>
            <a:off x="1274400" y="1829775"/>
            <a:ext cx="1233900" cy="3084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33"/>
          <p:cNvSpPr/>
          <p:nvPr/>
        </p:nvSpPr>
        <p:spPr>
          <a:xfrm>
            <a:off x="1498725" y="2141800"/>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Rollup Receipt Contract</a:t>
            </a:r>
            <a:endParaRPr sz="1200"/>
          </a:p>
        </p:txBody>
      </p:sp>
      <p:pic>
        <p:nvPicPr>
          <p:cNvPr id="279" name="Google Shape;279;p33"/>
          <p:cNvPicPr preferRelativeResize="0"/>
          <p:nvPr/>
        </p:nvPicPr>
        <p:blipFill>
          <a:blip r:embed="rId3">
            <a:alphaModFix/>
          </a:blip>
          <a:stretch>
            <a:fillRect/>
          </a:stretch>
        </p:blipFill>
        <p:spPr>
          <a:xfrm>
            <a:off x="4113525" y="2616475"/>
            <a:ext cx="785100" cy="785100"/>
          </a:xfrm>
          <a:prstGeom prst="rect">
            <a:avLst/>
          </a:prstGeom>
          <a:noFill/>
          <a:ln>
            <a:noFill/>
          </a:ln>
        </p:spPr>
      </p:pic>
      <p:sp>
        <p:nvSpPr>
          <p:cNvPr id="280" name="Google Shape;280;p33"/>
          <p:cNvSpPr/>
          <p:nvPr/>
        </p:nvSpPr>
        <p:spPr>
          <a:xfrm>
            <a:off x="1498725" y="3852775"/>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Smart Contract</a:t>
            </a:r>
            <a:endParaRPr sz="1200"/>
          </a:p>
        </p:txBody>
      </p:sp>
      <p:sp>
        <p:nvSpPr>
          <p:cNvPr id="281" name="Google Shape;281;p33"/>
          <p:cNvSpPr txBox="1"/>
          <p:nvPr/>
        </p:nvSpPr>
        <p:spPr>
          <a:xfrm>
            <a:off x="3972225" y="2107675"/>
            <a:ext cx="1067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t>Operator</a:t>
            </a:r>
            <a:endParaRPr sz="1300"/>
          </a:p>
          <a:p>
            <a:pPr indent="0" lvl="0" marL="0" rtl="0" algn="ctr">
              <a:spcBef>
                <a:spcPts val="0"/>
              </a:spcBef>
              <a:spcAft>
                <a:spcPts val="0"/>
              </a:spcAft>
              <a:buNone/>
            </a:pPr>
            <a:r>
              <a:rPr lang="en" sz="1300"/>
              <a:t>Sequencer</a:t>
            </a:r>
            <a:endParaRPr sz="1300"/>
          </a:p>
        </p:txBody>
      </p:sp>
      <p:sp>
        <p:nvSpPr>
          <p:cNvPr id="282" name="Google Shape;282;p33"/>
          <p:cNvSpPr/>
          <p:nvPr/>
        </p:nvSpPr>
        <p:spPr>
          <a:xfrm>
            <a:off x="1540725" y="2997288"/>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Rollup Protocol Contract</a:t>
            </a:r>
            <a:endParaRPr sz="1200"/>
          </a:p>
        </p:txBody>
      </p:sp>
      <p:sp>
        <p:nvSpPr>
          <p:cNvPr id="283" name="Google Shape;283;p33"/>
          <p:cNvSpPr/>
          <p:nvPr/>
        </p:nvSpPr>
        <p:spPr>
          <a:xfrm>
            <a:off x="6456000" y="1829775"/>
            <a:ext cx="1233900" cy="3084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33"/>
          <p:cNvSpPr/>
          <p:nvPr/>
        </p:nvSpPr>
        <p:spPr>
          <a:xfrm>
            <a:off x="6680325" y="3852775"/>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Smart Contract</a:t>
            </a:r>
            <a:endParaRPr sz="1200"/>
          </a:p>
        </p:txBody>
      </p:sp>
      <p:cxnSp>
        <p:nvCxnSpPr>
          <p:cNvPr id="285" name="Google Shape;285;p33"/>
          <p:cNvCxnSpPr>
            <a:stCxn id="280" idx="3"/>
            <a:endCxn id="284" idx="1"/>
          </p:cNvCxnSpPr>
          <p:nvPr/>
        </p:nvCxnSpPr>
        <p:spPr>
          <a:xfrm>
            <a:off x="2283825" y="4160575"/>
            <a:ext cx="4396500" cy="0"/>
          </a:xfrm>
          <a:prstGeom prst="straightConnector1">
            <a:avLst/>
          </a:prstGeom>
          <a:noFill/>
          <a:ln cap="flat" cmpd="sng" w="9525">
            <a:solidFill>
              <a:schemeClr val="dk2"/>
            </a:solidFill>
            <a:prstDash val="solid"/>
            <a:round/>
            <a:headEnd len="med" w="med" type="none"/>
            <a:tailEnd len="med" w="med" type="triangle"/>
          </a:ln>
        </p:spPr>
      </p:cxnSp>
      <p:sp>
        <p:nvSpPr>
          <p:cNvPr id="286" name="Google Shape;286;p33"/>
          <p:cNvSpPr/>
          <p:nvPr/>
        </p:nvSpPr>
        <p:spPr>
          <a:xfrm>
            <a:off x="6680325" y="3291546"/>
            <a:ext cx="785100" cy="4137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TX 1</a:t>
            </a:r>
            <a:endParaRPr sz="1200"/>
          </a:p>
        </p:txBody>
      </p:sp>
      <p:sp>
        <p:nvSpPr>
          <p:cNvPr id="287" name="Google Shape;287;p33"/>
          <p:cNvSpPr/>
          <p:nvPr/>
        </p:nvSpPr>
        <p:spPr>
          <a:xfrm>
            <a:off x="6680325" y="2681946"/>
            <a:ext cx="785100" cy="4137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TX 2</a:t>
            </a:r>
            <a:endParaRPr sz="1200"/>
          </a:p>
        </p:txBody>
      </p:sp>
      <p:sp>
        <p:nvSpPr>
          <p:cNvPr id="288" name="Google Shape;288;p33"/>
          <p:cNvSpPr/>
          <p:nvPr/>
        </p:nvSpPr>
        <p:spPr>
          <a:xfrm>
            <a:off x="6680325" y="2148546"/>
            <a:ext cx="785100" cy="4137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TX3</a:t>
            </a:r>
            <a:endParaRPr sz="1200"/>
          </a:p>
        </p:txBody>
      </p:sp>
      <p:cxnSp>
        <p:nvCxnSpPr>
          <p:cNvPr id="289" name="Google Shape;289;p33"/>
          <p:cNvCxnSpPr>
            <a:endCxn id="286" idx="2"/>
          </p:cNvCxnSpPr>
          <p:nvPr/>
        </p:nvCxnSpPr>
        <p:spPr>
          <a:xfrm rot="10800000">
            <a:off x="7072875" y="3705246"/>
            <a:ext cx="0" cy="147600"/>
          </a:xfrm>
          <a:prstGeom prst="straightConnector1">
            <a:avLst/>
          </a:prstGeom>
          <a:noFill/>
          <a:ln cap="flat" cmpd="sng" w="9525">
            <a:solidFill>
              <a:schemeClr val="dk2"/>
            </a:solidFill>
            <a:prstDash val="solid"/>
            <a:round/>
            <a:headEnd len="med" w="med" type="none"/>
            <a:tailEnd len="med" w="med" type="triangle"/>
          </a:ln>
        </p:spPr>
      </p:cxnSp>
      <p:cxnSp>
        <p:nvCxnSpPr>
          <p:cNvPr id="290" name="Google Shape;290;p33"/>
          <p:cNvCxnSpPr>
            <a:stCxn id="286" idx="0"/>
            <a:endCxn id="287" idx="2"/>
          </p:cNvCxnSpPr>
          <p:nvPr/>
        </p:nvCxnSpPr>
        <p:spPr>
          <a:xfrm rot="10800000">
            <a:off x="7072875" y="3095646"/>
            <a:ext cx="0" cy="195900"/>
          </a:xfrm>
          <a:prstGeom prst="straightConnector1">
            <a:avLst/>
          </a:prstGeom>
          <a:noFill/>
          <a:ln cap="flat" cmpd="sng" w="9525">
            <a:solidFill>
              <a:schemeClr val="dk2"/>
            </a:solidFill>
            <a:prstDash val="solid"/>
            <a:round/>
            <a:headEnd len="med" w="med" type="none"/>
            <a:tailEnd len="med" w="med" type="triangle"/>
          </a:ln>
        </p:spPr>
      </p:cxnSp>
      <p:cxnSp>
        <p:nvCxnSpPr>
          <p:cNvPr id="291" name="Google Shape;291;p33"/>
          <p:cNvCxnSpPr>
            <a:stCxn id="287" idx="0"/>
            <a:endCxn id="288" idx="2"/>
          </p:cNvCxnSpPr>
          <p:nvPr/>
        </p:nvCxnSpPr>
        <p:spPr>
          <a:xfrm rot="10800000">
            <a:off x="7072875" y="2562246"/>
            <a:ext cx="0" cy="119700"/>
          </a:xfrm>
          <a:prstGeom prst="straightConnector1">
            <a:avLst/>
          </a:prstGeom>
          <a:noFill/>
          <a:ln cap="flat" cmpd="sng" w="9525">
            <a:solidFill>
              <a:schemeClr val="dk2"/>
            </a:solidFill>
            <a:prstDash val="solid"/>
            <a:round/>
            <a:headEnd len="med" w="med" type="none"/>
            <a:tailEnd len="med" w="med" type="triangle"/>
          </a:ln>
        </p:spPr>
      </p:cxnSp>
      <p:cxnSp>
        <p:nvCxnSpPr>
          <p:cNvPr id="292" name="Google Shape;292;p33"/>
          <p:cNvCxnSpPr>
            <a:stCxn id="288" idx="1"/>
            <a:endCxn id="279" idx="3"/>
          </p:cNvCxnSpPr>
          <p:nvPr/>
        </p:nvCxnSpPr>
        <p:spPr>
          <a:xfrm flipH="1">
            <a:off x="4898625" y="2355396"/>
            <a:ext cx="1781700" cy="653700"/>
          </a:xfrm>
          <a:prstGeom prst="straightConnector1">
            <a:avLst/>
          </a:prstGeom>
          <a:noFill/>
          <a:ln cap="flat" cmpd="sng" w="9525">
            <a:solidFill>
              <a:schemeClr val="dk2"/>
            </a:solidFill>
            <a:prstDash val="solid"/>
            <a:round/>
            <a:headEnd len="med" w="med" type="none"/>
            <a:tailEnd len="med" w="med" type="triangle"/>
          </a:ln>
        </p:spPr>
      </p:cxnSp>
      <p:cxnSp>
        <p:nvCxnSpPr>
          <p:cNvPr id="293" name="Google Shape;293;p33"/>
          <p:cNvCxnSpPr>
            <a:stCxn id="287" idx="1"/>
            <a:endCxn id="279" idx="3"/>
          </p:cNvCxnSpPr>
          <p:nvPr/>
        </p:nvCxnSpPr>
        <p:spPr>
          <a:xfrm flipH="1">
            <a:off x="4898625" y="2888796"/>
            <a:ext cx="1781700" cy="120300"/>
          </a:xfrm>
          <a:prstGeom prst="straightConnector1">
            <a:avLst/>
          </a:prstGeom>
          <a:noFill/>
          <a:ln cap="flat" cmpd="sng" w="9525">
            <a:solidFill>
              <a:schemeClr val="dk2"/>
            </a:solidFill>
            <a:prstDash val="solid"/>
            <a:round/>
            <a:headEnd len="med" w="med" type="none"/>
            <a:tailEnd len="med" w="med" type="triangle"/>
          </a:ln>
        </p:spPr>
      </p:cxnSp>
      <p:cxnSp>
        <p:nvCxnSpPr>
          <p:cNvPr id="294" name="Google Shape;294;p33"/>
          <p:cNvCxnSpPr>
            <a:stCxn id="286" idx="1"/>
            <a:endCxn id="279" idx="3"/>
          </p:cNvCxnSpPr>
          <p:nvPr/>
        </p:nvCxnSpPr>
        <p:spPr>
          <a:xfrm rot="10800000">
            <a:off x="4898625" y="3009096"/>
            <a:ext cx="1781700" cy="489300"/>
          </a:xfrm>
          <a:prstGeom prst="straightConnector1">
            <a:avLst/>
          </a:prstGeom>
          <a:noFill/>
          <a:ln cap="flat" cmpd="sng" w="9525">
            <a:solidFill>
              <a:schemeClr val="dk2"/>
            </a:solidFill>
            <a:prstDash val="solid"/>
            <a:round/>
            <a:headEnd len="med" w="med" type="none"/>
            <a:tailEnd len="med" w="med" type="triangle"/>
          </a:ln>
        </p:spPr>
      </p:cxnSp>
      <p:cxnSp>
        <p:nvCxnSpPr>
          <p:cNvPr id="295" name="Google Shape;295;p33"/>
          <p:cNvCxnSpPr>
            <a:endCxn id="278" idx="3"/>
          </p:cNvCxnSpPr>
          <p:nvPr/>
        </p:nvCxnSpPr>
        <p:spPr>
          <a:xfrm rot="10800000">
            <a:off x="2283825" y="2449600"/>
            <a:ext cx="1829700" cy="559500"/>
          </a:xfrm>
          <a:prstGeom prst="straightConnector1">
            <a:avLst/>
          </a:prstGeom>
          <a:noFill/>
          <a:ln cap="flat" cmpd="sng" w="9525">
            <a:solidFill>
              <a:schemeClr val="dk2"/>
            </a:solidFill>
            <a:prstDash val="solid"/>
            <a:round/>
            <a:headEnd len="med" w="med" type="none"/>
            <a:tailEnd len="med" w="med" type="triangle"/>
          </a:ln>
        </p:spPr>
      </p:cxnSp>
      <p:cxnSp>
        <p:nvCxnSpPr>
          <p:cNvPr id="296" name="Google Shape;296;p33"/>
          <p:cNvCxnSpPr>
            <a:stCxn id="279" idx="1"/>
            <a:endCxn id="282" idx="3"/>
          </p:cNvCxnSpPr>
          <p:nvPr/>
        </p:nvCxnSpPr>
        <p:spPr>
          <a:xfrm flipH="1">
            <a:off x="2325825" y="3009025"/>
            <a:ext cx="1787700" cy="296100"/>
          </a:xfrm>
          <a:prstGeom prst="straightConnector1">
            <a:avLst/>
          </a:prstGeom>
          <a:noFill/>
          <a:ln cap="flat" cmpd="sng" w="9525">
            <a:solidFill>
              <a:schemeClr val="dk2"/>
            </a:solidFill>
            <a:prstDash val="solid"/>
            <a:round/>
            <a:headEnd len="med" w="med" type="none"/>
            <a:tailEnd len="med" w="med" type="triangle"/>
          </a:ln>
        </p:spPr>
      </p:cxnSp>
      <p:sp>
        <p:nvSpPr>
          <p:cNvPr id="297" name="Google Shape;297;p33"/>
          <p:cNvSpPr txBox="1"/>
          <p:nvPr/>
        </p:nvSpPr>
        <p:spPr>
          <a:xfrm>
            <a:off x="2772400" y="3159100"/>
            <a:ext cx="12339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Store new state of L2 chain</a:t>
            </a:r>
            <a:endParaRPr sz="1200"/>
          </a:p>
        </p:txBody>
      </p:sp>
      <p:sp>
        <p:nvSpPr>
          <p:cNvPr id="298" name="Google Shape;298;p33"/>
          <p:cNvSpPr txBox="1"/>
          <p:nvPr/>
        </p:nvSpPr>
        <p:spPr>
          <a:xfrm>
            <a:off x="2693975" y="2210775"/>
            <a:ext cx="1233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Only post TX data as calldata</a:t>
            </a:r>
            <a:endParaRPr sz="1100"/>
          </a:p>
        </p:txBody>
      </p:sp>
      <p:sp>
        <p:nvSpPr>
          <p:cNvPr id="299" name="Google Shape;299;p33"/>
          <p:cNvSpPr txBox="1"/>
          <p:nvPr/>
        </p:nvSpPr>
        <p:spPr>
          <a:xfrm>
            <a:off x="3373100" y="3807500"/>
            <a:ext cx="3078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Trusted Bridge</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Trustless Bridge built into smart contract</a:t>
            </a:r>
            <a:endParaRPr sz="1200"/>
          </a:p>
        </p:txBody>
      </p:sp>
      <p:pic>
        <p:nvPicPr>
          <p:cNvPr id="300" name="Google Shape;300;p33"/>
          <p:cNvPicPr preferRelativeResize="0"/>
          <p:nvPr/>
        </p:nvPicPr>
        <p:blipFill>
          <a:blip r:embed="rId4">
            <a:alphaModFix/>
          </a:blip>
          <a:stretch>
            <a:fillRect/>
          </a:stretch>
        </p:blipFill>
        <p:spPr>
          <a:xfrm>
            <a:off x="492450" y="2727361"/>
            <a:ext cx="629550" cy="1002887"/>
          </a:xfrm>
          <a:prstGeom prst="rect">
            <a:avLst/>
          </a:prstGeom>
          <a:noFill/>
          <a:ln>
            <a:noFill/>
          </a:ln>
        </p:spPr>
      </p:pic>
      <p:pic>
        <p:nvPicPr>
          <p:cNvPr id="301" name="Google Shape;301;p33"/>
          <p:cNvPicPr preferRelativeResize="0"/>
          <p:nvPr/>
        </p:nvPicPr>
        <p:blipFill>
          <a:blip r:embed="rId5">
            <a:alphaModFix/>
          </a:blip>
          <a:stretch>
            <a:fillRect/>
          </a:stretch>
        </p:blipFill>
        <p:spPr>
          <a:xfrm rot="5399992">
            <a:off x="6882552" y="3104902"/>
            <a:ext cx="2404448" cy="4624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4"/>
          <p:cNvSpPr txBox="1"/>
          <p:nvPr>
            <p:ph type="title"/>
          </p:nvPr>
        </p:nvSpPr>
        <p:spPr>
          <a:xfrm>
            <a:off x="311700" y="2926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Rollups - Optimistic vs Zero Knowledge</a:t>
            </a:r>
            <a:endParaRPr/>
          </a:p>
        </p:txBody>
      </p:sp>
      <p:sp>
        <p:nvSpPr>
          <p:cNvPr id="307" name="Google Shape;307;p34"/>
          <p:cNvSpPr/>
          <p:nvPr/>
        </p:nvSpPr>
        <p:spPr>
          <a:xfrm>
            <a:off x="4932000" y="1829775"/>
            <a:ext cx="1233900" cy="3084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34"/>
          <p:cNvSpPr/>
          <p:nvPr/>
        </p:nvSpPr>
        <p:spPr>
          <a:xfrm>
            <a:off x="5156325" y="2141800"/>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Verifier</a:t>
            </a:r>
            <a:endParaRPr sz="1200"/>
          </a:p>
        </p:txBody>
      </p:sp>
      <p:pic>
        <p:nvPicPr>
          <p:cNvPr id="309" name="Google Shape;309;p34"/>
          <p:cNvPicPr preferRelativeResize="0"/>
          <p:nvPr/>
        </p:nvPicPr>
        <p:blipFill>
          <a:blip r:embed="rId3">
            <a:alphaModFix/>
          </a:blip>
          <a:stretch>
            <a:fillRect/>
          </a:stretch>
        </p:blipFill>
        <p:spPr>
          <a:xfrm>
            <a:off x="7771125" y="2616475"/>
            <a:ext cx="785100" cy="785100"/>
          </a:xfrm>
          <a:prstGeom prst="rect">
            <a:avLst/>
          </a:prstGeom>
          <a:noFill/>
          <a:ln>
            <a:noFill/>
          </a:ln>
        </p:spPr>
      </p:pic>
      <p:sp>
        <p:nvSpPr>
          <p:cNvPr id="310" name="Google Shape;310;p34"/>
          <p:cNvSpPr txBox="1"/>
          <p:nvPr/>
        </p:nvSpPr>
        <p:spPr>
          <a:xfrm>
            <a:off x="7629825" y="2107675"/>
            <a:ext cx="1067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t>Operator</a:t>
            </a:r>
            <a:endParaRPr sz="1300"/>
          </a:p>
          <a:p>
            <a:pPr indent="0" lvl="0" marL="0" rtl="0" algn="ctr">
              <a:spcBef>
                <a:spcPts val="0"/>
              </a:spcBef>
              <a:spcAft>
                <a:spcPts val="0"/>
              </a:spcAft>
              <a:buNone/>
            </a:pPr>
            <a:r>
              <a:rPr lang="en" sz="1300"/>
              <a:t>Sequencer</a:t>
            </a:r>
            <a:endParaRPr sz="1300"/>
          </a:p>
        </p:txBody>
      </p:sp>
      <p:sp>
        <p:nvSpPr>
          <p:cNvPr id="311" name="Google Shape;311;p34"/>
          <p:cNvSpPr/>
          <p:nvPr/>
        </p:nvSpPr>
        <p:spPr>
          <a:xfrm>
            <a:off x="5198325" y="2997288"/>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Rollup Protocol Contract</a:t>
            </a:r>
            <a:endParaRPr sz="1200"/>
          </a:p>
        </p:txBody>
      </p:sp>
      <p:cxnSp>
        <p:nvCxnSpPr>
          <p:cNvPr id="312" name="Google Shape;312;p34"/>
          <p:cNvCxnSpPr>
            <a:endCxn id="308" idx="3"/>
          </p:cNvCxnSpPr>
          <p:nvPr/>
        </p:nvCxnSpPr>
        <p:spPr>
          <a:xfrm rot="10800000">
            <a:off x="5941425" y="2449600"/>
            <a:ext cx="1829700" cy="559500"/>
          </a:xfrm>
          <a:prstGeom prst="straightConnector1">
            <a:avLst/>
          </a:prstGeom>
          <a:noFill/>
          <a:ln cap="flat" cmpd="sng" w="9525">
            <a:solidFill>
              <a:schemeClr val="dk2"/>
            </a:solidFill>
            <a:prstDash val="solid"/>
            <a:round/>
            <a:headEnd len="med" w="med" type="none"/>
            <a:tailEnd len="med" w="med" type="triangle"/>
          </a:ln>
        </p:spPr>
      </p:cxnSp>
      <p:cxnSp>
        <p:nvCxnSpPr>
          <p:cNvPr id="313" name="Google Shape;313;p34"/>
          <p:cNvCxnSpPr>
            <a:stCxn id="309" idx="1"/>
            <a:endCxn id="311" idx="3"/>
          </p:cNvCxnSpPr>
          <p:nvPr/>
        </p:nvCxnSpPr>
        <p:spPr>
          <a:xfrm flipH="1">
            <a:off x="5983425" y="3009025"/>
            <a:ext cx="1787700" cy="296100"/>
          </a:xfrm>
          <a:prstGeom prst="straightConnector1">
            <a:avLst/>
          </a:prstGeom>
          <a:noFill/>
          <a:ln cap="flat" cmpd="sng" w="9525">
            <a:solidFill>
              <a:schemeClr val="dk2"/>
            </a:solidFill>
            <a:prstDash val="solid"/>
            <a:round/>
            <a:headEnd len="med" w="med" type="none"/>
            <a:tailEnd len="med" w="med" type="triangle"/>
          </a:ln>
        </p:spPr>
      </p:cxnSp>
      <p:sp>
        <p:nvSpPr>
          <p:cNvPr id="314" name="Google Shape;314;p34"/>
          <p:cNvSpPr txBox="1"/>
          <p:nvPr/>
        </p:nvSpPr>
        <p:spPr>
          <a:xfrm>
            <a:off x="6430000" y="3159100"/>
            <a:ext cx="1233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Batch root</a:t>
            </a:r>
            <a:endParaRPr sz="1200"/>
          </a:p>
        </p:txBody>
      </p:sp>
      <p:sp>
        <p:nvSpPr>
          <p:cNvPr id="315" name="Google Shape;315;p34"/>
          <p:cNvSpPr txBox="1"/>
          <p:nvPr/>
        </p:nvSpPr>
        <p:spPr>
          <a:xfrm>
            <a:off x="6427774" y="1982175"/>
            <a:ext cx="10677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TXs</a:t>
            </a:r>
            <a:endParaRPr sz="1100"/>
          </a:p>
          <a:p>
            <a:pPr indent="0" lvl="0" marL="0" rtl="0" algn="l">
              <a:spcBef>
                <a:spcPts val="0"/>
              </a:spcBef>
              <a:spcAft>
                <a:spcPts val="0"/>
              </a:spcAft>
              <a:buNone/>
            </a:pPr>
            <a:r>
              <a:rPr lang="en" sz="1100"/>
              <a:t>ZK SNARK</a:t>
            </a:r>
            <a:endParaRPr sz="1100"/>
          </a:p>
          <a:p>
            <a:pPr indent="0" lvl="0" marL="0" rtl="0" algn="l">
              <a:spcBef>
                <a:spcPts val="0"/>
              </a:spcBef>
              <a:spcAft>
                <a:spcPts val="0"/>
              </a:spcAft>
              <a:buNone/>
            </a:pPr>
            <a:r>
              <a:rPr lang="en" sz="1100"/>
              <a:t>ZK STARK</a:t>
            </a:r>
            <a:endParaRPr sz="1100"/>
          </a:p>
        </p:txBody>
      </p:sp>
      <p:sp>
        <p:nvSpPr>
          <p:cNvPr id="316" name="Google Shape;316;p34"/>
          <p:cNvSpPr txBox="1"/>
          <p:nvPr/>
        </p:nvSpPr>
        <p:spPr>
          <a:xfrm>
            <a:off x="850650" y="1112375"/>
            <a:ext cx="2115000" cy="4002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Optimistic - Fraud Proof</a:t>
            </a:r>
            <a:endParaRPr/>
          </a:p>
        </p:txBody>
      </p:sp>
      <p:sp>
        <p:nvSpPr>
          <p:cNvPr id="317" name="Google Shape;317;p34"/>
          <p:cNvSpPr txBox="1"/>
          <p:nvPr/>
        </p:nvSpPr>
        <p:spPr>
          <a:xfrm>
            <a:off x="5727450" y="1112375"/>
            <a:ext cx="2115000" cy="4002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ZK- Validity Proof</a:t>
            </a:r>
            <a:endParaRPr/>
          </a:p>
        </p:txBody>
      </p:sp>
      <p:sp>
        <p:nvSpPr>
          <p:cNvPr id="318" name="Google Shape;318;p34"/>
          <p:cNvSpPr/>
          <p:nvPr/>
        </p:nvSpPr>
        <p:spPr>
          <a:xfrm>
            <a:off x="360000" y="1829775"/>
            <a:ext cx="1233900" cy="3084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4"/>
          <p:cNvSpPr/>
          <p:nvPr/>
        </p:nvSpPr>
        <p:spPr>
          <a:xfrm>
            <a:off x="584325" y="2141800"/>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Rollup Receipt Contract</a:t>
            </a:r>
            <a:endParaRPr sz="1200"/>
          </a:p>
        </p:txBody>
      </p:sp>
      <p:pic>
        <p:nvPicPr>
          <p:cNvPr id="320" name="Google Shape;320;p34"/>
          <p:cNvPicPr preferRelativeResize="0"/>
          <p:nvPr/>
        </p:nvPicPr>
        <p:blipFill>
          <a:blip r:embed="rId3">
            <a:alphaModFix/>
          </a:blip>
          <a:stretch>
            <a:fillRect/>
          </a:stretch>
        </p:blipFill>
        <p:spPr>
          <a:xfrm>
            <a:off x="3199125" y="2616475"/>
            <a:ext cx="785100" cy="785100"/>
          </a:xfrm>
          <a:prstGeom prst="rect">
            <a:avLst/>
          </a:prstGeom>
          <a:noFill/>
          <a:ln>
            <a:noFill/>
          </a:ln>
        </p:spPr>
      </p:pic>
      <p:sp>
        <p:nvSpPr>
          <p:cNvPr id="321" name="Google Shape;321;p34"/>
          <p:cNvSpPr txBox="1"/>
          <p:nvPr/>
        </p:nvSpPr>
        <p:spPr>
          <a:xfrm>
            <a:off x="3057825" y="2107675"/>
            <a:ext cx="1067700" cy="58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t>Operator</a:t>
            </a:r>
            <a:endParaRPr sz="1300"/>
          </a:p>
          <a:p>
            <a:pPr indent="0" lvl="0" marL="0" rtl="0" algn="ctr">
              <a:spcBef>
                <a:spcPts val="0"/>
              </a:spcBef>
              <a:spcAft>
                <a:spcPts val="0"/>
              </a:spcAft>
              <a:buNone/>
            </a:pPr>
            <a:r>
              <a:rPr lang="en" sz="1300"/>
              <a:t>Sequencer</a:t>
            </a:r>
            <a:endParaRPr sz="1300"/>
          </a:p>
        </p:txBody>
      </p:sp>
      <p:sp>
        <p:nvSpPr>
          <p:cNvPr id="322" name="Google Shape;322;p34"/>
          <p:cNvSpPr/>
          <p:nvPr/>
        </p:nvSpPr>
        <p:spPr>
          <a:xfrm>
            <a:off x="626325" y="2997288"/>
            <a:ext cx="7851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t>Rollup Protocol Contract</a:t>
            </a:r>
            <a:endParaRPr sz="1200"/>
          </a:p>
        </p:txBody>
      </p:sp>
      <p:cxnSp>
        <p:nvCxnSpPr>
          <p:cNvPr id="323" name="Google Shape;323;p34"/>
          <p:cNvCxnSpPr>
            <a:endCxn id="319" idx="3"/>
          </p:cNvCxnSpPr>
          <p:nvPr/>
        </p:nvCxnSpPr>
        <p:spPr>
          <a:xfrm rot="10800000">
            <a:off x="1369425" y="2449600"/>
            <a:ext cx="1829700" cy="559500"/>
          </a:xfrm>
          <a:prstGeom prst="straightConnector1">
            <a:avLst/>
          </a:prstGeom>
          <a:noFill/>
          <a:ln cap="flat" cmpd="sng" w="9525">
            <a:solidFill>
              <a:schemeClr val="dk2"/>
            </a:solidFill>
            <a:prstDash val="solid"/>
            <a:round/>
            <a:headEnd len="med" w="med" type="none"/>
            <a:tailEnd len="med" w="med" type="triangle"/>
          </a:ln>
        </p:spPr>
      </p:cxnSp>
      <p:cxnSp>
        <p:nvCxnSpPr>
          <p:cNvPr id="324" name="Google Shape;324;p34"/>
          <p:cNvCxnSpPr>
            <a:stCxn id="320" idx="1"/>
            <a:endCxn id="322" idx="3"/>
          </p:cNvCxnSpPr>
          <p:nvPr/>
        </p:nvCxnSpPr>
        <p:spPr>
          <a:xfrm flipH="1">
            <a:off x="1411425" y="3009025"/>
            <a:ext cx="1787700" cy="296100"/>
          </a:xfrm>
          <a:prstGeom prst="straightConnector1">
            <a:avLst/>
          </a:prstGeom>
          <a:noFill/>
          <a:ln cap="flat" cmpd="sng" w="9525">
            <a:solidFill>
              <a:schemeClr val="dk2"/>
            </a:solidFill>
            <a:prstDash val="solid"/>
            <a:round/>
            <a:headEnd len="med" w="med" type="none"/>
            <a:tailEnd len="med" w="med" type="triangle"/>
          </a:ln>
        </p:spPr>
      </p:cxnSp>
      <p:sp>
        <p:nvSpPr>
          <p:cNvPr id="325" name="Google Shape;325;p34"/>
          <p:cNvSpPr/>
          <p:nvPr/>
        </p:nvSpPr>
        <p:spPr>
          <a:xfrm>
            <a:off x="550125" y="3987900"/>
            <a:ext cx="885300" cy="615600"/>
          </a:xfrm>
          <a:prstGeom prst="rect">
            <a:avLst/>
          </a:prstGeom>
          <a:solidFill>
            <a:srgbClr val="FFF2CC"/>
          </a:solidFill>
          <a:ln cap="flat" cmpd="sng" w="9525">
            <a:solidFill>
              <a:srgbClr val="FFF2C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100"/>
              <a:t>Challenge Assertion</a:t>
            </a:r>
            <a:endParaRPr sz="1100"/>
          </a:p>
        </p:txBody>
      </p:sp>
      <p:sp>
        <p:nvSpPr>
          <p:cNvPr id="326" name="Google Shape;326;p34"/>
          <p:cNvSpPr txBox="1"/>
          <p:nvPr/>
        </p:nvSpPr>
        <p:spPr>
          <a:xfrm>
            <a:off x="1679600" y="3655825"/>
            <a:ext cx="30999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Rollups are posted as assertion blocks. There is a challenge window per assertion. If challenged, all transactions in rollup gets executed on the Ethereum chain. This can get expensive! If fraudulent, the operator gets slashed.</a:t>
            </a:r>
            <a:endParaRPr sz="1200"/>
          </a:p>
        </p:txBody>
      </p:sp>
      <p:sp>
        <p:nvSpPr>
          <p:cNvPr id="327" name="Google Shape;327;p34"/>
          <p:cNvSpPr txBox="1"/>
          <p:nvPr/>
        </p:nvSpPr>
        <p:spPr>
          <a:xfrm>
            <a:off x="6382650" y="4064600"/>
            <a:ext cx="2782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In this setup, no challenges are necessary!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31" name="Shape 331"/>
        <p:cNvGrpSpPr/>
        <p:nvPr/>
      </p:nvGrpSpPr>
      <p:grpSpPr>
        <a:xfrm>
          <a:off x="0" y="0"/>
          <a:ext cx="0" cy="0"/>
          <a:chOff x="0" y="0"/>
          <a:chExt cx="0" cy="0"/>
        </a:xfrm>
      </p:grpSpPr>
      <p:sp>
        <p:nvSpPr>
          <p:cNvPr id="332" name="Google Shape;332;p35"/>
          <p:cNvSpPr txBox="1"/>
          <p:nvPr>
            <p:ph type="title"/>
          </p:nvPr>
        </p:nvSpPr>
        <p:spPr>
          <a:xfrm>
            <a:off x="311700" y="2350375"/>
            <a:ext cx="8520600" cy="837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Zero Knowledge Proofs</a:t>
            </a:r>
            <a:endParaRPr sz="2500">
              <a:solidFill>
                <a:schemeClr val="l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6"/>
          <p:cNvSpPr/>
          <p:nvPr/>
        </p:nvSpPr>
        <p:spPr>
          <a:xfrm>
            <a:off x="5869900" y="2638525"/>
            <a:ext cx="1602300" cy="22434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36"/>
          <p:cNvSpPr txBox="1"/>
          <p:nvPr>
            <p:ph type="title"/>
          </p:nvPr>
        </p:nvSpPr>
        <p:spPr>
          <a:xfrm>
            <a:off x="311700" y="4450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ZK Proof - Mathematical Example</a:t>
            </a:r>
            <a:endParaRPr/>
          </a:p>
        </p:txBody>
      </p:sp>
      <p:sp>
        <p:nvSpPr>
          <p:cNvPr id="339" name="Google Shape;339;p36"/>
          <p:cNvSpPr txBox="1"/>
          <p:nvPr/>
        </p:nvSpPr>
        <p:spPr>
          <a:xfrm>
            <a:off x="1888975" y="1356650"/>
            <a:ext cx="801300" cy="4002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rPr>
              <a:t>Verifier</a:t>
            </a:r>
            <a:endParaRPr b="1"/>
          </a:p>
        </p:txBody>
      </p:sp>
      <p:sp>
        <p:nvSpPr>
          <p:cNvPr id="340" name="Google Shape;340;p36"/>
          <p:cNvSpPr txBox="1"/>
          <p:nvPr/>
        </p:nvSpPr>
        <p:spPr>
          <a:xfrm>
            <a:off x="6142625" y="1356650"/>
            <a:ext cx="801300" cy="400200"/>
          </a:xfrm>
          <a:prstGeom prst="rect">
            <a:avLst/>
          </a:prstGeom>
          <a:noFill/>
          <a:ln cap="flat" cmpd="sng" w="28575">
            <a:solidFill>
              <a:schemeClr val="accent5"/>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rPr>
              <a:t>Prover</a:t>
            </a:r>
            <a:endParaRPr b="1"/>
          </a:p>
        </p:txBody>
      </p:sp>
      <p:sp>
        <p:nvSpPr>
          <p:cNvPr id="341" name="Google Shape;341;p36"/>
          <p:cNvSpPr txBox="1"/>
          <p:nvPr/>
        </p:nvSpPr>
        <p:spPr>
          <a:xfrm>
            <a:off x="3995525" y="1360550"/>
            <a:ext cx="881400" cy="400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t>Prove x</a:t>
            </a:r>
            <a:endParaRPr/>
          </a:p>
        </p:txBody>
      </p:sp>
      <p:cxnSp>
        <p:nvCxnSpPr>
          <p:cNvPr id="342" name="Google Shape;342;p36"/>
          <p:cNvCxnSpPr/>
          <p:nvPr/>
        </p:nvCxnSpPr>
        <p:spPr>
          <a:xfrm>
            <a:off x="4443825" y="2029625"/>
            <a:ext cx="15900" cy="2772000"/>
          </a:xfrm>
          <a:prstGeom prst="straightConnector1">
            <a:avLst/>
          </a:prstGeom>
          <a:noFill/>
          <a:ln cap="flat" cmpd="sng" w="19050">
            <a:solidFill>
              <a:schemeClr val="dk2"/>
            </a:solidFill>
            <a:prstDash val="solid"/>
            <a:round/>
            <a:headEnd len="med" w="med" type="none"/>
            <a:tailEnd len="med" w="med" type="none"/>
          </a:ln>
        </p:spPr>
      </p:cxnSp>
      <p:pic>
        <p:nvPicPr>
          <p:cNvPr id="343" name="Google Shape;343;p36"/>
          <p:cNvPicPr preferRelativeResize="0"/>
          <p:nvPr/>
        </p:nvPicPr>
        <p:blipFill>
          <a:blip r:embed="rId3">
            <a:alphaModFix/>
          </a:blip>
          <a:stretch>
            <a:fillRect/>
          </a:stretch>
        </p:blipFill>
        <p:spPr>
          <a:xfrm>
            <a:off x="1868925" y="2065550"/>
            <a:ext cx="800100" cy="333375"/>
          </a:xfrm>
          <a:prstGeom prst="rect">
            <a:avLst/>
          </a:prstGeom>
          <a:noFill/>
          <a:ln>
            <a:noFill/>
          </a:ln>
        </p:spPr>
      </p:pic>
      <p:pic>
        <p:nvPicPr>
          <p:cNvPr id="344" name="Google Shape;344;p36"/>
          <p:cNvPicPr preferRelativeResize="0"/>
          <p:nvPr/>
        </p:nvPicPr>
        <p:blipFill>
          <a:blip r:embed="rId4">
            <a:alphaModFix/>
          </a:blip>
          <a:stretch>
            <a:fillRect/>
          </a:stretch>
        </p:blipFill>
        <p:spPr>
          <a:xfrm>
            <a:off x="6212325" y="1989350"/>
            <a:ext cx="809625" cy="371475"/>
          </a:xfrm>
          <a:prstGeom prst="rect">
            <a:avLst/>
          </a:prstGeom>
          <a:noFill/>
          <a:ln>
            <a:noFill/>
          </a:ln>
        </p:spPr>
      </p:pic>
      <p:cxnSp>
        <p:nvCxnSpPr>
          <p:cNvPr id="345" name="Google Shape;345;p36"/>
          <p:cNvCxnSpPr/>
          <p:nvPr/>
        </p:nvCxnSpPr>
        <p:spPr>
          <a:xfrm flipH="1" rot="10800000">
            <a:off x="3143250" y="2255250"/>
            <a:ext cx="2571900" cy="19500"/>
          </a:xfrm>
          <a:prstGeom prst="straightConnector1">
            <a:avLst/>
          </a:prstGeom>
          <a:noFill/>
          <a:ln cap="flat" cmpd="sng" w="9525">
            <a:solidFill>
              <a:schemeClr val="dk2"/>
            </a:solidFill>
            <a:prstDash val="solid"/>
            <a:round/>
            <a:headEnd len="med" w="med" type="none"/>
            <a:tailEnd len="med" w="med" type="triangle"/>
          </a:ln>
        </p:spPr>
      </p:cxnSp>
      <p:pic>
        <p:nvPicPr>
          <p:cNvPr id="346" name="Google Shape;346;p36"/>
          <p:cNvPicPr preferRelativeResize="0"/>
          <p:nvPr/>
        </p:nvPicPr>
        <p:blipFill>
          <a:blip r:embed="rId5">
            <a:alphaModFix/>
          </a:blip>
          <a:stretch>
            <a:fillRect/>
          </a:stretch>
        </p:blipFill>
        <p:spPr>
          <a:xfrm>
            <a:off x="4307325" y="1903625"/>
            <a:ext cx="238125" cy="333375"/>
          </a:xfrm>
          <a:prstGeom prst="rect">
            <a:avLst/>
          </a:prstGeom>
          <a:noFill/>
          <a:ln>
            <a:noFill/>
          </a:ln>
        </p:spPr>
      </p:pic>
      <p:pic>
        <p:nvPicPr>
          <p:cNvPr id="347" name="Google Shape;347;p36"/>
          <p:cNvPicPr preferRelativeResize="0"/>
          <p:nvPr/>
        </p:nvPicPr>
        <p:blipFill>
          <a:blip r:embed="rId6">
            <a:alphaModFix/>
          </a:blip>
          <a:stretch>
            <a:fillRect/>
          </a:stretch>
        </p:blipFill>
        <p:spPr>
          <a:xfrm>
            <a:off x="5907525" y="2665625"/>
            <a:ext cx="1323975" cy="304800"/>
          </a:xfrm>
          <a:prstGeom prst="rect">
            <a:avLst/>
          </a:prstGeom>
          <a:noFill/>
          <a:ln>
            <a:noFill/>
          </a:ln>
        </p:spPr>
      </p:pic>
      <p:pic>
        <p:nvPicPr>
          <p:cNvPr id="348" name="Google Shape;348;p36"/>
          <p:cNvPicPr preferRelativeResize="0"/>
          <p:nvPr/>
        </p:nvPicPr>
        <p:blipFill>
          <a:blip r:embed="rId7">
            <a:alphaModFix/>
          </a:blip>
          <a:stretch>
            <a:fillRect/>
          </a:stretch>
        </p:blipFill>
        <p:spPr>
          <a:xfrm>
            <a:off x="5943600" y="3008525"/>
            <a:ext cx="1133475" cy="438150"/>
          </a:xfrm>
          <a:prstGeom prst="rect">
            <a:avLst/>
          </a:prstGeom>
          <a:noFill/>
          <a:ln>
            <a:noFill/>
          </a:ln>
        </p:spPr>
      </p:pic>
      <p:pic>
        <p:nvPicPr>
          <p:cNvPr id="349" name="Google Shape;349;p36"/>
          <p:cNvPicPr preferRelativeResize="0"/>
          <p:nvPr/>
        </p:nvPicPr>
        <p:blipFill>
          <a:blip r:embed="rId8">
            <a:alphaModFix/>
          </a:blip>
          <a:stretch>
            <a:fillRect/>
          </a:stretch>
        </p:blipFill>
        <p:spPr>
          <a:xfrm>
            <a:off x="5945613" y="3484775"/>
            <a:ext cx="1343025" cy="438150"/>
          </a:xfrm>
          <a:prstGeom prst="rect">
            <a:avLst/>
          </a:prstGeom>
          <a:noFill/>
          <a:ln>
            <a:noFill/>
          </a:ln>
        </p:spPr>
      </p:pic>
      <p:cxnSp>
        <p:nvCxnSpPr>
          <p:cNvPr id="350" name="Google Shape;350;p36"/>
          <p:cNvCxnSpPr/>
          <p:nvPr/>
        </p:nvCxnSpPr>
        <p:spPr>
          <a:xfrm flipH="1">
            <a:off x="3088125" y="2857500"/>
            <a:ext cx="2704800" cy="409200"/>
          </a:xfrm>
          <a:prstGeom prst="straightConnector1">
            <a:avLst/>
          </a:prstGeom>
          <a:noFill/>
          <a:ln cap="flat" cmpd="sng" w="9525">
            <a:solidFill>
              <a:schemeClr val="dk2"/>
            </a:solidFill>
            <a:prstDash val="solid"/>
            <a:round/>
            <a:headEnd len="med" w="med" type="none"/>
            <a:tailEnd len="med" w="med" type="triangle"/>
          </a:ln>
        </p:spPr>
      </p:cxnSp>
      <p:pic>
        <p:nvPicPr>
          <p:cNvPr id="351" name="Google Shape;351;p36"/>
          <p:cNvPicPr preferRelativeResize="0"/>
          <p:nvPr/>
        </p:nvPicPr>
        <p:blipFill>
          <a:blip r:embed="rId9">
            <a:alphaModFix/>
          </a:blip>
          <a:stretch>
            <a:fillRect/>
          </a:stretch>
        </p:blipFill>
        <p:spPr>
          <a:xfrm>
            <a:off x="3962400" y="2779925"/>
            <a:ext cx="933450" cy="390525"/>
          </a:xfrm>
          <a:prstGeom prst="rect">
            <a:avLst/>
          </a:prstGeom>
          <a:noFill/>
          <a:ln>
            <a:noFill/>
          </a:ln>
        </p:spPr>
      </p:pic>
      <p:pic>
        <p:nvPicPr>
          <p:cNvPr id="352" name="Google Shape;352;p36"/>
          <p:cNvPicPr preferRelativeResize="0"/>
          <p:nvPr/>
        </p:nvPicPr>
        <p:blipFill>
          <a:blip r:embed="rId10">
            <a:alphaModFix/>
          </a:blip>
          <a:stretch>
            <a:fillRect/>
          </a:stretch>
        </p:blipFill>
        <p:spPr>
          <a:xfrm>
            <a:off x="1600200" y="3008525"/>
            <a:ext cx="1266825" cy="419100"/>
          </a:xfrm>
          <a:prstGeom prst="rect">
            <a:avLst/>
          </a:prstGeom>
          <a:noFill/>
          <a:ln>
            <a:noFill/>
          </a:ln>
        </p:spPr>
      </p:pic>
      <p:pic>
        <p:nvPicPr>
          <p:cNvPr id="353" name="Google Shape;353;p36"/>
          <p:cNvPicPr preferRelativeResize="0"/>
          <p:nvPr/>
        </p:nvPicPr>
        <p:blipFill>
          <a:blip r:embed="rId11">
            <a:alphaModFix/>
          </a:blip>
          <a:stretch>
            <a:fillRect/>
          </a:stretch>
        </p:blipFill>
        <p:spPr>
          <a:xfrm>
            <a:off x="5917038" y="3913325"/>
            <a:ext cx="1550562" cy="354948"/>
          </a:xfrm>
          <a:prstGeom prst="rect">
            <a:avLst/>
          </a:prstGeom>
          <a:noFill/>
          <a:ln>
            <a:noFill/>
          </a:ln>
        </p:spPr>
      </p:pic>
      <p:pic>
        <p:nvPicPr>
          <p:cNvPr id="354" name="Google Shape;354;p36"/>
          <p:cNvPicPr preferRelativeResize="0"/>
          <p:nvPr/>
        </p:nvPicPr>
        <p:blipFill>
          <a:blip r:embed="rId12">
            <a:alphaModFix/>
          </a:blip>
          <a:stretch>
            <a:fillRect/>
          </a:stretch>
        </p:blipFill>
        <p:spPr>
          <a:xfrm>
            <a:off x="5943600" y="4418225"/>
            <a:ext cx="1228725" cy="3143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58" name="Shape 358"/>
        <p:cNvGrpSpPr/>
        <p:nvPr/>
      </p:nvGrpSpPr>
      <p:grpSpPr>
        <a:xfrm>
          <a:off x="0" y="0"/>
          <a:ext cx="0" cy="0"/>
          <a:chOff x="0" y="0"/>
          <a:chExt cx="0" cy="0"/>
        </a:xfrm>
      </p:grpSpPr>
      <p:sp>
        <p:nvSpPr>
          <p:cNvPr id="359" name="Google Shape;359;p37"/>
          <p:cNvSpPr txBox="1"/>
          <p:nvPr>
            <p:ph type="title"/>
          </p:nvPr>
        </p:nvSpPr>
        <p:spPr>
          <a:xfrm>
            <a:off x="257450" y="2176321"/>
            <a:ext cx="8520600" cy="681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In the context of L2s, what is x?</a:t>
            </a:r>
            <a:endParaRPr sz="2300">
              <a:solidFill>
                <a:schemeClr val="lt1"/>
              </a:solidFill>
            </a:endParaRPr>
          </a:p>
        </p:txBody>
      </p:sp>
      <p:sp>
        <p:nvSpPr>
          <p:cNvPr id="360" name="Google Shape;360;p37"/>
          <p:cNvSpPr txBox="1"/>
          <p:nvPr>
            <p:ph type="title"/>
          </p:nvPr>
        </p:nvSpPr>
        <p:spPr>
          <a:xfrm>
            <a:off x="6762150" y="191050"/>
            <a:ext cx="2175600" cy="62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2800">
                <a:solidFill>
                  <a:schemeClr val="lt1"/>
                </a:solidFill>
              </a:rPr>
              <a:t>Bonus Point</a:t>
            </a:r>
            <a:endParaRPr sz="2300">
              <a:solidFill>
                <a:schemeClr val="lt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8"/>
          <p:cNvSpPr txBox="1"/>
          <p:nvPr>
            <p:ph type="title"/>
          </p:nvPr>
        </p:nvSpPr>
        <p:spPr>
          <a:xfrm>
            <a:off x="311700" y="292625"/>
            <a:ext cx="8520600" cy="613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ZK Proof System Construction Comparison</a:t>
            </a:r>
            <a:endParaRPr/>
          </a:p>
        </p:txBody>
      </p:sp>
      <p:sp>
        <p:nvSpPr>
          <p:cNvPr id="366" name="Google Shape;366;p38"/>
          <p:cNvSpPr txBox="1"/>
          <p:nvPr>
            <p:ph idx="1" type="body"/>
          </p:nvPr>
        </p:nvSpPr>
        <p:spPr>
          <a:xfrm>
            <a:off x="311700" y="905825"/>
            <a:ext cx="6699000" cy="23382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SNARK - Succinct Non-interactive Argument of Knowledge</a:t>
            </a:r>
            <a:endParaRPr/>
          </a:p>
          <a:p>
            <a:pPr indent="-310832" lvl="1" marL="914400" rtl="0" algn="l">
              <a:spcBef>
                <a:spcPts val="0"/>
              </a:spcBef>
              <a:spcAft>
                <a:spcPts val="0"/>
              </a:spcAft>
              <a:buSzPct val="100000"/>
              <a:buChar char="➢"/>
            </a:pPr>
            <a:r>
              <a:rPr lang="en"/>
              <a:t>Succinct because verification is much faster than proof generation</a:t>
            </a:r>
            <a:endParaRPr/>
          </a:p>
          <a:p>
            <a:pPr indent="-310832" lvl="1" marL="914400" rtl="0" algn="l">
              <a:spcBef>
                <a:spcPts val="0"/>
              </a:spcBef>
              <a:spcAft>
                <a:spcPts val="0"/>
              </a:spcAft>
              <a:buSzPct val="100000"/>
              <a:buChar char="➢"/>
            </a:pPr>
            <a:r>
              <a:rPr lang="en"/>
              <a:t>Requires a trusted setup environment - longer proving times</a:t>
            </a:r>
            <a:endParaRPr/>
          </a:p>
          <a:p>
            <a:pPr indent="-310832" lvl="1" marL="914400" rtl="0" algn="l">
              <a:spcBef>
                <a:spcPts val="0"/>
              </a:spcBef>
              <a:spcAft>
                <a:spcPts val="0"/>
              </a:spcAft>
              <a:buSzPct val="100000"/>
              <a:buChar char="➢"/>
            </a:pPr>
            <a:r>
              <a:rPr lang="en"/>
              <a:t>Generated from an elliptic curve - fast and secure</a:t>
            </a:r>
            <a:endParaRPr/>
          </a:p>
          <a:p>
            <a:pPr indent="-334327" lvl="0" marL="457200" rtl="0" algn="l">
              <a:spcBef>
                <a:spcPts val="0"/>
              </a:spcBef>
              <a:spcAft>
                <a:spcPts val="0"/>
              </a:spcAft>
              <a:buSzPct val="100000"/>
              <a:buChar char="❖"/>
            </a:pPr>
            <a:r>
              <a:rPr lang="en"/>
              <a:t>STARK - Scalable Transparent Argument of Knowledge</a:t>
            </a:r>
            <a:endParaRPr/>
          </a:p>
          <a:p>
            <a:pPr indent="-310832" lvl="1" marL="914400" rtl="0" algn="l">
              <a:spcBef>
                <a:spcPts val="0"/>
              </a:spcBef>
              <a:spcAft>
                <a:spcPts val="0"/>
              </a:spcAft>
              <a:buSzPct val="100000"/>
              <a:buChar char="➢"/>
            </a:pPr>
            <a:r>
              <a:rPr lang="en"/>
              <a:t>Extremely complex hashes making proofs very big</a:t>
            </a:r>
            <a:endParaRPr/>
          </a:p>
          <a:p>
            <a:pPr indent="-310832" lvl="1" marL="914400" rtl="0" algn="l">
              <a:spcBef>
                <a:spcPts val="0"/>
              </a:spcBef>
              <a:spcAft>
                <a:spcPts val="0"/>
              </a:spcAft>
              <a:buSzPct val="100000"/>
              <a:buChar char="➢"/>
            </a:pPr>
            <a:r>
              <a:rPr lang="en"/>
              <a:t>Can be verified publically by anyone - scalable and transparent!</a:t>
            </a:r>
            <a:endParaRPr/>
          </a:p>
          <a:p>
            <a:pPr indent="-334327" lvl="0" marL="457200" rtl="0" algn="l">
              <a:spcBef>
                <a:spcPts val="0"/>
              </a:spcBef>
              <a:spcAft>
                <a:spcPts val="0"/>
              </a:spcAft>
              <a:buSzPct val="100000"/>
              <a:buChar char="❖"/>
            </a:pPr>
            <a:r>
              <a:rPr lang="en"/>
              <a:t>Bulletproof</a:t>
            </a:r>
            <a:endParaRPr/>
          </a:p>
          <a:p>
            <a:pPr indent="-310832" lvl="1" marL="914400" rtl="0" algn="l">
              <a:spcBef>
                <a:spcPts val="0"/>
              </a:spcBef>
              <a:spcAft>
                <a:spcPts val="0"/>
              </a:spcAft>
              <a:buSzPct val="100000"/>
              <a:buChar char="➢"/>
            </a:pPr>
            <a:r>
              <a:rPr lang="en"/>
              <a:t>Tries to get the best of both worlds - small proof size and no setup</a:t>
            </a:r>
            <a:endParaRPr/>
          </a:p>
          <a:p>
            <a:pPr indent="-310832" lvl="1" marL="914400" rtl="0" algn="l">
              <a:spcBef>
                <a:spcPts val="0"/>
              </a:spcBef>
              <a:spcAft>
                <a:spcPts val="0"/>
              </a:spcAft>
              <a:buSzPct val="100000"/>
              <a:buChar char="➢"/>
            </a:pPr>
            <a:r>
              <a:rPr lang="en"/>
              <a:t>Unfortunately extremely long proving and verification times</a:t>
            </a:r>
            <a:endParaRPr/>
          </a:p>
        </p:txBody>
      </p:sp>
      <p:pic>
        <p:nvPicPr>
          <p:cNvPr id="367" name="Google Shape;367;p38"/>
          <p:cNvPicPr preferRelativeResize="0"/>
          <p:nvPr/>
        </p:nvPicPr>
        <p:blipFill>
          <a:blip r:embed="rId3">
            <a:alphaModFix/>
          </a:blip>
          <a:stretch>
            <a:fillRect/>
          </a:stretch>
        </p:blipFill>
        <p:spPr>
          <a:xfrm>
            <a:off x="218850" y="3339775"/>
            <a:ext cx="5634651" cy="1611175"/>
          </a:xfrm>
          <a:prstGeom prst="rect">
            <a:avLst/>
          </a:prstGeom>
          <a:noFill/>
          <a:ln>
            <a:noFill/>
          </a:ln>
        </p:spPr>
      </p:pic>
      <p:sp>
        <p:nvSpPr>
          <p:cNvPr id="368" name="Google Shape;368;p38"/>
          <p:cNvSpPr txBox="1"/>
          <p:nvPr/>
        </p:nvSpPr>
        <p:spPr>
          <a:xfrm>
            <a:off x="5974700" y="3386225"/>
            <a:ext cx="3104100" cy="14775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Setups are a potential attack vector. Require the correct hardware and configuration.</a:t>
            </a:r>
            <a:endParaRPr sz="1200">
              <a:solidFill>
                <a:schemeClr val="dk1"/>
              </a:solidFill>
              <a:latin typeface="Old Standard TT"/>
              <a:ea typeface="Old Standard TT"/>
              <a:cs typeface="Old Standard TT"/>
              <a:sym typeface="Old Standard TT"/>
            </a:endParaRPr>
          </a:p>
          <a:p>
            <a:pPr indent="-304800" lvl="0" marL="457200" rtl="0" algn="l">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Larger proofs are more network intensive.</a:t>
            </a:r>
            <a:endParaRPr sz="1200">
              <a:solidFill>
                <a:schemeClr val="dk1"/>
              </a:solidFill>
              <a:latin typeface="Old Standard TT"/>
              <a:ea typeface="Old Standard TT"/>
              <a:cs typeface="Old Standard TT"/>
              <a:sym typeface="Old Standard TT"/>
            </a:endParaRPr>
          </a:p>
          <a:p>
            <a:pPr indent="-304800" lvl="0" marL="457200" rtl="0" algn="l">
              <a:spcBef>
                <a:spcPts val="0"/>
              </a:spcBef>
              <a:spcAft>
                <a:spcPts val="0"/>
              </a:spcAft>
              <a:buClr>
                <a:schemeClr val="dk1"/>
              </a:buClr>
              <a:buSzPts val="1200"/>
              <a:buFont typeface="Old Standard TT"/>
              <a:buChar char="●"/>
            </a:pPr>
            <a:r>
              <a:rPr lang="en" sz="1200">
                <a:solidFill>
                  <a:schemeClr val="dk1"/>
                </a:solidFill>
                <a:latin typeface="Old Standard TT"/>
                <a:ea typeface="Old Standard TT"/>
                <a:cs typeface="Old Standard TT"/>
                <a:sym typeface="Old Standard TT"/>
              </a:rPr>
              <a:t>Time needed to generate proof and verify affect throughput.</a:t>
            </a:r>
            <a:endParaRPr sz="1200">
              <a:solidFill>
                <a:schemeClr val="dk1"/>
              </a:solidFill>
              <a:latin typeface="Old Standard TT"/>
              <a:ea typeface="Old Standard TT"/>
              <a:cs typeface="Old Standard TT"/>
              <a:sym typeface="Old Standard TT"/>
            </a:endParaRPr>
          </a:p>
        </p:txBody>
      </p:sp>
      <p:grpSp>
        <p:nvGrpSpPr>
          <p:cNvPr id="369" name="Google Shape;369;p38"/>
          <p:cNvGrpSpPr/>
          <p:nvPr/>
        </p:nvGrpSpPr>
        <p:grpSpPr>
          <a:xfrm>
            <a:off x="6705900" y="1210625"/>
            <a:ext cx="1828500" cy="1828500"/>
            <a:chOff x="6934500" y="1286825"/>
            <a:chExt cx="1828500" cy="1828500"/>
          </a:xfrm>
        </p:grpSpPr>
        <p:pic>
          <p:nvPicPr>
            <p:cNvPr id="370" name="Google Shape;370;p38"/>
            <p:cNvPicPr preferRelativeResize="0"/>
            <p:nvPr/>
          </p:nvPicPr>
          <p:blipFill>
            <a:blip r:embed="rId4">
              <a:alphaModFix/>
            </a:blip>
            <a:stretch>
              <a:fillRect/>
            </a:stretch>
          </p:blipFill>
          <p:spPr>
            <a:xfrm>
              <a:off x="6934500" y="1286825"/>
              <a:ext cx="1828500" cy="1828500"/>
            </a:xfrm>
            <a:prstGeom prst="rect">
              <a:avLst/>
            </a:prstGeom>
            <a:noFill/>
            <a:ln>
              <a:noFill/>
            </a:ln>
          </p:spPr>
        </p:pic>
        <p:cxnSp>
          <p:nvCxnSpPr>
            <p:cNvPr id="371" name="Google Shape;371;p38"/>
            <p:cNvCxnSpPr/>
            <p:nvPr/>
          </p:nvCxnSpPr>
          <p:spPr>
            <a:xfrm>
              <a:off x="8328925" y="1685850"/>
              <a:ext cx="14400" cy="1060200"/>
            </a:xfrm>
            <a:prstGeom prst="straightConnector1">
              <a:avLst/>
            </a:prstGeom>
            <a:noFill/>
            <a:ln cap="flat" cmpd="sng" w="28575">
              <a:solidFill>
                <a:schemeClr val="lt2"/>
              </a:solidFill>
              <a:prstDash val="solid"/>
              <a:round/>
              <a:headEnd len="med" w="med" type="none"/>
              <a:tailEnd len="med" w="med" type="none"/>
            </a:ln>
          </p:spPr>
        </p:cxnSp>
        <p:sp>
          <p:nvSpPr>
            <p:cNvPr id="372" name="Google Shape;372;p38"/>
            <p:cNvSpPr txBox="1"/>
            <p:nvPr/>
          </p:nvSpPr>
          <p:spPr>
            <a:xfrm>
              <a:off x="8286600" y="2536350"/>
              <a:ext cx="247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Old Standard TT"/>
                  <a:ea typeface="Old Standard TT"/>
                  <a:cs typeface="Old Standard TT"/>
                  <a:sym typeface="Old Standard TT"/>
                </a:rPr>
                <a:t>c</a:t>
              </a:r>
              <a:endParaRPr sz="900">
                <a:solidFill>
                  <a:schemeClr val="dk1"/>
                </a:solidFill>
                <a:latin typeface="Old Standard TT"/>
                <a:ea typeface="Old Standard TT"/>
                <a:cs typeface="Old Standard TT"/>
                <a:sym typeface="Old Standard TT"/>
              </a:endParaRPr>
            </a:p>
          </p:txBody>
        </p:sp>
        <p:cxnSp>
          <p:nvCxnSpPr>
            <p:cNvPr id="373" name="Google Shape;373;p38"/>
            <p:cNvCxnSpPr/>
            <p:nvPr/>
          </p:nvCxnSpPr>
          <p:spPr>
            <a:xfrm rot="10800000">
              <a:off x="7770300" y="2617200"/>
              <a:ext cx="592500" cy="80700"/>
            </a:xfrm>
            <a:prstGeom prst="straightConnector1">
              <a:avLst/>
            </a:prstGeom>
            <a:noFill/>
            <a:ln cap="flat" cmpd="sng" w="28575">
              <a:solidFill>
                <a:srgbClr val="BF9000"/>
              </a:solidFill>
              <a:prstDash val="solid"/>
              <a:round/>
              <a:headEnd len="med" w="med" type="none"/>
              <a:tailEnd len="med" w="med" type="none"/>
            </a:ln>
          </p:spPr>
        </p:cxnSp>
        <p:sp>
          <p:nvSpPr>
            <p:cNvPr id="374" name="Google Shape;374;p38"/>
            <p:cNvSpPr txBox="1"/>
            <p:nvPr/>
          </p:nvSpPr>
          <p:spPr>
            <a:xfrm>
              <a:off x="7600800" y="2383950"/>
              <a:ext cx="2478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solidFill>
                    <a:schemeClr val="dk1"/>
                  </a:solidFill>
                  <a:latin typeface="Old Standard TT"/>
                  <a:ea typeface="Old Standard TT"/>
                  <a:cs typeface="Old Standard TT"/>
                  <a:sym typeface="Old Standard TT"/>
                </a:rPr>
                <a:t>D</a:t>
              </a:r>
              <a:endParaRPr sz="900">
                <a:solidFill>
                  <a:schemeClr val="dk1"/>
                </a:solidFill>
                <a:latin typeface="Old Standard TT"/>
                <a:ea typeface="Old Standard TT"/>
                <a:cs typeface="Old Standard TT"/>
                <a:sym typeface="Old Standard TT"/>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8" name="Shape 378"/>
        <p:cNvGrpSpPr/>
        <p:nvPr/>
      </p:nvGrpSpPr>
      <p:grpSpPr>
        <a:xfrm>
          <a:off x="0" y="0"/>
          <a:ext cx="0" cy="0"/>
          <a:chOff x="0" y="0"/>
          <a:chExt cx="0" cy="0"/>
        </a:xfrm>
      </p:grpSpPr>
      <p:sp>
        <p:nvSpPr>
          <p:cNvPr id="379" name="Google Shape;379;p39"/>
          <p:cNvSpPr txBox="1"/>
          <p:nvPr>
            <p:ph type="title"/>
          </p:nvPr>
        </p:nvSpPr>
        <p:spPr>
          <a:xfrm>
            <a:off x="311700" y="2284065"/>
            <a:ext cx="8520600" cy="703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chemeClr val="lt1"/>
                </a:solidFill>
              </a:rPr>
              <a:t>Where to next?</a:t>
            </a:r>
            <a:endParaRPr sz="2355">
              <a:solidFill>
                <a:schemeClr val="lt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