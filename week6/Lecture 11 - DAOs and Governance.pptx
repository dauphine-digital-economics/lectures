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Old Standard TT"/>
      <p:regular r:id="rId40"/>
      <p:bold r:id="rId41"/>
      <p: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C7CC72-C510-43CD-B368-A59BD6054FC2}">
  <a:tblStyle styleId="{FCC7CC72-C510-43CD-B368-A59BD6054F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ldStandardTT-regular.fntdata"/><Relationship Id="rId20" Type="http://schemas.openxmlformats.org/officeDocument/2006/relationships/slide" Target="slides/slide14.xml"/><Relationship Id="rId42" Type="http://schemas.openxmlformats.org/officeDocument/2006/relationships/font" Target="fonts/OldStandardTT-italic.fntdata"/><Relationship Id="rId41" Type="http://schemas.openxmlformats.org/officeDocument/2006/relationships/font" Target="fonts/OldStandardT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1f313fde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1f313fde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f313fde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f313fde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OS - DAO as a service. Create your DAO with no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Collector DAO - Artistic DAO, curate a gallery, manage ownership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DAO - DAO as a service - treasury management, community management, security of DAOs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DAO - DAO form of web 2 social media. Connects people for certain goals. Linkedin for work. Facebook for friendship, tinder for dating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DAOs - content DAOs. education content, podcast, media. Rekt news threads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09ff98c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209ff98c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209ff98c6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209ff98c6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voting exists too!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0dc092d4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20dc092d4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0dc092d4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20dc092d4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bc518455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bc518455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bb40ba4c2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bb40ba4c2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3f9f589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3f9f58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0dc092d4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20dc092d4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0dc092d4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0dc092d4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4fa6463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4fa646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device we have today is a turing machine and Ethereum operates on similar principles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bb40ba4c2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bb40ba4c2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55b996e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55b996e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b40ba4c2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b40ba4c2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b40ba4c2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b40ba4c2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b40ba4c2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b40ba4c2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b40ba4c2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b40ba4c2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device we have today is a turing machine and Ethereum operates on similar principles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baf7612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baf7612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bb40ba4c2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bb40ba4c2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bb40ba4c2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bb40ba4c2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baf76121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bbaf76121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baf76121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bbaf76121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bb40ba4c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bb40ba4c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device we have today is a turing machine and Ethereum operates on similar principles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b40ba4c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bb40ba4c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baf76121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baf76121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baf76121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bbaf76121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device we have today is a turing machine and Ethereum operates on similar principles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baf7612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bbaf7612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yoleg.gov/2021/Enroll/SF0038.pdf" TargetMode="External"/><Relationship Id="rId4" Type="http://schemas.openxmlformats.org/officeDocument/2006/relationships/hyperlink" Target="https://www.economie.gouv.fr/cedef/regime-fiscal-cryptomonnaies#:~:text=L'article%2079%20de%20la,r%C3%A9gime%20du%20pr%C3%A9l%C3%A8vement%20forfaitaire%20unique.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ur-lex.europa.eu/legal-content/FR/TXT/?uri=uriserv%3AOJ.L_.2023.150.01.0040.01.FRA&amp;toc=OJ%3AL%3A2023%3A150%3AFUL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solidity-by-example.org/app/multi-sig-wallet/" TargetMode="External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11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DAOs and Governance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- A definition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235500" y="1228675"/>
            <a:ext cx="86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Decentralized</a:t>
            </a:r>
            <a:r>
              <a:rPr lang="en"/>
              <a:t> - Everybody gets to voice their opinion. No hierarchy or authority.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Autonomous</a:t>
            </a:r>
            <a:r>
              <a:rPr lang="en"/>
              <a:t> - Able to take action and achieve goals without a stamp of approval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Organisation</a:t>
            </a:r>
            <a:r>
              <a:rPr lang="en"/>
              <a:t> - A community working towards a common goal instead of paid labour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landscape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22" y="865325"/>
            <a:ext cx="7265428" cy="408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two pillars of DAOs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017725"/>
            <a:ext cx="2218700" cy="14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275825" y="2550200"/>
            <a:ext cx="194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Governance Model</a:t>
            </a:r>
            <a:endParaRPr b="1" sz="1500"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7381" l="0" r="0" t="0"/>
          <a:stretch/>
        </p:blipFill>
        <p:spPr>
          <a:xfrm>
            <a:off x="6181100" y="1106375"/>
            <a:ext cx="1241625" cy="1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5658000" y="2518150"/>
            <a:ext cx="221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Treasury Management</a:t>
            </a:r>
            <a:endParaRPr b="1" sz="1500"/>
          </a:p>
        </p:txBody>
      </p:sp>
      <p:sp>
        <p:nvSpPr>
          <p:cNvPr id="82" name="Google Shape;82;p16"/>
          <p:cNvSpPr txBox="1"/>
          <p:nvPr/>
        </p:nvSpPr>
        <p:spPr>
          <a:xfrm>
            <a:off x="313000" y="2923025"/>
            <a:ext cx="4150200" cy="2216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management of voting and proposal lifecycle management. (Lecture 1 EIP process)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Tools used to discuss and post proposals.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Voting mechanisms to ensure fair representation and avoid token manipulation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Timelocks and execution processes of passed proposals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4847950" y="2967175"/>
            <a:ext cx="3936300" cy="1477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funds and tokenomics of the DAO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Manage asset portfolio and value volatility of the treasury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Secure smart contract for treasuries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Native-token tokenomics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lifecycle and tooling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1107025" y="1436750"/>
            <a:ext cx="7418700" cy="4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862775" y="1040100"/>
            <a:ext cx="1234200" cy="1177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" name="Google Shape;91;p17"/>
          <p:cNvSpPr/>
          <p:nvPr/>
        </p:nvSpPr>
        <p:spPr>
          <a:xfrm>
            <a:off x="2691575" y="1040100"/>
            <a:ext cx="1234200" cy="1177200"/>
          </a:xfrm>
          <a:prstGeom prst="ellipse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2" name="Google Shape;92;p17"/>
          <p:cNvSpPr/>
          <p:nvPr/>
        </p:nvSpPr>
        <p:spPr>
          <a:xfrm>
            <a:off x="4596575" y="1040100"/>
            <a:ext cx="1234200" cy="1177200"/>
          </a:xfrm>
          <a:prstGeom prst="ellipse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" name="Google Shape;93;p17"/>
          <p:cNvSpPr/>
          <p:nvPr/>
        </p:nvSpPr>
        <p:spPr>
          <a:xfrm>
            <a:off x="6577775" y="1040100"/>
            <a:ext cx="1234200" cy="11772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4" name="Google Shape;94;p17"/>
          <p:cNvSpPr txBox="1"/>
          <p:nvPr/>
        </p:nvSpPr>
        <p:spPr>
          <a:xfrm>
            <a:off x="918675" y="1364475"/>
            <a:ext cx="110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Community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Mission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747475" y="1212075"/>
            <a:ext cx="110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Discussion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&amp;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Proposal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652475" y="1288275"/>
            <a:ext cx="1102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Governance Mechanism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663950" y="1284350"/>
            <a:ext cx="110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Proposal Execution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87900" y="2502125"/>
            <a:ext cx="1921200" cy="233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the purpose of your DAO and the target audience it serves.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the success metrics and ROI.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distribution and delegation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2503550" y="2502125"/>
            <a:ext cx="1634400" cy="2339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place where people can freely exchange. A sense of community builds loyalty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Forum; Orbit; Community as a Service?</a:t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4302813" y="2502125"/>
            <a:ext cx="2026800" cy="23397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Onchain - history, transparency but gas fees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Offchain - fast, no gas, needs a separate onchain execution 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Eligibility, Token Power, Duration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6465950" y="2502125"/>
            <a:ext cx="1634400" cy="21240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Rage Quit (trade with treasury)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has power to execute?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feedback?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treasuries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and Asset Portfolio of DAO treasuries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Holding one token type - ok if multiple treasuries?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Governance token separate from native/utility token?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yield earning activities with treasury?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Secure Storage and Execution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owns the purse strings? A single person, an entity or a smart contract?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Multisig Wallets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wallet which requires a certain number of addresses to sign before execution.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a specific number of signatures or a percentage out of the whole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Regulation - Legal &amp; Fiscal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847675"/>
            <a:ext cx="8520600" cy="4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US has made an attempt to recognise DAOs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Wyoming became the first state to recognise DAOs on 1 July 2021. Legal definition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/>
              <a:t>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Similar in status to LLC but with a certain % of governance done by Smart Contracts, membership based on token ownership and enforced dissolution if DAO does not pass any proposals in 1 year.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 number of other US states have created similar legislation.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EU is still undecided and highly fragmented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Germany - Crypto vested for more than 1 year is tax free!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France - very complex - categorized by mining, trading and corporate gains. </a:t>
            </a:r>
            <a:r>
              <a:rPr lang="en" u="sng">
                <a:solidFill>
                  <a:schemeClr val="hlink"/>
                </a:solidFill>
                <a:hlinkClick r:id="rId4"/>
              </a:rPr>
              <a:t>Tax Law</a:t>
            </a:r>
            <a:r>
              <a:rPr lang="en"/>
              <a:t>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Non official status in the EU. Most registered as an "association". Provides basic legal protection for private individuals.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MakerDAO - are they truly a DAO?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Has a stablecoin, do not rely on donations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Has a treasury worth $1.2Billion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Pays salaries to its core employees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Has income statements with revenue and expenses….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6200"/>
            <a:ext cx="8713850" cy="48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MiCA - Markets in Crypto Assets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1073700" y="1095400"/>
            <a:ext cx="7150500" cy="442500"/>
          </a:xfrm>
          <a:prstGeom prst="rect">
            <a:avLst/>
          </a:prstGeom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Standardizing EU wide regulation on crypto assets and companies. </a:t>
            </a:r>
            <a:r>
              <a:rPr lang="en" u="sng">
                <a:solidFill>
                  <a:schemeClr val="hlink"/>
                </a:solidFill>
                <a:hlinkClick r:id="rId3"/>
              </a:rPr>
              <a:t>Full text</a:t>
            </a:r>
            <a:r>
              <a:rPr lang="en"/>
              <a:t>.</a:t>
            </a:r>
            <a:endParaRPr/>
          </a:p>
        </p:txBody>
      </p:sp>
      <p:grpSp>
        <p:nvGrpSpPr>
          <p:cNvPr id="125" name="Google Shape;125;p21"/>
          <p:cNvGrpSpPr/>
          <p:nvPr/>
        </p:nvGrpSpPr>
        <p:grpSpPr>
          <a:xfrm>
            <a:off x="-299" y="1776760"/>
            <a:ext cx="2040994" cy="2034663"/>
            <a:chOff x="3154233" y="1785339"/>
            <a:chExt cx="1915527" cy="1802661"/>
          </a:xfrm>
        </p:grpSpPr>
        <p:sp>
          <p:nvSpPr>
            <p:cNvPr id="126" name="Google Shape;126;p21"/>
            <p:cNvSpPr/>
            <p:nvPr/>
          </p:nvSpPr>
          <p:spPr>
            <a:xfrm>
              <a:off x="3485717" y="3079475"/>
              <a:ext cx="12948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1"/>
            <p:cNvSpPr txBox="1"/>
            <p:nvPr/>
          </p:nvSpPr>
          <p:spPr>
            <a:xfrm>
              <a:off x="3154233" y="3216600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June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21"/>
            <p:cNvSpPr txBox="1"/>
            <p:nvPr/>
          </p:nvSpPr>
          <p:spPr>
            <a:xfrm>
              <a:off x="3386760" y="1785339"/>
              <a:ext cx="16830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Published in OJEU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MiCA is approved with consultation and transitional periods. Countries trial and provide feedback. Attempt to bring existing local laws in line with MiCA.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" name="Google Shape;129;p21"/>
            <p:cNvGrpSpPr/>
            <p:nvPr/>
          </p:nvGrpSpPr>
          <p:grpSpPr>
            <a:xfrm>
              <a:off x="3435870" y="2800065"/>
              <a:ext cx="92400" cy="411825"/>
              <a:chOff x="845575" y="2563700"/>
              <a:chExt cx="92400" cy="411825"/>
            </a:xfrm>
          </p:grpSpPr>
          <p:sp>
            <p:nvSpPr>
              <p:cNvPr id="130" name="Google Shape;130;p21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1" name="Google Shape;131;p21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2" name="Google Shape;132;p21"/>
          <p:cNvGrpSpPr/>
          <p:nvPr/>
        </p:nvGrpSpPr>
        <p:grpSpPr>
          <a:xfrm>
            <a:off x="911249" y="2735868"/>
            <a:ext cx="2201057" cy="2044874"/>
            <a:chOff x="1420061" y="2635085"/>
            <a:chExt cx="2065750" cy="1811707"/>
          </a:xfrm>
        </p:grpSpPr>
        <p:sp>
          <p:nvSpPr>
            <p:cNvPr id="133" name="Google Shape;133;p21"/>
            <p:cNvSpPr/>
            <p:nvPr/>
          </p:nvSpPr>
          <p:spPr>
            <a:xfrm>
              <a:off x="2191011" y="3079475"/>
              <a:ext cx="12948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1828196" y="2635085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July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1420061" y="3502992"/>
              <a:ext cx="19155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Roboto"/>
                  <a:ea typeface="Roboto"/>
                  <a:cs typeface="Roboto"/>
                  <a:sym typeface="Roboto"/>
                </a:rPr>
                <a:t>Package 1 - CASPs and NCAs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Service providers must register with national crypto associations.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Establish application, complaint and appeal procedures.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6" name="Google Shape;136;p21"/>
            <p:cNvGrpSpPr/>
            <p:nvPr/>
          </p:nvGrpSpPr>
          <p:grpSpPr>
            <a:xfrm rot="10800000">
              <a:off x="2149293" y="3079467"/>
              <a:ext cx="92400" cy="411825"/>
              <a:chOff x="2072481" y="2563700"/>
              <a:chExt cx="92400" cy="411825"/>
            </a:xfrm>
          </p:grpSpPr>
          <p:cxnSp>
            <p:nvCxnSpPr>
              <p:cNvPr id="137" name="Google Shape;137;p21"/>
              <p:cNvCxnSpPr/>
              <p:nvPr/>
            </p:nvCxnSpPr>
            <p:spPr>
              <a:xfrm>
                <a:off x="2118681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8" name="Google Shape;138;p21"/>
              <p:cNvSpPr/>
              <p:nvPr/>
            </p:nvSpPr>
            <p:spPr>
              <a:xfrm>
                <a:off x="2072481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" name="Google Shape;139;p21"/>
          <p:cNvGrpSpPr/>
          <p:nvPr/>
        </p:nvGrpSpPr>
        <p:grpSpPr>
          <a:xfrm>
            <a:off x="2430325" y="1778850"/>
            <a:ext cx="2201110" cy="2032573"/>
            <a:chOff x="2845754" y="1787191"/>
            <a:chExt cx="2065800" cy="1800809"/>
          </a:xfrm>
        </p:grpSpPr>
        <p:sp>
          <p:nvSpPr>
            <p:cNvPr id="140" name="Google Shape;140;p21"/>
            <p:cNvSpPr/>
            <p:nvPr/>
          </p:nvSpPr>
          <p:spPr>
            <a:xfrm>
              <a:off x="3485717" y="3079475"/>
              <a:ext cx="12948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 txBox="1"/>
            <p:nvPr/>
          </p:nvSpPr>
          <p:spPr>
            <a:xfrm>
              <a:off x="3154233" y="3216600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October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2845754" y="1787191"/>
              <a:ext cx="20658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Roboto"/>
                  <a:ea typeface="Roboto"/>
                  <a:cs typeface="Roboto"/>
                  <a:sym typeface="Roboto"/>
                </a:rPr>
                <a:t>Package 2 -  CASP responsibilities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Sustainability and profitability requirements. 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Operational and accounting practices. 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Duty to the public.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3" name="Google Shape;143;p21"/>
            <p:cNvGrpSpPr/>
            <p:nvPr/>
          </p:nvGrpSpPr>
          <p:grpSpPr>
            <a:xfrm>
              <a:off x="3435870" y="2800065"/>
              <a:ext cx="92400" cy="411825"/>
              <a:chOff x="845575" y="2563700"/>
              <a:chExt cx="92400" cy="411825"/>
            </a:xfrm>
          </p:grpSpPr>
          <p:sp>
            <p:nvSpPr>
              <p:cNvPr id="144" name="Google Shape;144;p21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5" name="Google Shape;145;p21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46" name="Google Shape;146;p21"/>
          <p:cNvGrpSpPr/>
          <p:nvPr/>
        </p:nvGrpSpPr>
        <p:grpSpPr>
          <a:xfrm>
            <a:off x="3987951" y="2812068"/>
            <a:ext cx="1987264" cy="1968674"/>
            <a:chOff x="4307627" y="2702596"/>
            <a:chExt cx="1865100" cy="1744196"/>
          </a:xfrm>
        </p:grpSpPr>
        <p:sp>
          <p:nvSpPr>
            <p:cNvPr id="147" name="Google Shape;147;p21"/>
            <p:cNvSpPr/>
            <p:nvPr/>
          </p:nvSpPr>
          <p:spPr>
            <a:xfrm>
              <a:off x="4780421" y="3079475"/>
              <a:ext cx="12948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" name="Google Shape;148;p21"/>
            <p:cNvGrpSpPr/>
            <p:nvPr/>
          </p:nvGrpSpPr>
          <p:grpSpPr>
            <a:xfrm rot="10800000">
              <a:off x="4737413" y="3079467"/>
              <a:ext cx="92400" cy="411825"/>
              <a:chOff x="2070100" y="2563700"/>
              <a:chExt cx="92400" cy="411825"/>
            </a:xfrm>
          </p:grpSpPr>
          <p:cxnSp>
            <p:nvCxnSpPr>
              <p:cNvPr id="149" name="Google Shape;149;p21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0" name="Google Shape;150;p21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21"/>
            <p:cNvSpPr txBox="1"/>
            <p:nvPr/>
          </p:nvSpPr>
          <p:spPr>
            <a:xfrm>
              <a:off x="4413187" y="2702596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Q1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21"/>
            <p:cNvSpPr txBox="1"/>
            <p:nvPr/>
          </p:nvSpPr>
          <p:spPr>
            <a:xfrm>
              <a:off x="4307627" y="3502992"/>
              <a:ext cx="18651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Roboto"/>
                  <a:ea typeface="Roboto"/>
                  <a:cs typeface="Roboto"/>
                  <a:sym typeface="Roboto"/>
                </a:rPr>
                <a:t>Package 3 - Protection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Cyber and consumer protection. Qualification of project assets. Laws on monitoring, detection and reporting of abuse and malpractice.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" name="Google Shape;153;p21"/>
          <p:cNvGrpSpPr/>
          <p:nvPr/>
        </p:nvGrpSpPr>
        <p:grpSpPr>
          <a:xfrm>
            <a:off x="5463500" y="2081549"/>
            <a:ext cx="1793236" cy="1729874"/>
            <a:chOff x="5692469" y="2055375"/>
            <a:chExt cx="1683000" cy="1532625"/>
          </a:xfrm>
        </p:grpSpPr>
        <p:sp>
          <p:nvSpPr>
            <p:cNvPr id="154" name="Google Shape;154;p21"/>
            <p:cNvSpPr/>
            <p:nvPr/>
          </p:nvSpPr>
          <p:spPr>
            <a:xfrm>
              <a:off x="6075125" y="3079475"/>
              <a:ext cx="12948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" name="Google Shape;155;p21"/>
            <p:cNvGrpSpPr/>
            <p:nvPr/>
          </p:nvGrpSpPr>
          <p:grpSpPr>
            <a:xfrm>
              <a:off x="6031394" y="2800065"/>
              <a:ext cx="92400" cy="411825"/>
              <a:chOff x="845575" y="2563700"/>
              <a:chExt cx="92400" cy="411825"/>
            </a:xfrm>
          </p:grpSpPr>
          <p:cxnSp>
            <p:nvCxnSpPr>
              <p:cNvPr id="156" name="Google Shape;156;p21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7" name="Google Shape;157;p21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" name="Google Shape;158;p21"/>
            <p:cNvSpPr txBox="1"/>
            <p:nvPr/>
          </p:nvSpPr>
          <p:spPr>
            <a:xfrm>
              <a:off x="5707757" y="3216600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June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5692469" y="2055375"/>
              <a:ext cx="1683000" cy="7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Roboto"/>
                  <a:ea typeface="Roboto"/>
                  <a:cs typeface="Roboto"/>
                  <a:sym typeface="Roboto"/>
                </a:rPr>
                <a:t>Stablecoin Regulation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Title III (asset backed tokens) and Title IV (e-money tokens)  comes into effect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" name="Google Shape;160;p21"/>
          <p:cNvGrpSpPr/>
          <p:nvPr/>
        </p:nvGrpSpPr>
        <p:grpSpPr>
          <a:xfrm>
            <a:off x="6860924" y="2735875"/>
            <a:ext cx="2282779" cy="2044878"/>
            <a:chOff x="7003988" y="2635091"/>
            <a:chExt cx="2142449" cy="1811711"/>
          </a:xfrm>
        </p:grpSpPr>
        <p:sp>
          <p:nvSpPr>
            <p:cNvPr id="161" name="Google Shape;161;p21"/>
            <p:cNvSpPr/>
            <p:nvPr/>
          </p:nvSpPr>
          <p:spPr>
            <a:xfrm>
              <a:off x="7369837" y="3079475"/>
              <a:ext cx="1776600" cy="1335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21"/>
            <p:cNvGrpSpPr/>
            <p:nvPr/>
          </p:nvGrpSpPr>
          <p:grpSpPr>
            <a:xfrm rot="10800000">
              <a:off x="7328221" y="3079467"/>
              <a:ext cx="92400" cy="411825"/>
              <a:chOff x="2070100" y="2563700"/>
              <a:chExt cx="92400" cy="411825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4" name="Google Shape;164;p21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" name="Google Shape;165;p21"/>
            <p:cNvSpPr txBox="1"/>
            <p:nvPr/>
          </p:nvSpPr>
          <p:spPr>
            <a:xfrm>
              <a:off x="7003988" y="2635091"/>
              <a:ext cx="880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December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7256967" y="3503002"/>
              <a:ext cx="16830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Roboto"/>
                  <a:ea typeface="Roboto"/>
                  <a:cs typeface="Roboto"/>
                  <a:sym typeface="Roboto"/>
                </a:rPr>
                <a:t>Full enactment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Token types, company classifications, market abuses.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900">
                  <a:latin typeface="Roboto"/>
                  <a:ea typeface="Roboto"/>
                  <a:cs typeface="Roboto"/>
                  <a:sym typeface="Roboto"/>
                </a:rPr>
                <a:t>Standardization across the EU.</a:t>
              </a:r>
              <a:endParaRPr sz="9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311700" y="869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it going so far?</a:t>
            </a:r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250" y="700125"/>
            <a:ext cx="5594612" cy="4138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2355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ConstitutionDAO - An example</a:t>
            </a:r>
            <a:endParaRPr/>
          </a:p>
        </p:txBody>
      </p:sp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093925"/>
            <a:ext cx="3442174" cy="11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4071000" y="1172200"/>
            <a:ext cx="4865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 DAO that lived for 7 days, existing fo the sole purpose of purchasing an original copy of the US Constitution</a:t>
            </a:r>
            <a:endParaRPr sz="1700"/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75" y="2522800"/>
            <a:ext cx="1169350" cy="8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1707375" y="2349725"/>
            <a:ext cx="2564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was solely managed through Discord. The mission was simply: Putting the Constitution in People's hands</a:t>
            </a:r>
            <a:endParaRPr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947" y="3818285"/>
            <a:ext cx="656201" cy="1045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1715925" y="3695450"/>
            <a:ext cx="235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the $PEOPLE token. Exchange ETH for $PEOPLE. Voting rights to what to do after Constitution was purchased.</a:t>
            </a:r>
            <a:endParaRPr/>
          </a:p>
        </p:txBody>
      </p:sp>
      <p:pic>
        <p:nvPicPr>
          <p:cNvPr id="184" name="Google Shape;18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6275" y="2370400"/>
            <a:ext cx="1392584" cy="11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 txBox="1"/>
          <p:nvPr/>
        </p:nvSpPr>
        <p:spPr>
          <a:xfrm>
            <a:off x="5957850" y="2438050"/>
            <a:ext cx="305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a Multisig Wallet. 7/13 Signatures required. Community distrust due to anonymity. Signers volunteered identity.</a:t>
            </a:r>
            <a:endParaRPr/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2100" y="3633750"/>
            <a:ext cx="1262100" cy="12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77075" y="3671850"/>
            <a:ext cx="1064897" cy="12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ConstitutionDAO - Result</a:t>
            </a:r>
            <a:endParaRPr/>
          </a:p>
        </p:txBody>
      </p:sp>
      <p:pic>
        <p:nvPicPr>
          <p:cNvPr id="193" name="Google Shape;19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1017725"/>
            <a:ext cx="1855500" cy="12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/>
        </p:nvSpPr>
        <p:spPr>
          <a:xfrm>
            <a:off x="2681250" y="1372675"/>
            <a:ext cx="648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Raised $47Mil in 7 days. Gained confidence from Sotheby to participate.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</a:t>
            </a:r>
            <a:r>
              <a:rPr lang="en">
                <a:solidFill>
                  <a:srgbClr val="FF0000"/>
                </a:solidFill>
              </a:rPr>
              <a:t> Failed to win auction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650" y="1988275"/>
            <a:ext cx="1262100" cy="12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2681250" y="2109725"/>
            <a:ext cx="632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refunds were given on Juicebox at a hard pegged rate of 1ETH : 1Mil PEOPLE.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Varying strategies - get ETH back, hodl PEOPLE tokens for round 2.</a:t>
            </a:r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277875"/>
            <a:ext cx="3267997" cy="1682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934700" y="3647975"/>
            <a:ext cx="315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end, no voting was ever done on the DAO since they failed to purchase the Constitution. However in December 2022… Round 2 starting on Twitter!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11700" y="2343150"/>
            <a:ext cx="85206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Voting Power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Multisig wallets - signing power</a:t>
            </a:r>
            <a:endParaRPr/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311700" y="1171600"/>
            <a:ext cx="8520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n-of-m scheme where transactions are executed upon reaching required 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Nice code examples: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https://solidity-by-example.org/app/multi-sig-wallet/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4">
            <a:alphaModFix/>
          </a:blip>
          <a:srcRect b="14857" l="0" r="0" t="17175"/>
          <a:stretch/>
        </p:blipFill>
        <p:spPr>
          <a:xfrm>
            <a:off x="4070625" y="2167675"/>
            <a:ext cx="4739599" cy="23354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296525" y="2364425"/>
            <a:ext cx="3621600" cy="211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Do you trust your collaborators?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Harmony hack - $100M - Server  holding private key compromised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Parity - library self-destructed, contract ownership seized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Axie DAO - engineers looking for new job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Wallet types</a:t>
            </a:r>
            <a:endParaRPr/>
          </a:p>
        </p:txBody>
      </p:sp>
      <p:graphicFrame>
        <p:nvGraphicFramePr>
          <p:cNvPr id="217" name="Google Shape;217;p27"/>
          <p:cNvGraphicFramePr/>
          <p:nvPr/>
        </p:nvGraphicFramePr>
        <p:xfrm>
          <a:off x="952500" y="152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{FCC7CC72-C510-43CD-B368-A59BD6054FC2}</a:tableStyleId>
              </a:tblPr>
              <a:tblGrid>
                <a:gridCol w="3619500"/>
                <a:gridCol w="3619500"/>
              </a:tblGrid>
              <a:tr h="176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Software Wallets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Metamask. A software which generates private and public key pairs.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Additional front end features like displaying NFTs, organizing tokens into a portfolio, etc.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Can be non-custodial or custodial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Account Abstraction Wallets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Serves as a layer of abstraction between web3 and web2 - allow Email, Google, Facebook logins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Processes and emits pseudo-transactions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6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Hardware Wallets</a:t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USB key holding private and public keys.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Command line query of information.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Safer from social engineering attacks?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Multi-Sig Wallets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</a:t>
                      </a:r>
                      <a:r>
                        <a:rPr lang="en"/>
                        <a:t>Custom transactions requiring threshold of confirmations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 Maintenance of owners list in contract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" name="Google Shape;218;p27"/>
          <p:cNvSpPr txBox="1"/>
          <p:nvPr/>
        </p:nvSpPr>
        <p:spPr>
          <a:xfrm>
            <a:off x="2008200" y="1058225"/>
            <a:ext cx="15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 code era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5159825" y="1032875"/>
            <a:ext cx="250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Smart Contract wallets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Based Voting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311700" y="1095400"/>
            <a:ext cx="8520600" cy="19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Have a token contract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ERC20 - quantity of fungible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ERC721 - NFT holders go on allowlist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ERC5805 - vote and delegation tracking through NFT-like metadata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Decide the weight of each token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the token balance of each account in contract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Greatest token weight wins.</a:t>
            </a:r>
            <a:endParaRPr/>
          </a:p>
        </p:txBody>
      </p:sp>
      <p:sp>
        <p:nvSpPr>
          <p:cNvPr id="226" name="Google Shape;226;p28"/>
          <p:cNvSpPr txBox="1"/>
          <p:nvPr/>
        </p:nvSpPr>
        <p:spPr>
          <a:xfrm>
            <a:off x="506250" y="3313950"/>
            <a:ext cx="3768000" cy="1108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Voters are financially invested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Don't need to KYC wallet addresses and prevent sybil attacks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4842200" y="3313950"/>
            <a:ext cx="3768000" cy="1323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Flash loan for voting tokens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Usually whales, ie. investors, hold majority - plutocracy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Token trading / double counting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the voters?</a:t>
            </a:r>
            <a:endParaRPr/>
          </a:p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311700" y="982025"/>
            <a:ext cx="8520600" cy="1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identity be associated to wallet addresses? - Social Engineering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Voting history is fully transparent, an identity doxx would be bad.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Currently using allowlist contracts, Token ownerships, but ZK Proofs allow for full masking of identity!</a:t>
            </a:r>
            <a:endParaRPr/>
          </a:p>
        </p:txBody>
      </p:sp>
      <p:pic>
        <p:nvPicPr>
          <p:cNvPr id="234" name="Google Shape;2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2196400"/>
            <a:ext cx="7017127" cy="279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hacker's POV - Go for lowest hanging fruit</a:t>
            </a: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0" y="1058225"/>
            <a:ext cx="6013125" cy="36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/>
          <p:nvPr>
            <p:ph type="title"/>
          </p:nvPr>
        </p:nvSpPr>
        <p:spPr>
          <a:xfrm>
            <a:off x="311700" y="2343150"/>
            <a:ext cx="8520600" cy="7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Voting Strategies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Perceived image matters</a:t>
            </a:r>
            <a:endParaRPr/>
          </a:p>
        </p:txBody>
      </p:sp>
      <p:pic>
        <p:nvPicPr>
          <p:cNvPr id="251" name="Google Shape;2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1" cy="296335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/>
        </p:nvSpPr>
        <p:spPr>
          <a:xfrm>
            <a:off x="1326825" y="4436675"/>
            <a:ext cx="671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https://archive.devcon.org/resources/6/2022-statistics-on-makerdao-voter-delegation.pdf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Struggling with voter apathy</a:t>
            </a:r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1058225"/>
            <a:ext cx="6979666" cy="39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(power) delegation</a:t>
            </a:r>
            <a:endParaRPr/>
          </a:p>
        </p:txBody>
      </p:sp>
      <p:sp>
        <p:nvSpPr>
          <p:cNvPr id="264" name="Google Shape;264;p34"/>
          <p:cNvSpPr txBox="1"/>
          <p:nvPr>
            <p:ph idx="1" type="body"/>
          </p:nvPr>
        </p:nvSpPr>
        <p:spPr>
          <a:xfrm>
            <a:off x="311700" y="1095400"/>
            <a:ext cx="85206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Mostly investors hold the greatest voting power.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they delegating to parties with similar beliefs. Is this real power sharing?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Delegates have their own incentives and motivations as well. Bribery?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Investors generally have more financial expertise.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DAOs lock important decisions for core members only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Recognized vs Shadow Delegates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Delegating</a:t>
            </a:r>
            <a:r>
              <a:rPr lang="en"/>
              <a:t> to </a:t>
            </a:r>
            <a:r>
              <a:rPr lang="en"/>
              <a:t>arbitrary</a:t>
            </a:r>
            <a:r>
              <a:rPr lang="en"/>
              <a:t> players?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 Delegation contract / extension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Cannot delegate if already voted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pays gas fees?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further delegation / double voting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 undelegate functionality, lockups</a:t>
            </a:r>
            <a:endParaRPr/>
          </a:p>
        </p:txBody>
      </p:sp>
      <p:pic>
        <p:nvPicPr>
          <p:cNvPr id="265" name="Google Shape;2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100" y="2828174"/>
            <a:ext cx="3204526" cy="192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11700" y="3688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Conviction voting</a:t>
            </a:r>
            <a:endParaRPr/>
          </a:p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168425" y="1097050"/>
            <a:ext cx="4535700" cy="3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Intensity of certainty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Delegation is still a small percentage of the voting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Pro: Prevent flash voting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a flash loan to vote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Sell your voting power for important proposals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Con: Voter sentiment manipulation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a few "thought leadership" pieces on social media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Last minute bait and switch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Continuous vs Discrete conviction</a:t>
            </a:r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3">
            <a:alphaModFix/>
          </a:blip>
          <a:srcRect b="13468" l="16950" r="11707" t="7166"/>
          <a:stretch/>
        </p:blipFill>
        <p:spPr>
          <a:xfrm>
            <a:off x="5119200" y="868450"/>
            <a:ext cx="3409049" cy="213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 txBox="1"/>
          <p:nvPr/>
        </p:nvSpPr>
        <p:spPr>
          <a:xfrm>
            <a:off x="4938575" y="3200600"/>
            <a:ext cx="4064100" cy="1462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Contract specifics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AutoNum type="arabicPeriod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Tokens can maintain delegation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AutoNum type="arabicPeriod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Half life decay function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AutoNum type="arabicPeriod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Time tracking very important!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AutoNum type="alphaLcPeriod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Unix time - started 1970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AutoNum type="alphaLcPeriod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weeks/days/hours/minutes/now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Quadratic Voting</a:t>
            </a:r>
            <a:endParaRPr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11700" y="1171600"/>
            <a:ext cx="85206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reflection of the intensity of desire</a:t>
            </a:r>
            <a:endParaRPr/>
          </a:p>
        </p:txBody>
      </p:sp>
      <p:pic>
        <p:nvPicPr>
          <p:cNvPr id="280" name="Google Shape;2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2314300"/>
            <a:ext cx="1629675" cy="15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7875" y="2390500"/>
            <a:ext cx="1248426" cy="124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/>
          <p:nvPr/>
        </p:nvSpPr>
        <p:spPr>
          <a:xfrm>
            <a:off x="4646825" y="1728825"/>
            <a:ext cx="730800" cy="73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4646825" y="2795625"/>
            <a:ext cx="730800" cy="73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B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4646825" y="3862425"/>
            <a:ext cx="730800" cy="73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C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85" name="Google Shape;285;p36"/>
          <p:cNvCxnSpPr/>
          <p:nvPr/>
        </p:nvCxnSpPr>
        <p:spPr>
          <a:xfrm>
            <a:off x="5377625" y="2094225"/>
            <a:ext cx="2091600" cy="111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36"/>
          <p:cNvSpPr txBox="1"/>
          <p:nvPr/>
        </p:nvSpPr>
        <p:spPr>
          <a:xfrm>
            <a:off x="7503150" y="2975950"/>
            <a:ext cx="13293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Tally result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87" name="Google Shape;287;p36"/>
          <p:cNvCxnSpPr>
            <a:stCxn id="283" idx="3"/>
            <a:endCxn id="286" idx="1"/>
          </p:cNvCxnSpPr>
          <p:nvPr/>
        </p:nvCxnSpPr>
        <p:spPr>
          <a:xfrm>
            <a:off x="5377625" y="3161025"/>
            <a:ext cx="2125500" cy="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6"/>
          <p:cNvCxnSpPr>
            <a:stCxn id="284" idx="3"/>
            <a:endCxn id="286" idx="1"/>
          </p:cNvCxnSpPr>
          <p:nvPr/>
        </p:nvCxnSpPr>
        <p:spPr>
          <a:xfrm flipH="1" rot="10800000">
            <a:off x="5377625" y="3206925"/>
            <a:ext cx="2125500" cy="10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9" name="Google Shape;289;p36"/>
          <p:cNvSpPr txBox="1"/>
          <p:nvPr/>
        </p:nvSpPr>
        <p:spPr>
          <a:xfrm rot="1546004">
            <a:off x="5936219" y="2173021"/>
            <a:ext cx="616275" cy="4617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sqrt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 rot="-1674">
            <a:off x="5859956" y="2782574"/>
            <a:ext cx="6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sqrt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1" name="Google Shape;291;p36"/>
          <p:cNvSpPr txBox="1"/>
          <p:nvPr/>
        </p:nvSpPr>
        <p:spPr>
          <a:xfrm rot="-1459159">
            <a:off x="5859937" y="3468358"/>
            <a:ext cx="616286" cy="4617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sqrt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292" name="Google Shape;292;p36"/>
          <p:cNvCxnSpPr>
            <a:stCxn id="281" idx="3"/>
            <a:endCxn id="282" idx="1"/>
          </p:cNvCxnSpPr>
          <p:nvPr/>
        </p:nvCxnSpPr>
        <p:spPr>
          <a:xfrm flipH="1" rot="10800000">
            <a:off x="3716301" y="2094313"/>
            <a:ext cx="930600" cy="9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6"/>
          <p:cNvCxnSpPr>
            <a:stCxn id="281" idx="3"/>
            <a:endCxn id="283" idx="1"/>
          </p:cNvCxnSpPr>
          <p:nvPr/>
        </p:nvCxnSpPr>
        <p:spPr>
          <a:xfrm>
            <a:off x="3716301" y="3014713"/>
            <a:ext cx="930600" cy="1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6"/>
          <p:cNvCxnSpPr>
            <a:stCxn id="281" idx="3"/>
            <a:endCxn id="284" idx="1"/>
          </p:cNvCxnSpPr>
          <p:nvPr/>
        </p:nvCxnSpPr>
        <p:spPr>
          <a:xfrm>
            <a:off x="3716301" y="3014713"/>
            <a:ext cx="930600" cy="12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6"/>
          <p:cNvCxnSpPr>
            <a:endCxn id="281" idx="1"/>
          </p:cNvCxnSpPr>
          <p:nvPr/>
        </p:nvCxnSpPr>
        <p:spPr>
          <a:xfrm flipH="1" rot="10800000">
            <a:off x="1566375" y="3014713"/>
            <a:ext cx="9015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36"/>
          <p:cNvSpPr txBox="1"/>
          <p:nvPr/>
        </p:nvSpPr>
        <p:spPr>
          <a:xfrm>
            <a:off x="1442700" y="1944375"/>
            <a:ext cx="154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Protocol has allocation power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6160950" y="4083700"/>
            <a:ext cx="2595300" cy="738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Here, contract tallying function is important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311700" y="2190750"/>
            <a:ext cx="8520600" cy="13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Proposal Execution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5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Onchain, Offchain, Hybrid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311700" y="292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 execution</a:t>
            </a:r>
            <a:endParaRPr/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775" y="3564817"/>
            <a:ext cx="3694624" cy="130163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8"/>
          <p:cNvSpPr txBox="1"/>
          <p:nvPr/>
        </p:nvSpPr>
        <p:spPr>
          <a:xfrm>
            <a:off x="340800" y="1058125"/>
            <a:ext cx="4960500" cy="24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Onchain Execution</a:t>
            </a:r>
            <a:endParaRPr b="1" sz="1600" u="sng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Fair, automatic execution after locking period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○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 need to trust an executor or errors in execution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○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Used for high profile changes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Many token standards and extensions supporting vote counting methods.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Custom defined quorum mechanism.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Proposals are queued and time locked for some time after passing and before execution</a:t>
            </a:r>
            <a:endParaRPr sz="13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5635400" y="1179825"/>
            <a:ext cx="3215100" cy="19086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Offchain Execution</a:t>
            </a:r>
            <a:endParaRPr b="1" sz="1600" u="sng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Tally votes and an executor executes the action described in the proposal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Do you trust the executor?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- Did the executor make a mistake?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5635400" y="3394075"/>
            <a:ext cx="3215100" cy="1416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Hybrid Execution</a:t>
            </a:r>
            <a:endParaRPr b="1" sz="1600" u="sng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Proposal voting is onchain but robust discussions and developer meetings offchain in discussion forums.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Rage Quitting</a:t>
            </a:r>
            <a:endParaRPr/>
          </a:p>
        </p:txBody>
      </p:sp>
      <p:sp>
        <p:nvSpPr>
          <p:cNvPr id="317" name="Google Shape;317;p39"/>
          <p:cNvSpPr txBox="1"/>
          <p:nvPr>
            <p:ph idx="1" type="body"/>
          </p:nvPr>
        </p:nvSpPr>
        <p:spPr>
          <a:xfrm>
            <a:off x="235500" y="1095400"/>
            <a:ext cx="720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 not agree with important proposals? DAO management paying themselves a comfortable salary out of the treasury?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Trade in your governance tokens for a part of the treasury.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be manipulated! Deliberately make bad decision, exit before effects take place. Therefore, rage quitting has the following conditions: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Voted "yes" on active proposal: cannot withdraw until a certain time after implementation.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- Voted "no" or "abstain": can withdraw during grace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Strangely attracts very loyal and passionate members?</a:t>
            </a:r>
            <a:endParaRPr/>
          </a:p>
        </p:txBody>
      </p:sp>
      <p:pic>
        <p:nvPicPr>
          <p:cNvPr id="318" name="Google Shape;3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625" y="3309400"/>
            <a:ext cx="1609426" cy="160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311700" y="2419350"/>
            <a:ext cx="85206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Putting it all together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DAO Technical Architecture</a:t>
            </a:r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2207350" y="1343275"/>
            <a:ext cx="1833900" cy="257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Token Type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Token Weight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Vote </a:t>
            </a: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Eligibility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Distribution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Delegation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0" name="Google Shape;330;p41"/>
          <p:cNvSpPr txBox="1"/>
          <p:nvPr/>
        </p:nvSpPr>
        <p:spPr>
          <a:xfrm>
            <a:off x="668400" y="2423125"/>
            <a:ext cx="177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Token Contract</a:t>
            </a: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1" name="Google Shape;331;p41"/>
          <p:cNvSpPr/>
          <p:nvPr/>
        </p:nvSpPr>
        <p:spPr>
          <a:xfrm>
            <a:off x="5189775" y="1341475"/>
            <a:ext cx="1833900" cy="257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Token Tracking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Voting Strategy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Success Criteria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Proposal Queue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Proposal Execution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(Onchain)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7221600" y="2346925"/>
            <a:ext cx="126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Governance </a:t>
            </a: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Contract</a:t>
            </a: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3" name="Google Shape;333;p41"/>
          <p:cNvSpPr/>
          <p:nvPr/>
        </p:nvSpPr>
        <p:spPr>
          <a:xfrm>
            <a:off x="1831450" y="4042225"/>
            <a:ext cx="56637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ld Standard TT"/>
                <a:ea typeface="Old Standard TT"/>
                <a:cs typeface="Old Standard TT"/>
                <a:sym typeface="Old Standard TT"/>
              </a:rPr>
              <a:t>Token Management, Timelocking, Vote Tallying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34" name="Google Shape;334;p41"/>
          <p:cNvSpPr txBox="1"/>
          <p:nvPr/>
        </p:nvSpPr>
        <p:spPr>
          <a:xfrm>
            <a:off x="3706650" y="4651600"/>
            <a:ext cx="2066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Supporting C</a:t>
            </a:r>
            <a:r>
              <a:rPr b="1" lang="en" sz="15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ontract</a:t>
            </a:r>
            <a:endParaRPr b="1" sz="15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