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y="5143500" cx="9144000"/>
  <p:notesSz cx="6858000" cy="9144000"/>
  <p:embeddedFontLst>
    <p:embeddedFont>
      <p:font typeface="Old Standard TT"/>
      <p:regular r:id="rId56"/>
      <p:bold r:id="rId57"/>
      <p:italic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759D3AD-E012-4207-8E7D-D8CF14D60653}">
  <a:tblStyle styleId="{B759D3AD-E012-4207-8E7D-D8CF14D6065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42737C02-30B4-4A5D-93EC-942BC0A58A5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font" Target="fonts/OldStandardTT-bold.fntdata"/><Relationship Id="rId12" Type="http://schemas.openxmlformats.org/officeDocument/2006/relationships/slide" Target="slides/slide6.xml"/><Relationship Id="rId56" Type="http://schemas.openxmlformats.org/officeDocument/2006/relationships/font" Target="fonts/OldStandardTT-regular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8" Type="http://schemas.openxmlformats.org/officeDocument/2006/relationships/font" Target="fonts/OldStandardTT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ae4ad6bdfc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ae4ad6bdfc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2716e276bc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2716e276b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Value Types are directly stored in memory. Copying a value type will result in two copies in memory (deep copy)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253c5cd91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253c5cd91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opcode, data value, data value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253c5cd91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253c5cd91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opcode, data value, data value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253c5cd919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253c5cd919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Usually two registers due to instruction set decisions - bitcoin miner cpus are much more specialized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Clock is usually a few billion instructions per second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253c5cd919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253c5cd919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this course focuses on the top corner only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ABI (Application Binary Interface) used to interact with the web (JS library) Bytecode for EVM execution</a:t>
            </a:r>
            <a:br>
              <a:rPr lang="en"/>
            </a:br>
            <a:r>
              <a:rPr lang="en"/>
              <a:t>- In a nutshell, EVM is like compiler, Bytecode is Assembly and EVM is also the CPU minus the Persistent storage which is the blockchain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253c5cd919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253c5cd919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memory is temporary, renewed after every execution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stack is even more immediate, like registers in a cpu, used when an operation needs to happen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Account storage stores the state of the account. Gas here is incredibly expensive because it is written on the blockchain.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ae4ad6bdf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ae4ad6bdf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Value Types are directly stored in memory. Copying a value type will result in two copies in memory (deep copy)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b6e034a01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b6e034a01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Value Types are directly stored in memory. Copying a value type will result in two copies in memory (deep copy)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ae4ad6bdf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ae4ad6bdf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ae4ad6bdfc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ae4ad6bdf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ae4ad6bdf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ae4ad6bdf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ae4ad6bdfc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ae4ad6bdfc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be used to generate documentation automatically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a web3 community manager point of view, this is important!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ae4ad6bdfc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ae4ad6bdfc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ae4ad6bdfc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2ae4ad6bdfc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Developers have the pressure to deliver on time. Sometimes this transforms into putting an umbrella to cover unfinished roofs and using a pole to prop up an unfinished wall. In the end, adding anything new, even something as simple as a window, takes a very long time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 can then be calculated as developer salaries. In this way, companies waste a lot of money!! Managing deadlines vs technical debt is an incredibly important business decision.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ae4ad6bdfc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ae4ad6bdfc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ae4ad6bdfc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ae4ad6bdfc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b4c643ce9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b4c643ce9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1c07d82658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1c07d82658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Value Types are directly stored in memory. Copying a value type will result in two copies in memory (deep copy)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1c07d82658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1c07d82658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c07d82658f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c07d82658f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1c07d82658f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1c07d82658f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Likewise in Hexadecimal, you have additionally A - F! 16 = 10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b6e034a01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b6e034a01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Likewise in Hexadecimal, you have additionally A - F! 16 = 10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1c07d82658f_1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1c07d82658f_1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solidity, we have all these possible types to represent numbers. Mostly dont matter and if you just write int then 256 is assumed. But memory matters.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 means unsigned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1c07d82658f_1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1c07d82658f_1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1c07d82658f_1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1c07d82658f_1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go from decimal to binary? homework!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1fb51929b9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1fb51929b9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a value type because size is predetermined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2ae4ad6bdfc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2ae4ad6bdfc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1c07d82658f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1c07d82658f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always write true or false. Some languages can support 1 and 0 but Solidity too young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1c07d82658f_1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1c07d82658f_1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1d50fd4e7c0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1d50fd4e7c0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keccak exception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1d50fd4e7c0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1d50fd4e7c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 Types stores an address to where the actual type is stored!! When a changes, b will also change in value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1d50fd4e7c0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1d50fd4e7c0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1d50fd4e7c0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1d50fd4e7c0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1d50fd4e7c0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1d50fd4e7c0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Can't go from bytes to string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can' go from int to bytes</a:t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1d50fd4e7c0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1d50fd4e7c0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be any type - even complex types!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1d50fd4e7c0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1d50fd4e7c0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used to group different Types together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nesting allowed have a struct in a struct (or a mapping where the key maps to a mapping)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keep similar types together to save memory - memory fragmentation - tight variable packing </a:t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2b013d9ef6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2b013d9ef6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1d50fd4e7c0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1d50fd4e7c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1d50fd4e7c0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1d50fd4e7c0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1d50fd4e7c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1d50fd4e7c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1d50fd4e7c0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1d50fd4e7c0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1d50fd4e7c0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1d50fd4e7c0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1d50fd4e7c0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1d50fd4e7c0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1d50fd4e7c0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1d50fd4e7c0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1d50fd4e7c0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1d50fd4e7c0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loop control</a:t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1d50fd4e7c0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1d50fd4e7c0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1d50fd4e7c0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1d50fd4e7c0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Relationship Id="rId5" Type="http://schemas.openxmlformats.org/officeDocument/2006/relationships/hyperlink" Target="https://docs.soliditylang.org/en/latest/" TargetMode="External"/><Relationship Id="rId6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10" Type="http://schemas.openxmlformats.org/officeDocument/2006/relationships/image" Target="../media/image2.png"/><Relationship Id="rId9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3.png"/><Relationship Id="rId8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10" Type="http://schemas.openxmlformats.org/officeDocument/2006/relationships/image" Target="../media/image2.png"/><Relationship Id="rId9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3.png"/><Relationship Id="rId8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4.png"/><Relationship Id="rId4" Type="http://schemas.openxmlformats.org/officeDocument/2006/relationships/image" Target="../media/image2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7.png"/><Relationship Id="rId4" Type="http://schemas.openxmlformats.org/officeDocument/2006/relationships/image" Target="../media/image2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5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Lecture 2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Solidity and Remix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87900" y="3688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Disclaimer</a:t>
            </a:r>
            <a:endParaRPr/>
          </a:p>
        </p:txBody>
      </p:sp>
      <p:pic>
        <p:nvPicPr>
          <p:cNvPr id="66" name="Google Shape;6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1400" y="1439625"/>
            <a:ext cx="1113826" cy="172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/>
          <p:cNvPicPr preferRelativeResize="0"/>
          <p:nvPr/>
        </p:nvPicPr>
        <p:blipFill rotWithShape="1">
          <a:blip r:embed="rId4">
            <a:alphaModFix/>
          </a:blip>
          <a:srcRect b="26804" l="22067" r="24200" t="27140"/>
          <a:stretch/>
        </p:blipFill>
        <p:spPr>
          <a:xfrm>
            <a:off x="3464525" y="1719675"/>
            <a:ext cx="2196826" cy="125535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 txBox="1"/>
          <p:nvPr/>
        </p:nvSpPr>
        <p:spPr>
          <a:xfrm>
            <a:off x="2090400" y="3721325"/>
            <a:ext cx="5335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1. A lot of fish in the sea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2. </a:t>
            </a:r>
            <a:r>
              <a:rPr lang="en" sz="1800" u="sng">
                <a:solidFill>
                  <a:schemeClr val="hlink"/>
                </a:solidFill>
                <a:latin typeface="Old Standard TT"/>
                <a:ea typeface="Old Standard TT"/>
                <a:cs typeface="Old Standard TT"/>
                <a:sym typeface="Old Standard TT"/>
                <a:hlinkClick r:id="rId5"/>
              </a:rPr>
              <a:t>Documentation</a:t>
            </a: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should be frequently referenced.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69" name="Google Shape;69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42350" y="1515425"/>
            <a:ext cx="1688200" cy="168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1893175"/>
            <a:ext cx="8520600" cy="168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</a:rPr>
              <a:t>Computer Architecture Basics</a:t>
            </a:r>
            <a:endParaRPr sz="2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240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2 Architecture</a:t>
            </a:r>
            <a:endParaRPr/>
          </a:p>
        </p:txBody>
      </p:sp>
      <p:sp>
        <p:nvSpPr>
          <p:cNvPr id="80" name="Google Shape;80;p16"/>
          <p:cNvSpPr/>
          <p:nvPr/>
        </p:nvSpPr>
        <p:spPr>
          <a:xfrm>
            <a:off x="1038150" y="1163975"/>
            <a:ext cx="3534000" cy="839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6"/>
          <p:cNvSpPr/>
          <p:nvPr/>
        </p:nvSpPr>
        <p:spPr>
          <a:xfrm>
            <a:off x="1038150" y="2000075"/>
            <a:ext cx="3534000" cy="10761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Compilers</a:t>
            </a:r>
            <a:endParaRPr sz="2400"/>
          </a:p>
        </p:txBody>
      </p:sp>
      <p:sp>
        <p:nvSpPr>
          <p:cNvPr id="82" name="Google Shape;82;p16"/>
          <p:cNvSpPr/>
          <p:nvPr/>
        </p:nvSpPr>
        <p:spPr>
          <a:xfrm>
            <a:off x="1038150" y="3034175"/>
            <a:ext cx="3534000" cy="1076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ASM</a:t>
            </a:r>
            <a:endParaRPr sz="3000"/>
          </a:p>
        </p:txBody>
      </p:sp>
      <p:sp>
        <p:nvSpPr>
          <p:cNvPr id="83" name="Google Shape;83;p16"/>
          <p:cNvSpPr/>
          <p:nvPr/>
        </p:nvSpPr>
        <p:spPr>
          <a:xfrm>
            <a:off x="1038150" y="4110225"/>
            <a:ext cx="3534000" cy="660600"/>
          </a:xfrm>
          <a:prstGeom prst="rect">
            <a:avLst/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CPU</a:t>
            </a:r>
            <a:endParaRPr sz="3600"/>
          </a:p>
        </p:txBody>
      </p:sp>
      <p:sp>
        <p:nvSpPr>
          <p:cNvPr id="84" name="Google Shape;84;p16"/>
          <p:cNvSpPr txBox="1"/>
          <p:nvPr/>
        </p:nvSpPr>
        <p:spPr>
          <a:xfrm>
            <a:off x="5788275" y="4133475"/>
            <a:ext cx="2635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 Turing Complete, Finite State Machine</a:t>
            </a:r>
            <a:endParaRPr sz="1800"/>
          </a:p>
        </p:txBody>
      </p:sp>
      <p:sp>
        <p:nvSpPr>
          <p:cNvPr id="85" name="Google Shape;85;p16"/>
          <p:cNvSpPr txBox="1"/>
          <p:nvPr/>
        </p:nvSpPr>
        <p:spPr>
          <a:xfrm>
            <a:off x="5801550" y="3299825"/>
            <a:ext cx="2635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Machine Language - "Low Level"</a:t>
            </a:r>
            <a:endParaRPr sz="1800"/>
          </a:p>
        </p:txBody>
      </p:sp>
      <p:sp>
        <p:nvSpPr>
          <p:cNvPr id="86" name="Google Shape;86;p16"/>
          <p:cNvSpPr txBox="1"/>
          <p:nvPr/>
        </p:nvSpPr>
        <p:spPr>
          <a:xfrm>
            <a:off x="5801550" y="1962400"/>
            <a:ext cx="2635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Translation program: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Bytecode -VM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Machine Code - Binary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ASM - Instructions</a:t>
            </a:r>
            <a:endParaRPr sz="1800"/>
          </a:p>
        </p:txBody>
      </p:sp>
      <p:sp>
        <p:nvSpPr>
          <p:cNvPr id="87" name="Google Shape;87;p16"/>
          <p:cNvSpPr txBox="1"/>
          <p:nvPr/>
        </p:nvSpPr>
        <p:spPr>
          <a:xfrm>
            <a:off x="5870425" y="1234913"/>
            <a:ext cx="2635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Human readable -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"High Level"</a:t>
            </a:r>
            <a:endParaRPr sz="1800"/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5301" y="1333500"/>
            <a:ext cx="522612" cy="572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19324" y="1333500"/>
            <a:ext cx="1362806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07075" y="1334801"/>
            <a:ext cx="572701" cy="572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40400" y="3034175"/>
            <a:ext cx="1539675" cy="41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08925" y="3410225"/>
            <a:ext cx="771525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21900" y="3705500"/>
            <a:ext cx="2250110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461325" y="2216088"/>
            <a:ext cx="932604" cy="66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682577" y="2194520"/>
            <a:ext cx="626336" cy="7388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/>
          <p:nvPr>
            <p:ph type="title"/>
          </p:nvPr>
        </p:nvSpPr>
        <p:spPr>
          <a:xfrm>
            <a:off x="311700" y="240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2 Architecture</a:t>
            </a:r>
            <a:endParaRPr/>
          </a:p>
        </p:txBody>
      </p:sp>
      <p:sp>
        <p:nvSpPr>
          <p:cNvPr id="101" name="Google Shape;101;p17"/>
          <p:cNvSpPr/>
          <p:nvPr/>
        </p:nvSpPr>
        <p:spPr>
          <a:xfrm>
            <a:off x="1038150" y="1163975"/>
            <a:ext cx="3534000" cy="839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7"/>
          <p:cNvSpPr/>
          <p:nvPr/>
        </p:nvSpPr>
        <p:spPr>
          <a:xfrm>
            <a:off x="1038150" y="2000075"/>
            <a:ext cx="3534000" cy="10761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Compilers</a:t>
            </a:r>
            <a:endParaRPr sz="2400"/>
          </a:p>
        </p:txBody>
      </p:sp>
      <p:sp>
        <p:nvSpPr>
          <p:cNvPr id="103" name="Google Shape;103;p17"/>
          <p:cNvSpPr/>
          <p:nvPr/>
        </p:nvSpPr>
        <p:spPr>
          <a:xfrm>
            <a:off x="1038150" y="3034175"/>
            <a:ext cx="3534000" cy="1076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ASM</a:t>
            </a:r>
            <a:endParaRPr sz="3000"/>
          </a:p>
        </p:txBody>
      </p:sp>
      <p:sp>
        <p:nvSpPr>
          <p:cNvPr id="104" name="Google Shape;104;p17"/>
          <p:cNvSpPr/>
          <p:nvPr/>
        </p:nvSpPr>
        <p:spPr>
          <a:xfrm>
            <a:off x="1038150" y="4110225"/>
            <a:ext cx="3534000" cy="660600"/>
          </a:xfrm>
          <a:prstGeom prst="rect">
            <a:avLst/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CPU</a:t>
            </a:r>
            <a:endParaRPr sz="3600"/>
          </a:p>
        </p:txBody>
      </p:sp>
      <p:sp>
        <p:nvSpPr>
          <p:cNvPr id="105" name="Google Shape;105;p17"/>
          <p:cNvSpPr txBox="1"/>
          <p:nvPr/>
        </p:nvSpPr>
        <p:spPr>
          <a:xfrm>
            <a:off x="5801550" y="3147425"/>
            <a:ext cx="2635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01101 256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00100 0001 0001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10001 0x456 0010</a:t>
            </a:r>
            <a:endParaRPr sz="1800"/>
          </a:p>
        </p:txBody>
      </p:sp>
      <p:sp>
        <p:nvSpPr>
          <p:cNvPr id="106" name="Google Shape;106;p17"/>
          <p:cNvSpPr txBox="1"/>
          <p:nvPr/>
        </p:nvSpPr>
        <p:spPr>
          <a:xfrm>
            <a:off x="5801550" y="2038600"/>
            <a:ext cx="2635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malloc 256;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add 1 1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write a 2</a:t>
            </a:r>
            <a:endParaRPr sz="1800"/>
          </a:p>
        </p:txBody>
      </p:sp>
      <p:sp>
        <p:nvSpPr>
          <p:cNvPr id="107" name="Google Shape;107;p17"/>
          <p:cNvSpPr txBox="1"/>
          <p:nvPr/>
        </p:nvSpPr>
        <p:spPr>
          <a:xfrm>
            <a:off x="5870425" y="1234913"/>
            <a:ext cx="2635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uint</a:t>
            </a:r>
            <a:r>
              <a:rPr lang="en" sz="1800"/>
              <a:t> a;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 = 1+1</a:t>
            </a:r>
            <a:endParaRPr sz="1800"/>
          </a:p>
        </p:txBody>
      </p:sp>
      <p:pic>
        <p:nvPicPr>
          <p:cNvPr id="108" name="Google Shape;10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5301" y="1333500"/>
            <a:ext cx="522612" cy="572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19324" y="1333500"/>
            <a:ext cx="1362806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07075" y="1334801"/>
            <a:ext cx="572701" cy="572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40400" y="3034175"/>
            <a:ext cx="1539675" cy="41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08925" y="3410225"/>
            <a:ext cx="771525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21900" y="3705500"/>
            <a:ext cx="2250110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461325" y="2216088"/>
            <a:ext cx="932604" cy="66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682577" y="2194520"/>
            <a:ext cx="626336" cy="7388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type="title"/>
          </p:nvPr>
        </p:nvSpPr>
        <p:spPr>
          <a:xfrm>
            <a:off x="311700" y="164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2 Architecture</a:t>
            </a:r>
            <a:endParaRPr/>
          </a:p>
        </p:txBody>
      </p:sp>
      <p:grpSp>
        <p:nvGrpSpPr>
          <p:cNvPr id="121" name="Google Shape;121;p18"/>
          <p:cNvGrpSpPr/>
          <p:nvPr/>
        </p:nvGrpSpPr>
        <p:grpSpPr>
          <a:xfrm>
            <a:off x="650488" y="737050"/>
            <a:ext cx="5856226" cy="4286525"/>
            <a:chOff x="1643888" y="737050"/>
            <a:chExt cx="5856226" cy="4286525"/>
          </a:xfrm>
        </p:grpSpPr>
        <p:sp>
          <p:nvSpPr>
            <p:cNvPr id="122" name="Google Shape;122;p18"/>
            <p:cNvSpPr/>
            <p:nvPr/>
          </p:nvSpPr>
          <p:spPr>
            <a:xfrm>
              <a:off x="1887525" y="2217825"/>
              <a:ext cx="692100" cy="8337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FFE599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FFF2CC">
                  <a:alpha val="57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23" name="Google Shape;123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643888" y="737050"/>
              <a:ext cx="5856226" cy="42865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" name="Google Shape;124;p18"/>
            <p:cNvSpPr/>
            <p:nvPr/>
          </p:nvSpPr>
          <p:spPr>
            <a:xfrm>
              <a:off x="5554900" y="1981900"/>
              <a:ext cx="768300" cy="8337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8"/>
            <p:cNvSpPr/>
            <p:nvPr/>
          </p:nvSpPr>
          <p:spPr>
            <a:xfrm>
              <a:off x="2134275" y="3051525"/>
              <a:ext cx="692100" cy="19719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8"/>
            <p:cNvSpPr/>
            <p:nvPr/>
          </p:nvSpPr>
          <p:spPr>
            <a:xfrm>
              <a:off x="3114425" y="2941400"/>
              <a:ext cx="550500" cy="16515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5468925" y="3177325"/>
              <a:ext cx="476700" cy="12741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A64D7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8"/>
            <p:cNvSpPr/>
            <p:nvPr/>
          </p:nvSpPr>
          <p:spPr>
            <a:xfrm>
              <a:off x="4294125" y="4674075"/>
              <a:ext cx="1651500" cy="3495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9" name="Google Shape;129;p18"/>
          <p:cNvSpPr txBox="1"/>
          <p:nvPr/>
        </p:nvSpPr>
        <p:spPr>
          <a:xfrm>
            <a:off x="6740400" y="1570475"/>
            <a:ext cx="2091900" cy="615600"/>
          </a:xfrm>
          <a:prstGeom prst="rect">
            <a:avLst/>
          </a:prstGeom>
          <a:noFill/>
          <a:ln cap="flat" cmpd="sng" w="38100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Decode Instructions into opcode and data</a:t>
            </a:r>
            <a:endParaRPr/>
          </a:p>
        </p:txBody>
      </p:sp>
      <p:sp>
        <p:nvSpPr>
          <p:cNvPr id="130" name="Google Shape;130;p18"/>
          <p:cNvSpPr txBox="1"/>
          <p:nvPr/>
        </p:nvSpPr>
        <p:spPr>
          <a:xfrm>
            <a:off x="6740400" y="2263950"/>
            <a:ext cx="2091900" cy="1046700"/>
          </a:xfrm>
          <a:prstGeom prst="rect">
            <a:avLst/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Registers to hold </a:t>
            </a:r>
            <a:r>
              <a:rPr b="1" lang="en"/>
              <a:t>program</a:t>
            </a:r>
            <a:r>
              <a:rPr lang="en"/>
              <a:t> essentials:</a:t>
            </a:r>
            <a:br>
              <a:rPr lang="en"/>
            </a:br>
            <a:r>
              <a:rPr lang="en"/>
              <a:t>Data, loops state, pointers</a:t>
            </a:r>
            <a:endParaRPr/>
          </a:p>
        </p:txBody>
      </p:sp>
      <p:sp>
        <p:nvSpPr>
          <p:cNvPr id="131" name="Google Shape;131;p18"/>
          <p:cNvSpPr txBox="1"/>
          <p:nvPr/>
        </p:nvSpPr>
        <p:spPr>
          <a:xfrm>
            <a:off x="6740400" y="3388525"/>
            <a:ext cx="2091900" cy="400200"/>
          </a:xfrm>
          <a:prstGeom prst="rect">
            <a:avLst/>
          </a:prstGeom>
          <a:noFill/>
          <a:ln cap="flat" cmpd="sng" w="38100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Algorithmic Logic Unit</a:t>
            </a:r>
            <a:endParaRPr/>
          </a:p>
        </p:txBody>
      </p:sp>
      <p:sp>
        <p:nvSpPr>
          <p:cNvPr id="132" name="Google Shape;132;p18"/>
          <p:cNvSpPr txBox="1"/>
          <p:nvPr/>
        </p:nvSpPr>
        <p:spPr>
          <a:xfrm>
            <a:off x="6740400" y="3866600"/>
            <a:ext cx="2091900" cy="1046700"/>
          </a:xfrm>
          <a:prstGeom prst="rect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Ram read write, towards more permanent storage.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Indexed by </a:t>
            </a:r>
            <a:r>
              <a:rPr b="1" lang="en"/>
              <a:t>Addresses</a:t>
            </a:r>
            <a:endParaRPr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/>
          <p:cNvSpPr txBox="1"/>
          <p:nvPr>
            <p:ph type="title"/>
          </p:nvPr>
        </p:nvSpPr>
        <p:spPr>
          <a:xfrm>
            <a:off x="311700" y="164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3 Architecture</a:t>
            </a:r>
            <a:endParaRPr/>
          </a:p>
        </p:txBody>
      </p:sp>
      <p:pic>
        <p:nvPicPr>
          <p:cNvPr id="138" name="Google Shape;13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6675" y="737050"/>
            <a:ext cx="6990639" cy="4101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9"/>
          <p:cNvSpPr txBox="1"/>
          <p:nvPr/>
        </p:nvSpPr>
        <p:spPr>
          <a:xfrm>
            <a:off x="1184575" y="4713300"/>
            <a:ext cx="7536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Source:  https://hackernoon.com/ethernaut-lvl-0-walkthrough-abis-web3-and-how-to-abuse-them-d92a8842d71b</a:t>
            </a:r>
            <a:endParaRPr sz="1100"/>
          </a:p>
        </p:txBody>
      </p:sp>
      <p:sp>
        <p:nvSpPr>
          <p:cNvPr id="140" name="Google Shape;140;p19"/>
          <p:cNvSpPr txBox="1"/>
          <p:nvPr/>
        </p:nvSpPr>
        <p:spPr>
          <a:xfrm>
            <a:off x="66928" y="1555349"/>
            <a:ext cx="1584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Remix</a:t>
            </a:r>
            <a:endParaRPr sz="10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IDE - Code &amp; Compiler</a:t>
            </a:r>
            <a:endParaRPr sz="10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41" name="Google Shape;141;p19"/>
          <p:cNvSpPr txBox="1"/>
          <p:nvPr/>
        </p:nvSpPr>
        <p:spPr>
          <a:xfrm>
            <a:off x="77757" y="2519165"/>
            <a:ext cx="1193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Full Node</a:t>
            </a:r>
            <a:endParaRPr sz="11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RPC execution</a:t>
            </a:r>
            <a:endParaRPr sz="11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42" name="Google Shape;142;p19"/>
          <p:cNvSpPr txBox="1"/>
          <p:nvPr/>
        </p:nvSpPr>
        <p:spPr>
          <a:xfrm>
            <a:off x="56590" y="3812409"/>
            <a:ext cx="158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Blockchain</a:t>
            </a:r>
            <a:endParaRPr sz="11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Remote or Simulated</a:t>
            </a:r>
            <a:endParaRPr sz="11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/>
          <p:nvPr>
            <p:ph type="title"/>
          </p:nvPr>
        </p:nvSpPr>
        <p:spPr>
          <a:xfrm>
            <a:off x="311700" y="164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EVM - every line of code costs gas!</a:t>
            </a:r>
            <a:endParaRPr/>
          </a:p>
        </p:txBody>
      </p:sp>
      <p:pic>
        <p:nvPicPr>
          <p:cNvPr id="148" name="Google Shape;14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9288" y="734600"/>
            <a:ext cx="7297830" cy="4101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1"/>
          <p:cNvSpPr txBox="1"/>
          <p:nvPr>
            <p:ph type="title"/>
          </p:nvPr>
        </p:nvSpPr>
        <p:spPr>
          <a:xfrm>
            <a:off x="311700" y="2350375"/>
            <a:ext cx="8520600" cy="7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Solidity File Structure</a:t>
            </a:r>
            <a:endParaRPr sz="2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2"/>
          <p:cNvSpPr txBox="1"/>
          <p:nvPr>
            <p:ph type="title"/>
          </p:nvPr>
        </p:nvSpPr>
        <p:spPr>
          <a:xfrm>
            <a:off x="6475639" y="140393"/>
            <a:ext cx="2540700" cy="7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Bonus Point</a:t>
            </a:r>
            <a:endParaRPr sz="2700">
              <a:solidFill>
                <a:schemeClr val="lt1"/>
              </a:solidFill>
            </a:endParaRPr>
          </a:p>
        </p:txBody>
      </p:sp>
      <p:sp>
        <p:nvSpPr>
          <p:cNvPr id="159" name="Google Shape;159;p22"/>
          <p:cNvSpPr txBox="1"/>
          <p:nvPr/>
        </p:nvSpPr>
        <p:spPr>
          <a:xfrm>
            <a:off x="727025" y="1625050"/>
            <a:ext cx="757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I 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60" name="Google Shape;160;p22"/>
          <p:cNvSpPr txBox="1"/>
          <p:nvPr/>
        </p:nvSpPr>
        <p:spPr>
          <a:xfrm>
            <a:off x="783450" y="1594350"/>
            <a:ext cx="7577100" cy="19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If a completely empty smart contract is compiled, would the resulting transaction payload, be:</a:t>
            </a:r>
            <a:endParaRPr sz="2300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A) Completely empty</a:t>
            </a:r>
            <a:endParaRPr sz="2300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B) Contain something</a:t>
            </a:r>
            <a:endParaRPr sz="2300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3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Inside a .sol source file</a:t>
            </a:r>
            <a:endParaRPr/>
          </a:p>
        </p:txBody>
      </p:sp>
      <p:sp>
        <p:nvSpPr>
          <p:cNvPr id="166" name="Google Shape;166;p23"/>
          <p:cNvSpPr txBox="1"/>
          <p:nvPr>
            <p:ph idx="1" type="body"/>
          </p:nvPr>
        </p:nvSpPr>
        <p:spPr>
          <a:xfrm>
            <a:off x="808150" y="1031350"/>
            <a:ext cx="6947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➢"/>
            </a:pPr>
            <a:r>
              <a:rPr lang="en" sz="1700"/>
              <a:t>SPDX-License-Identifier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https://spdx.dev/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Can have an "unlicensed" identifier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➢"/>
            </a:pPr>
            <a:r>
              <a:rPr lang="en" sz="1700"/>
              <a:t>pragma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solidity version (to match compiler)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ABI encoder / decoder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Experimental pragmas: ABIv2, SMTchecker (Formal Verification)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➢"/>
            </a:pPr>
            <a:r>
              <a:rPr lang="en" sz="1700"/>
              <a:t>Import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➢"/>
            </a:pPr>
            <a:r>
              <a:rPr lang="en" sz="1700"/>
              <a:t>Comments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Single line: //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Multi line: /* */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Natspec</a:t>
            </a:r>
            <a:endParaRPr sz="17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npm version semantic</a:t>
            </a:r>
            <a:endParaRPr/>
          </a:p>
        </p:txBody>
      </p:sp>
      <p:sp>
        <p:nvSpPr>
          <p:cNvPr id="172" name="Google Shape;172;p24"/>
          <p:cNvSpPr/>
          <p:nvPr/>
        </p:nvSpPr>
        <p:spPr>
          <a:xfrm>
            <a:off x="3649500" y="2016750"/>
            <a:ext cx="922500" cy="8754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F4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0</a:t>
            </a:r>
            <a:endParaRPr b="1" sz="2400"/>
          </a:p>
        </p:txBody>
      </p:sp>
      <p:sp>
        <p:nvSpPr>
          <p:cNvPr id="173" name="Google Shape;173;p24"/>
          <p:cNvSpPr/>
          <p:nvPr/>
        </p:nvSpPr>
        <p:spPr>
          <a:xfrm>
            <a:off x="5219000" y="2016750"/>
            <a:ext cx="922500" cy="8754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D9EA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8</a:t>
            </a:r>
            <a:endParaRPr b="1" sz="2400"/>
          </a:p>
        </p:txBody>
      </p:sp>
      <p:sp>
        <p:nvSpPr>
          <p:cNvPr id="174" name="Google Shape;174;p24"/>
          <p:cNvSpPr/>
          <p:nvPr/>
        </p:nvSpPr>
        <p:spPr>
          <a:xfrm>
            <a:off x="6735475" y="2016750"/>
            <a:ext cx="922500" cy="8754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33</a:t>
            </a:r>
            <a:endParaRPr b="1" sz="2100"/>
          </a:p>
        </p:txBody>
      </p:sp>
      <p:sp>
        <p:nvSpPr>
          <p:cNvPr id="175" name="Google Shape;175;p24"/>
          <p:cNvSpPr/>
          <p:nvPr/>
        </p:nvSpPr>
        <p:spPr>
          <a:xfrm>
            <a:off x="1404025" y="2016750"/>
            <a:ext cx="1206000" cy="2032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^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this specific version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&gt;=  &lt;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range of versions to use</a:t>
            </a:r>
            <a:endParaRPr/>
          </a:p>
        </p:txBody>
      </p:sp>
      <p:sp>
        <p:nvSpPr>
          <p:cNvPr id="176" name="Google Shape;176;p24"/>
          <p:cNvSpPr/>
          <p:nvPr/>
        </p:nvSpPr>
        <p:spPr>
          <a:xfrm>
            <a:off x="4757875" y="2782800"/>
            <a:ext cx="92700" cy="10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4"/>
          <p:cNvSpPr/>
          <p:nvPr/>
        </p:nvSpPr>
        <p:spPr>
          <a:xfrm>
            <a:off x="6358075" y="2782800"/>
            <a:ext cx="92700" cy="10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4"/>
          <p:cNvSpPr txBox="1"/>
          <p:nvPr/>
        </p:nvSpPr>
        <p:spPr>
          <a:xfrm>
            <a:off x="3661525" y="3339825"/>
            <a:ext cx="13914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Major Release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Breaking changes</a:t>
            </a:r>
            <a:endParaRPr sz="1700"/>
          </a:p>
        </p:txBody>
      </p:sp>
      <p:sp>
        <p:nvSpPr>
          <p:cNvPr id="179" name="Google Shape;179;p24"/>
          <p:cNvSpPr txBox="1"/>
          <p:nvPr/>
        </p:nvSpPr>
        <p:spPr>
          <a:xfrm>
            <a:off x="5219000" y="3345600"/>
            <a:ext cx="13914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Minor Release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Features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Backwards Compatible</a:t>
            </a:r>
            <a:endParaRPr sz="1700"/>
          </a:p>
        </p:txBody>
      </p:sp>
      <p:sp>
        <p:nvSpPr>
          <p:cNvPr id="180" name="Google Shape;180;p24"/>
          <p:cNvSpPr txBox="1"/>
          <p:nvPr/>
        </p:nvSpPr>
        <p:spPr>
          <a:xfrm>
            <a:off x="6895400" y="3421800"/>
            <a:ext cx="13914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Patch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Bug Fix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Backwards Compatible</a:t>
            </a:r>
            <a:endParaRPr sz="1700"/>
          </a:p>
        </p:txBody>
      </p:sp>
      <p:sp>
        <p:nvSpPr>
          <p:cNvPr id="181" name="Google Shape;181;p24"/>
          <p:cNvSpPr txBox="1"/>
          <p:nvPr/>
        </p:nvSpPr>
        <p:spPr>
          <a:xfrm>
            <a:off x="3692925" y="1239000"/>
            <a:ext cx="4060500" cy="415500"/>
          </a:xfrm>
          <a:prstGeom prst="rect">
            <a:avLst/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Solidity has not even hit 1 stable release yet!!!</a:t>
            </a:r>
            <a:endParaRPr sz="1500"/>
          </a:p>
        </p:txBody>
      </p:sp>
      <p:sp>
        <p:nvSpPr>
          <p:cNvPr id="182" name="Google Shape;182;p24"/>
          <p:cNvSpPr/>
          <p:nvPr/>
        </p:nvSpPr>
        <p:spPr>
          <a:xfrm>
            <a:off x="4038725" y="3017300"/>
            <a:ext cx="92700" cy="344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4"/>
          <p:cNvSpPr/>
          <p:nvPr/>
        </p:nvSpPr>
        <p:spPr>
          <a:xfrm>
            <a:off x="5638925" y="3017300"/>
            <a:ext cx="92700" cy="344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4"/>
          <p:cNvSpPr/>
          <p:nvPr/>
        </p:nvSpPr>
        <p:spPr>
          <a:xfrm>
            <a:off x="7239125" y="3017300"/>
            <a:ext cx="92700" cy="344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5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Importing</a:t>
            </a:r>
            <a:endParaRPr/>
          </a:p>
        </p:txBody>
      </p:sp>
      <p:grpSp>
        <p:nvGrpSpPr>
          <p:cNvPr id="190" name="Google Shape;190;p25"/>
          <p:cNvGrpSpPr/>
          <p:nvPr/>
        </p:nvGrpSpPr>
        <p:grpSpPr>
          <a:xfrm>
            <a:off x="842125" y="1281975"/>
            <a:ext cx="3251700" cy="3376800"/>
            <a:chOff x="3585325" y="1281975"/>
            <a:chExt cx="3251700" cy="3376800"/>
          </a:xfrm>
        </p:grpSpPr>
        <p:sp>
          <p:nvSpPr>
            <p:cNvPr id="191" name="Google Shape;191;p25"/>
            <p:cNvSpPr/>
            <p:nvPr/>
          </p:nvSpPr>
          <p:spPr>
            <a:xfrm>
              <a:off x="3585325" y="1281975"/>
              <a:ext cx="3251700" cy="844200"/>
            </a:xfrm>
            <a:prstGeom prst="rect">
              <a:avLst/>
            </a:prstGeom>
            <a:solidFill>
              <a:srgbClr val="A4C2F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800">
                  <a:solidFill>
                    <a:schemeClr val="dk2"/>
                  </a:solidFill>
                </a:rPr>
                <a:t>Virtual Filesystem on the Compiler</a:t>
              </a:r>
              <a:endParaRPr/>
            </a:p>
          </p:txBody>
        </p:sp>
        <p:sp>
          <p:nvSpPr>
            <p:cNvPr id="192" name="Google Shape;192;p25"/>
            <p:cNvSpPr/>
            <p:nvPr/>
          </p:nvSpPr>
          <p:spPr>
            <a:xfrm>
              <a:off x="3585325" y="2126175"/>
              <a:ext cx="3251700" cy="2532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800">
                  <a:solidFill>
                    <a:schemeClr val="lt1"/>
                  </a:solidFill>
                </a:rPr>
                <a:t>Initial files (plus dependencies) can be loaded on CLI or JSON format.</a:t>
              </a:r>
              <a:endParaRPr sz="1800">
                <a:solidFill>
                  <a:schemeClr val="lt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800">
                  <a:solidFill>
                    <a:schemeClr val="lt1"/>
                  </a:solidFill>
                </a:rPr>
                <a:t>Compiler can add other files during compile time</a:t>
              </a: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193" name="Google Shape;193;p25"/>
          <p:cNvGrpSpPr/>
          <p:nvPr/>
        </p:nvGrpSpPr>
        <p:grpSpPr>
          <a:xfrm>
            <a:off x="4737021" y="939938"/>
            <a:ext cx="3866925" cy="2614945"/>
            <a:chOff x="3585325" y="1281975"/>
            <a:chExt cx="3251703" cy="3420018"/>
          </a:xfrm>
        </p:grpSpPr>
        <p:sp>
          <p:nvSpPr>
            <p:cNvPr id="194" name="Google Shape;194;p25"/>
            <p:cNvSpPr/>
            <p:nvPr/>
          </p:nvSpPr>
          <p:spPr>
            <a:xfrm>
              <a:off x="3585325" y="1281975"/>
              <a:ext cx="3251700" cy="572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Direct Import</a:t>
              </a:r>
              <a:endParaRPr/>
            </a:p>
          </p:txBody>
        </p:sp>
        <p:sp>
          <p:nvSpPr>
            <p:cNvPr id="195" name="Google Shape;195;p25"/>
            <p:cNvSpPr/>
            <p:nvPr/>
          </p:nvSpPr>
          <p:spPr>
            <a:xfrm>
              <a:off x="3585328" y="1821393"/>
              <a:ext cx="3251700" cy="2880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import "/project/lib/util.sol";         </a:t>
              </a:r>
              <a:endParaRPr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import "lib/util.sol";                </a:t>
              </a:r>
              <a:endParaRPr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import "@openzeppelin/address.sol";     </a:t>
              </a:r>
              <a:endParaRPr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114300" rtl="0" algn="l">
                <a:lnSpc>
                  <a:spcPct val="140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import "https://example.com/token.sol";</a:t>
              </a: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196" name="Google Shape;196;p25"/>
          <p:cNvGrpSpPr/>
          <p:nvPr/>
        </p:nvGrpSpPr>
        <p:grpSpPr>
          <a:xfrm>
            <a:off x="4737021" y="3751813"/>
            <a:ext cx="3866925" cy="1287981"/>
            <a:chOff x="3585325" y="1281975"/>
            <a:chExt cx="3251703" cy="1684516"/>
          </a:xfrm>
        </p:grpSpPr>
        <p:sp>
          <p:nvSpPr>
            <p:cNvPr id="197" name="Google Shape;197;p25"/>
            <p:cNvSpPr/>
            <p:nvPr/>
          </p:nvSpPr>
          <p:spPr>
            <a:xfrm>
              <a:off x="3585325" y="1281975"/>
              <a:ext cx="3251700" cy="572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Relative Import</a:t>
              </a:r>
              <a:endParaRPr/>
            </a:p>
          </p:txBody>
        </p:sp>
        <p:sp>
          <p:nvSpPr>
            <p:cNvPr id="198" name="Google Shape;198;p25"/>
            <p:cNvSpPr/>
            <p:nvPr/>
          </p:nvSpPr>
          <p:spPr>
            <a:xfrm>
              <a:off x="3585328" y="1821391"/>
              <a:ext cx="3251700" cy="11451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import "./";         </a:t>
              </a:r>
              <a:endParaRPr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import "../";</a:t>
              </a:r>
              <a:endParaRPr>
                <a:solidFill>
                  <a:schemeClr val="lt1"/>
                </a:solidFill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6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Natspec - Natural Language Specification Format</a:t>
            </a:r>
            <a:endParaRPr/>
          </a:p>
        </p:txBody>
      </p:sp>
      <p:graphicFrame>
        <p:nvGraphicFramePr>
          <p:cNvPr id="204" name="Google Shape;204;p26"/>
          <p:cNvGraphicFramePr/>
          <p:nvPr/>
        </p:nvGraphicFramePr>
        <p:xfrm>
          <a:off x="0" y="990600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CFCFC"/>
                </a:solidFill>
                <a:tableStyleId>{B759D3AD-E012-4207-8E7D-D8CF14D60653}</a:tableStyleId>
              </a:tblPr>
              <a:tblGrid>
                <a:gridCol w="1038225"/>
                <a:gridCol w="4667250"/>
                <a:gridCol w="3429000"/>
              </a:tblGrid>
              <a:tr h="314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404040"/>
                          </a:solidFill>
                          <a:highlight>
                            <a:srgbClr val="FCFCFC"/>
                          </a:highlight>
                        </a:rPr>
                        <a:t>Tag</a:t>
                      </a:r>
                      <a:endParaRPr b="1" sz="1100">
                        <a:solidFill>
                          <a:srgbClr val="404040"/>
                        </a:solidFill>
                        <a:highlight>
                          <a:srgbClr val="FCFCFC"/>
                        </a:highlight>
                      </a:endParaRPr>
                    </a:p>
                  </a:txBody>
                  <a:tcPr marT="76200" marB="76200" marR="152400" marL="152400">
                    <a:lnL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76200" marB="76200" marR="152400" marL="152400">
                    <a:lnL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404040"/>
                          </a:solidFill>
                          <a:highlight>
                            <a:srgbClr val="FCFCFC"/>
                          </a:highlight>
                        </a:rPr>
                        <a:t>Context</a:t>
                      </a:r>
                      <a:endParaRPr b="1" sz="1100">
                        <a:solidFill>
                          <a:srgbClr val="404040"/>
                        </a:solidFill>
                        <a:highlight>
                          <a:srgbClr val="FCFCFC"/>
                        </a:highlight>
                      </a:endParaRPr>
                    </a:p>
                  </a:txBody>
                  <a:tcPr marT="76200" marB="76200" marR="152400" marL="152400">
                    <a:lnL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E74C3C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@title</a:t>
                      </a:r>
                      <a:endParaRPr sz="800">
                        <a:solidFill>
                          <a:srgbClr val="E74C3C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200" marB="76200" marR="152400" marL="152400">
                    <a:lnL cap="flat" cmpd="sng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404040"/>
                          </a:solidFill>
                          <a:highlight>
                            <a:srgbClr val="FCFCFC"/>
                          </a:highlight>
                        </a:rPr>
                        <a:t>A title that should describe the contract/interface</a:t>
                      </a:r>
                      <a:endParaRPr sz="1100">
                        <a:solidFill>
                          <a:srgbClr val="404040"/>
                        </a:solidFill>
                        <a:highlight>
                          <a:srgbClr val="FCFCFC"/>
                        </a:highlight>
                      </a:endParaRPr>
                    </a:p>
                  </a:txBody>
                  <a:tcPr marT="76200" marB="76200" marR="152400" marL="152400">
                    <a:lnL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404040"/>
                          </a:solidFill>
                          <a:highlight>
                            <a:srgbClr val="FCFCFC"/>
                          </a:highlight>
                        </a:rPr>
                        <a:t>contract, library, interface</a:t>
                      </a:r>
                      <a:endParaRPr sz="1100">
                        <a:solidFill>
                          <a:srgbClr val="404040"/>
                        </a:solidFill>
                        <a:highlight>
                          <a:srgbClr val="FCFCFC"/>
                        </a:highlight>
                      </a:endParaRPr>
                    </a:p>
                  </a:txBody>
                  <a:tcPr marT="76200" marB="76200" marR="152400" marL="152400">
                    <a:lnL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6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E74C3C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@author</a:t>
                      </a:r>
                      <a:endParaRPr sz="800">
                        <a:solidFill>
                          <a:srgbClr val="E74C3C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200" marB="76200" marR="152400" marL="152400">
                    <a:lnL cap="flat" cmpd="sng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404040"/>
                          </a:solidFill>
                          <a:highlight>
                            <a:srgbClr val="FCFCFC"/>
                          </a:highlight>
                        </a:rPr>
                        <a:t>The name of the author</a:t>
                      </a:r>
                      <a:endParaRPr sz="1100">
                        <a:solidFill>
                          <a:srgbClr val="404040"/>
                        </a:solidFill>
                        <a:highlight>
                          <a:srgbClr val="FCFCFC"/>
                        </a:highlight>
                      </a:endParaRPr>
                    </a:p>
                  </a:txBody>
                  <a:tcPr marT="76200" marB="76200" marR="152400" marL="152400">
                    <a:lnL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404040"/>
                          </a:solidFill>
                          <a:highlight>
                            <a:srgbClr val="FCFCFC"/>
                          </a:highlight>
                        </a:rPr>
                        <a:t>contract, library, interface</a:t>
                      </a:r>
                      <a:endParaRPr sz="1100">
                        <a:solidFill>
                          <a:srgbClr val="404040"/>
                        </a:solidFill>
                        <a:highlight>
                          <a:srgbClr val="FCFCFC"/>
                        </a:highlight>
                      </a:endParaRPr>
                    </a:p>
                  </a:txBody>
                  <a:tcPr marT="76200" marB="76200" marR="152400" marL="152400">
                    <a:lnL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E74C3C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@notice</a:t>
                      </a:r>
                      <a:endParaRPr sz="800">
                        <a:solidFill>
                          <a:srgbClr val="E74C3C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200" marB="76200" marR="152400" marL="152400">
                    <a:lnL cap="flat" cmpd="sng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404040"/>
                          </a:solidFill>
                          <a:highlight>
                            <a:srgbClr val="FCFCFC"/>
                          </a:highlight>
                        </a:rPr>
                        <a:t>Explain to an end user what this does</a:t>
                      </a:r>
                      <a:endParaRPr sz="1100">
                        <a:solidFill>
                          <a:srgbClr val="404040"/>
                        </a:solidFill>
                        <a:highlight>
                          <a:srgbClr val="FCFCFC"/>
                        </a:highlight>
                      </a:endParaRPr>
                    </a:p>
                  </a:txBody>
                  <a:tcPr marT="76200" marB="76200" marR="152400" marL="152400">
                    <a:lnL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404040"/>
                          </a:solidFill>
                          <a:highlight>
                            <a:srgbClr val="FCFCFC"/>
                          </a:highlight>
                        </a:rPr>
                        <a:t>contract, library, interface, function, public state variable, event</a:t>
                      </a:r>
                      <a:endParaRPr sz="1100">
                        <a:solidFill>
                          <a:srgbClr val="404040"/>
                        </a:solidFill>
                        <a:highlight>
                          <a:srgbClr val="FCFCFC"/>
                        </a:highlight>
                      </a:endParaRPr>
                    </a:p>
                  </a:txBody>
                  <a:tcPr marT="76200" marB="76200" marR="152400" marL="152400">
                    <a:lnL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6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E74C3C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@dev</a:t>
                      </a:r>
                      <a:endParaRPr sz="800">
                        <a:solidFill>
                          <a:srgbClr val="E74C3C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200" marB="76200" marR="152400" marL="152400">
                    <a:lnL cap="flat" cmpd="sng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404040"/>
                          </a:solidFill>
                          <a:highlight>
                            <a:srgbClr val="FCFCFC"/>
                          </a:highlight>
                        </a:rPr>
                        <a:t>Explain to a developer any extra details</a:t>
                      </a:r>
                      <a:endParaRPr sz="1100">
                        <a:solidFill>
                          <a:srgbClr val="404040"/>
                        </a:solidFill>
                        <a:highlight>
                          <a:srgbClr val="FCFCFC"/>
                        </a:highlight>
                      </a:endParaRPr>
                    </a:p>
                  </a:txBody>
                  <a:tcPr marT="76200" marB="76200" marR="152400" marL="152400">
                    <a:lnL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404040"/>
                          </a:solidFill>
                          <a:highlight>
                            <a:srgbClr val="FCFCFC"/>
                          </a:highlight>
                        </a:rPr>
                        <a:t>contract, library, interface, function, state variable, event</a:t>
                      </a:r>
                      <a:endParaRPr sz="1100">
                        <a:solidFill>
                          <a:srgbClr val="404040"/>
                        </a:solidFill>
                        <a:highlight>
                          <a:srgbClr val="FCFCFC"/>
                        </a:highlight>
                      </a:endParaRPr>
                    </a:p>
                  </a:txBody>
                  <a:tcPr marT="76200" marB="76200" marR="152400" marL="152400">
                    <a:lnL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E74C3C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@param</a:t>
                      </a:r>
                      <a:endParaRPr sz="800">
                        <a:solidFill>
                          <a:srgbClr val="E74C3C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200" marB="76200" marR="152400" marL="152400">
                    <a:lnL cap="flat" cmpd="sng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404040"/>
                          </a:solidFill>
                          <a:highlight>
                            <a:srgbClr val="FCFCFC"/>
                          </a:highlight>
                        </a:rPr>
                        <a:t>Documents a parameter just like in Doxygen (must be followed by parameter name)</a:t>
                      </a:r>
                      <a:endParaRPr sz="1100">
                        <a:solidFill>
                          <a:srgbClr val="404040"/>
                        </a:solidFill>
                        <a:highlight>
                          <a:srgbClr val="FCFCFC"/>
                        </a:highlight>
                      </a:endParaRPr>
                    </a:p>
                  </a:txBody>
                  <a:tcPr marT="76200" marB="76200" marR="152400" marL="152400">
                    <a:lnL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404040"/>
                          </a:solidFill>
                          <a:highlight>
                            <a:srgbClr val="FCFCFC"/>
                          </a:highlight>
                        </a:rPr>
                        <a:t>function, event</a:t>
                      </a:r>
                      <a:endParaRPr sz="1100">
                        <a:solidFill>
                          <a:srgbClr val="404040"/>
                        </a:solidFill>
                        <a:highlight>
                          <a:srgbClr val="FCFCFC"/>
                        </a:highlight>
                      </a:endParaRPr>
                    </a:p>
                  </a:txBody>
                  <a:tcPr marT="76200" marB="76200" marR="152400" marL="152400">
                    <a:lnL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6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E74C3C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@return</a:t>
                      </a:r>
                      <a:endParaRPr sz="800">
                        <a:solidFill>
                          <a:srgbClr val="E74C3C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200" marB="76200" marR="152400" marL="152400">
                    <a:lnL cap="flat" cmpd="sng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404040"/>
                          </a:solidFill>
                          <a:highlight>
                            <a:srgbClr val="FCFCFC"/>
                          </a:highlight>
                        </a:rPr>
                        <a:t>Documents the return variables of a contract’s function</a:t>
                      </a:r>
                      <a:endParaRPr sz="1100">
                        <a:solidFill>
                          <a:srgbClr val="404040"/>
                        </a:solidFill>
                        <a:highlight>
                          <a:srgbClr val="FCFCFC"/>
                        </a:highlight>
                      </a:endParaRPr>
                    </a:p>
                  </a:txBody>
                  <a:tcPr marT="76200" marB="76200" marR="152400" marL="152400">
                    <a:lnL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404040"/>
                          </a:solidFill>
                          <a:highlight>
                            <a:srgbClr val="FCFCFC"/>
                          </a:highlight>
                        </a:rPr>
                        <a:t>function, public state variable</a:t>
                      </a:r>
                      <a:endParaRPr sz="1100">
                        <a:solidFill>
                          <a:srgbClr val="404040"/>
                        </a:solidFill>
                        <a:highlight>
                          <a:srgbClr val="FCFCFC"/>
                        </a:highlight>
                      </a:endParaRPr>
                    </a:p>
                  </a:txBody>
                  <a:tcPr marT="76200" marB="76200" marR="152400" marL="152400">
                    <a:lnL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E74C3C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@inheritdoc</a:t>
                      </a:r>
                      <a:endParaRPr sz="800">
                        <a:solidFill>
                          <a:srgbClr val="E74C3C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200" marB="76200" marR="152400" marL="152400">
                    <a:lnL cap="flat" cmpd="sng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404040"/>
                          </a:solidFill>
                          <a:highlight>
                            <a:srgbClr val="FCFCFC"/>
                          </a:highlight>
                        </a:rPr>
                        <a:t>Copies all missing tags from the base function (must be followed by the contract name)</a:t>
                      </a:r>
                      <a:endParaRPr sz="1100">
                        <a:solidFill>
                          <a:srgbClr val="404040"/>
                        </a:solidFill>
                        <a:highlight>
                          <a:srgbClr val="FCFCFC"/>
                        </a:highlight>
                      </a:endParaRPr>
                    </a:p>
                  </a:txBody>
                  <a:tcPr marT="76200" marB="76200" marR="152400" marL="152400">
                    <a:lnL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404040"/>
                          </a:solidFill>
                          <a:highlight>
                            <a:srgbClr val="FCFCFC"/>
                          </a:highlight>
                        </a:rPr>
                        <a:t>function, public state variable</a:t>
                      </a:r>
                      <a:endParaRPr sz="1100">
                        <a:solidFill>
                          <a:srgbClr val="404040"/>
                        </a:solidFill>
                        <a:highlight>
                          <a:srgbClr val="FCFCFC"/>
                        </a:highlight>
                      </a:endParaRPr>
                    </a:p>
                  </a:txBody>
                  <a:tcPr marT="76200" marB="76200" marR="152400" marL="152400">
                    <a:lnL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6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E74C3C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@custom:...</a:t>
                      </a:r>
                      <a:endParaRPr sz="800">
                        <a:solidFill>
                          <a:srgbClr val="E74C3C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200" marB="76200" marR="152400" marL="152400">
                    <a:lnL cap="flat" cmpd="sng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404040"/>
                          </a:solidFill>
                          <a:highlight>
                            <a:srgbClr val="FCFCFC"/>
                          </a:highlight>
                        </a:rPr>
                        <a:t>Custom tag, semantics is application-defined</a:t>
                      </a:r>
                      <a:endParaRPr sz="1100">
                        <a:solidFill>
                          <a:srgbClr val="404040"/>
                        </a:solidFill>
                        <a:highlight>
                          <a:srgbClr val="FCFCFC"/>
                        </a:highlight>
                      </a:endParaRPr>
                    </a:p>
                  </a:txBody>
                  <a:tcPr marT="76200" marB="76200" marR="152400" marL="152400">
                    <a:lnL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404040"/>
                          </a:solidFill>
                          <a:highlight>
                            <a:srgbClr val="FCFCFC"/>
                          </a:highlight>
                        </a:rPr>
                        <a:t>everywhere</a:t>
                      </a:r>
                      <a:endParaRPr sz="1100">
                        <a:solidFill>
                          <a:srgbClr val="404040"/>
                        </a:solidFill>
                        <a:highlight>
                          <a:srgbClr val="FCFCFC"/>
                        </a:highlight>
                      </a:endParaRPr>
                    </a:p>
                  </a:txBody>
                  <a:tcPr marT="76200" marB="76200" marR="152400" marL="152400">
                    <a:lnL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6350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7"/>
          <p:cNvSpPr txBox="1"/>
          <p:nvPr>
            <p:ph type="title"/>
          </p:nvPr>
        </p:nvSpPr>
        <p:spPr>
          <a:xfrm>
            <a:off x="311700" y="3688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Natspec - An Example</a:t>
            </a:r>
            <a:endParaRPr/>
          </a:p>
        </p:txBody>
      </p:sp>
      <p:pic>
        <p:nvPicPr>
          <p:cNvPr id="210" name="Google Shape;21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1425" y="1093925"/>
            <a:ext cx="4844565" cy="3820976"/>
          </a:xfrm>
          <a:prstGeom prst="rect">
            <a:avLst/>
          </a:prstGeom>
          <a:noFill/>
          <a:ln cap="flat" cmpd="sng" w="19050">
            <a:solidFill>
              <a:srgbClr val="20805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1" name="Google Shape;211;p27"/>
          <p:cNvSpPr txBox="1"/>
          <p:nvPr/>
        </p:nvSpPr>
        <p:spPr>
          <a:xfrm>
            <a:off x="6527700" y="2280575"/>
            <a:ext cx="2152200" cy="1262100"/>
          </a:xfrm>
          <a:prstGeom prst="rect">
            <a:avLst/>
          </a:prstGeom>
          <a:noFill/>
          <a:ln cap="flat" cmpd="sng" w="9525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https://docs.soliditylang.org/en/v0.8.17/natspec-format.html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8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Technical debt - the cost of bad code</a:t>
            </a:r>
            <a:endParaRPr/>
          </a:p>
        </p:txBody>
      </p:sp>
      <p:pic>
        <p:nvPicPr>
          <p:cNvPr id="217" name="Google Shape;21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5775" y="865325"/>
            <a:ext cx="4498162" cy="3973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9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Solidity Conventions</a:t>
            </a:r>
            <a:endParaRPr/>
          </a:p>
        </p:txBody>
      </p:sp>
      <p:graphicFrame>
        <p:nvGraphicFramePr>
          <p:cNvPr id="223" name="Google Shape;223;p29"/>
          <p:cNvGraphicFramePr/>
          <p:nvPr/>
        </p:nvGraphicFramePr>
        <p:xfrm>
          <a:off x="692650" y="101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{42737C02-30B4-4A5D-93EC-942BC0A58A50}</a:tableStyleId>
              </a:tblPr>
              <a:tblGrid>
                <a:gridCol w="4009050"/>
                <a:gridCol w="4009050"/>
              </a:tblGrid>
              <a:tr h="124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Max Line Length = 120 char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Breakdown new lines uses tabs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0404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thisFunctionCallIsReallyLong(</a:t>
                      </a:r>
                      <a:endParaRPr>
                        <a:solidFill>
                          <a:srgbClr val="40404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BBBB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</a:t>
                      </a:r>
                      <a:r>
                        <a:rPr lang="en">
                          <a:solidFill>
                            <a:srgbClr val="40404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longArgument1,</a:t>
                      </a:r>
                      <a:endParaRPr>
                        <a:solidFill>
                          <a:srgbClr val="40404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BBBB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</a:t>
                      </a:r>
                      <a:r>
                        <a:rPr lang="en">
                          <a:solidFill>
                            <a:srgbClr val="40404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longArgument2,</a:t>
                      </a:r>
                      <a:endParaRPr>
                        <a:solidFill>
                          <a:srgbClr val="40404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BBBB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</a:t>
                      </a:r>
                      <a:r>
                        <a:rPr lang="en">
                          <a:solidFill>
                            <a:srgbClr val="40404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longArgument3</a:t>
                      </a:r>
                      <a:endParaRPr>
                        <a:solidFill>
                          <a:srgbClr val="40404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114300" marR="11430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0404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);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430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Encoding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UTF-8 or ASCII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noFill/>
                  </a:tcPr>
                </a:tc>
              </a:tr>
              <a:tr h="108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Import Statements 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lways at top after license identifier and pragma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rgbClr val="40809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// SPDX-License-Identifier: MIT</a:t>
                      </a:r>
                      <a:endParaRPr>
                        <a:solidFill>
                          <a:srgbClr val="40404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702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pragma solidity</a:t>
                      </a:r>
                      <a:r>
                        <a:rPr lang="en">
                          <a:solidFill>
                            <a:srgbClr val="BBBBB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">
                          <a:solidFill>
                            <a:srgbClr val="66666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&gt;=</a:t>
                      </a:r>
                      <a:r>
                        <a:rPr b="1" lang="en">
                          <a:solidFill>
                            <a:srgbClr val="00702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0.4.0</a:t>
                      </a:r>
                      <a:r>
                        <a:rPr lang="en">
                          <a:solidFill>
                            <a:srgbClr val="BBBBB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">
                          <a:solidFill>
                            <a:srgbClr val="66666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</a:t>
                      </a:r>
                      <a:r>
                        <a:rPr b="1" lang="en">
                          <a:solidFill>
                            <a:srgbClr val="00702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0.9.0</a:t>
                      </a:r>
                      <a:r>
                        <a:rPr lang="en">
                          <a:solidFill>
                            <a:srgbClr val="40404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;</a:t>
                      </a:r>
                      <a:endParaRPr>
                        <a:solidFill>
                          <a:srgbClr val="40404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40404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11430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02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import</a:t>
                      </a:r>
                      <a:r>
                        <a:rPr lang="en">
                          <a:solidFill>
                            <a:srgbClr val="BBBBB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">
                          <a:solidFill>
                            <a:srgbClr val="4070A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"./Owned.sol"</a:t>
                      </a:r>
                      <a:r>
                        <a:rPr lang="en">
                          <a:solidFill>
                            <a:srgbClr val="40404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;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</a:tr>
              <a:tr h="935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Whitespace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 space between brackets/quotes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Space around operators</a:t>
                      </a:r>
                      <a:endParaRPr/>
                    </a:p>
                  </a:txBody>
                  <a:tcPr marT="91425" marB="91425" marR="91425" marL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11430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40404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spam(ham[</a:t>
                      </a:r>
                      <a:r>
                        <a:rPr lang="en">
                          <a:solidFill>
                            <a:srgbClr val="20805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r>
                        <a:rPr lang="en">
                          <a:solidFill>
                            <a:srgbClr val="40404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],</a:t>
                      </a:r>
                      <a:r>
                        <a:rPr lang="en">
                          <a:solidFill>
                            <a:srgbClr val="BBBBB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">
                          <a:solidFill>
                            <a:srgbClr val="40404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Coin({name:</a:t>
                      </a:r>
                      <a:r>
                        <a:rPr lang="en">
                          <a:solidFill>
                            <a:srgbClr val="BBBBB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">
                          <a:solidFill>
                            <a:srgbClr val="4070A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"ham"</a:t>
                      </a:r>
                      <a:r>
                        <a:rPr lang="en">
                          <a:solidFill>
                            <a:srgbClr val="40404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}));</a:t>
                      </a:r>
                      <a:endParaRPr>
                        <a:solidFill>
                          <a:srgbClr val="40404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0404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x</a:t>
                      </a:r>
                      <a:r>
                        <a:rPr lang="en">
                          <a:solidFill>
                            <a:srgbClr val="BBBBB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">
                          <a:solidFill>
                            <a:srgbClr val="66666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=</a:t>
                      </a:r>
                      <a:r>
                        <a:rPr lang="en">
                          <a:solidFill>
                            <a:srgbClr val="BBBBB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">
                          <a:solidFill>
                            <a:srgbClr val="20805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r>
                        <a:rPr lang="en">
                          <a:solidFill>
                            <a:srgbClr val="40404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;</a:t>
                      </a:r>
                      <a:endParaRPr>
                        <a:solidFill>
                          <a:srgbClr val="40404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0404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y</a:t>
                      </a:r>
                      <a:r>
                        <a:rPr lang="en">
                          <a:solidFill>
                            <a:srgbClr val="BBBBB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">
                          <a:solidFill>
                            <a:srgbClr val="66666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=</a:t>
                      </a:r>
                      <a:r>
                        <a:rPr lang="en">
                          <a:solidFill>
                            <a:srgbClr val="BBBBB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">
                          <a:solidFill>
                            <a:srgbClr val="20805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r>
                        <a:rPr lang="en">
                          <a:solidFill>
                            <a:srgbClr val="40404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;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0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Solidity Conventions - Naming</a:t>
            </a:r>
            <a:endParaRPr/>
          </a:p>
        </p:txBody>
      </p:sp>
      <p:graphicFrame>
        <p:nvGraphicFramePr>
          <p:cNvPr id="229" name="Google Shape;229;p30"/>
          <p:cNvGraphicFramePr/>
          <p:nvPr/>
        </p:nvGraphicFramePr>
        <p:xfrm>
          <a:off x="616450" y="116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{42737C02-30B4-4A5D-93EC-942BC0A58A50}</a:tableStyleId>
              </a:tblPr>
              <a:tblGrid>
                <a:gridCol w="4009050"/>
                <a:gridCol w="4009050"/>
              </a:tblGrid>
              <a:tr h="115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Contracts, Libraries, Interfaces, Structs, Events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0404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CapWords</a:t>
                      </a:r>
                      <a:endParaRPr>
                        <a:solidFill>
                          <a:srgbClr val="40404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40404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0404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contract MyContract{}</a:t>
                      </a:r>
                      <a:endParaRPr>
                        <a:solidFill>
                          <a:srgbClr val="40404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0404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struct PersonStruct{}</a:t>
                      </a:r>
                      <a:endParaRPr>
                        <a:solidFill>
                          <a:srgbClr val="40404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489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Function Names, Function Arguments, Variable Names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mixedCase</a:t>
                      </a:r>
                      <a:endParaRPr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int myInteger;</a:t>
                      </a:r>
                      <a:endParaRPr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function helloWorld();</a:t>
                      </a:r>
                      <a:endParaRPr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987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Constants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ALLCAPS</a:t>
                      </a:r>
                      <a:endParaRPr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int WINNING_NUMBER = 5;</a:t>
                      </a:r>
                      <a:endParaRPr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1"/>
          <p:cNvSpPr txBox="1"/>
          <p:nvPr>
            <p:ph type="title"/>
          </p:nvPr>
        </p:nvSpPr>
        <p:spPr>
          <a:xfrm>
            <a:off x="311700" y="390769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turing complete programming languages are built</a:t>
            </a:r>
            <a:endParaRPr/>
          </a:p>
        </p:txBody>
      </p:sp>
      <p:pic>
        <p:nvPicPr>
          <p:cNvPr id="235" name="Google Shape;23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1025" y="2011128"/>
            <a:ext cx="4181950" cy="2787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6" name="Google Shape;236;p31"/>
          <p:cNvCxnSpPr/>
          <p:nvPr/>
        </p:nvCxnSpPr>
        <p:spPr>
          <a:xfrm>
            <a:off x="4689560" y="1490250"/>
            <a:ext cx="0" cy="835500"/>
          </a:xfrm>
          <a:prstGeom prst="straightConnector1">
            <a:avLst/>
          </a:prstGeom>
          <a:noFill/>
          <a:ln cap="flat" cmpd="sng" w="38100">
            <a:solidFill>
              <a:srgbClr val="EA999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7" name="Google Shape;237;p31"/>
          <p:cNvSpPr txBox="1"/>
          <p:nvPr/>
        </p:nvSpPr>
        <p:spPr>
          <a:xfrm>
            <a:off x="4895725" y="1153850"/>
            <a:ext cx="2810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Read/Write values. What are they?</a:t>
            </a:r>
            <a:endParaRPr sz="13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Integer, String, Maps, etc.</a:t>
            </a:r>
            <a:endParaRPr sz="13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238" name="Google Shape;238;p31"/>
          <p:cNvSpPr txBox="1"/>
          <p:nvPr/>
        </p:nvSpPr>
        <p:spPr>
          <a:xfrm>
            <a:off x="86810" y="2538525"/>
            <a:ext cx="14970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How are these values stored in the cell?</a:t>
            </a:r>
            <a:endParaRPr sz="13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Static vs dynamic</a:t>
            </a:r>
            <a:endParaRPr sz="13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cxnSp>
        <p:nvCxnSpPr>
          <p:cNvPr id="239" name="Google Shape;239;p31"/>
          <p:cNvCxnSpPr/>
          <p:nvPr/>
        </p:nvCxnSpPr>
        <p:spPr>
          <a:xfrm>
            <a:off x="1466725" y="3031125"/>
            <a:ext cx="1486800" cy="0"/>
          </a:xfrm>
          <a:prstGeom prst="straightConnector1">
            <a:avLst/>
          </a:prstGeom>
          <a:noFill/>
          <a:ln cap="flat" cmpd="sng" w="38100">
            <a:solidFill>
              <a:srgbClr val="F6B26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0" name="Google Shape;240;p31"/>
          <p:cNvCxnSpPr/>
          <p:nvPr/>
        </p:nvCxnSpPr>
        <p:spPr>
          <a:xfrm rot="10800000">
            <a:off x="5069325" y="3183100"/>
            <a:ext cx="1964100" cy="585900"/>
          </a:xfrm>
          <a:prstGeom prst="straightConnector1">
            <a:avLst/>
          </a:prstGeom>
          <a:noFill/>
          <a:ln cap="flat" cmpd="sng" w="38100">
            <a:solidFill>
              <a:srgbClr val="E0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1" name="Google Shape;241;p31"/>
          <p:cNvSpPr txBox="1"/>
          <p:nvPr/>
        </p:nvSpPr>
        <p:spPr>
          <a:xfrm>
            <a:off x="7163647" y="3334958"/>
            <a:ext cx="17670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Left or Right?</a:t>
            </a:r>
            <a:endParaRPr sz="15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Control flow - for and while</a:t>
            </a:r>
            <a:endParaRPr sz="15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2"/>
          <p:cNvSpPr txBox="1"/>
          <p:nvPr>
            <p:ph type="title"/>
          </p:nvPr>
        </p:nvSpPr>
        <p:spPr>
          <a:xfrm>
            <a:off x="311700" y="1816975"/>
            <a:ext cx="8520600" cy="16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Primitives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lt1"/>
                </a:solidFill>
              </a:rPr>
              <a:t>Value Types</a:t>
            </a:r>
            <a:endParaRPr sz="2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3"/>
          <p:cNvSpPr txBox="1"/>
          <p:nvPr>
            <p:ph type="title"/>
          </p:nvPr>
        </p:nvSpPr>
        <p:spPr>
          <a:xfrm>
            <a:off x="311700" y="292625"/>
            <a:ext cx="4674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Primitives - binary</a:t>
            </a:r>
            <a:endParaRPr/>
          </a:p>
        </p:txBody>
      </p:sp>
      <p:sp>
        <p:nvSpPr>
          <p:cNvPr id="252" name="Google Shape;252;p33"/>
          <p:cNvSpPr txBox="1"/>
          <p:nvPr/>
        </p:nvSpPr>
        <p:spPr>
          <a:xfrm>
            <a:off x="784050" y="1011575"/>
            <a:ext cx="4498500" cy="1015800"/>
          </a:xfrm>
          <a:prstGeom prst="rect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At the most basic level, computers operate on 1 and 0 - This system is called </a:t>
            </a:r>
            <a:r>
              <a:rPr b="1" lang="en" sz="1800"/>
              <a:t>Binary</a:t>
            </a:r>
            <a:r>
              <a:rPr lang="en" sz="1800"/>
              <a:t>.</a:t>
            </a:r>
            <a:endParaRPr sz="1800"/>
          </a:p>
        </p:txBody>
      </p:sp>
      <p:pic>
        <p:nvPicPr>
          <p:cNvPr id="253" name="Google Shape;25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2500" y="320725"/>
            <a:ext cx="2628013" cy="463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250" y="2647950"/>
            <a:ext cx="2136724" cy="163162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33"/>
          <p:cNvSpPr txBox="1"/>
          <p:nvPr/>
        </p:nvSpPr>
        <p:spPr>
          <a:xfrm>
            <a:off x="2721200" y="2179775"/>
            <a:ext cx="3145800" cy="28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From a hardware perspective:</a:t>
            </a:r>
            <a:br>
              <a:rPr lang="en" sz="1800"/>
            </a:br>
            <a:r>
              <a:rPr lang="en" sz="1800"/>
              <a:t>High voltage (5V) = "1"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Low voltage (0V) =  "0". Currently, these are the only 2 possible states and why computers are binary in nature.</a:t>
            </a:r>
            <a:r>
              <a:rPr lang="en"/>
              <a:t> </a:t>
            </a:r>
            <a:br>
              <a:rPr lang="en"/>
            </a:br>
            <a:r>
              <a:rPr lang="en"/>
              <a:t>Quantum computing aims to break this constraint!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4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Primitives - binary</a:t>
            </a:r>
            <a:endParaRPr/>
          </a:p>
        </p:txBody>
      </p:sp>
      <p:sp>
        <p:nvSpPr>
          <p:cNvPr id="261" name="Google Shape;261;p34"/>
          <p:cNvSpPr txBox="1"/>
          <p:nvPr/>
        </p:nvSpPr>
        <p:spPr>
          <a:xfrm>
            <a:off x="1920500" y="907425"/>
            <a:ext cx="5515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Let's take a look at the Decimal System</a:t>
            </a:r>
            <a:endParaRPr sz="2400"/>
          </a:p>
        </p:txBody>
      </p:sp>
      <p:sp>
        <p:nvSpPr>
          <p:cNvPr id="262" name="Google Shape;262;p34"/>
          <p:cNvSpPr/>
          <p:nvPr/>
        </p:nvSpPr>
        <p:spPr>
          <a:xfrm>
            <a:off x="5075700" y="1693875"/>
            <a:ext cx="550500" cy="534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0</a:t>
            </a:r>
            <a:endParaRPr sz="3000"/>
          </a:p>
        </p:txBody>
      </p:sp>
      <p:sp>
        <p:nvSpPr>
          <p:cNvPr id="263" name="Google Shape;263;p34"/>
          <p:cNvSpPr/>
          <p:nvPr/>
        </p:nvSpPr>
        <p:spPr>
          <a:xfrm>
            <a:off x="5075700" y="2437100"/>
            <a:ext cx="550500" cy="534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1</a:t>
            </a:r>
            <a:endParaRPr sz="3000"/>
          </a:p>
        </p:txBody>
      </p:sp>
      <p:sp>
        <p:nvSpPr>
          <p:cNvPr id="264" name="Google Shape;264;p34"/>
          <p:cNvSpPr/>
          <p:nvPr/>
        </p:nvSpPr>
        <p:spPr>
          <a:xfrm>
            <a:off x="5075700" y="4391375"/>
            <a:ext cx="550500" cy="534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9</a:t>
            </a:r>
            <a:endParaRPr sz="3000"/>
          </a:p>
        </p:txBody>
      </p:sp>
      <p:sp>
        <p:nvSpPr>
          <p:cNvPr id="265" name="Google Shape;265;p34"/>
          <p:cNvSpPr/>
          <p:nvPr/>
        </p:nvSpPr>
        <p:spPr>
          <a:xfrm>
            <a:off x="5075700" y="3676825"/>
            <a:ext cx="550500" cy="534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8</a:t>
            </a:r>
            <a:endParaRPr sz="3000"/>
          </a:p>
        </p:txBody>
      </p:sp>
      <p:sp>
        <p:nvSpPr>
          <p:cNvPr id="266" name="Google Shape;266;p34"/>
          <p:cNvSpPr/>
          <p:nvPr/>
        </p:nvSpPr>
        <p:spPr>
          <a:xfrm>
            <a:off x="4174250" y="1693875"/>
            <a:ext cx="550500" cy="534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1</a:t>
            </a:r>
            <a:endParaRPr sz="3000"/>
          </a:p>
        </p:txBody>
      </p:sp>
      <p:sp>
        <p:nvSpPr>
          <p:cNvPr id="267" name="Google Shape;267;p34"/>
          <p:cNvSpPr/>
          <p:nvPr/>
        </p:nvSpPr>
        <p:spPr>
          <a:xfrm>
            <a:off x="2360475" y="1693875"/>
            <a:ext cx="550500" cy="534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3</a:t>
            </a:r>
            <a:endParaRPr sz="3000"/>
          </a:p>
        </p:txBody>
      </p:sp>
      <p:sp>
        <p:nvSpPr>
          <p:cNvPr id="268" name="Google Shape;268;p34"/>
          <p:cNvSpPr/>
          <p:nvPr/>
        </p:nvSpPr>
        <p:spPr>
          <a:xfrm>
            <a:off x="1301725" y="1693875"/>
            <a:ext cx="550500" cy="534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7</a:t>
            </a:r>
            <a:endParaRPr sz="3000"/>
          </a:p>
        </p:txBody>
      </p:sp>
      <p:sp>
        <p:nvSpPr>
          <p:cNvPr id="269" name="Google Shape;269;p34"/>
          <p:cNvSpPr txBox="1"/>
          <p:nvPr/>
        </p:nvSpPr>
        <p:spPr>
          <a:xfrm>
            <a:off x="2208075" y="2972000"/>
            <a:ext cx="95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Hundreds</a:t>
            </a:r>
            <a:endParaRPr/>
          </a:p>
        </p:txBody>
      </p:sp>
      <p:sp>
        <p:nvSpPr>
          <p:cNvPr id="270" name="Google Shape;270;p34"/>
          <p:cNvSpPr txBox="1"/>
          <p:nvPr/>
        </p:nvSpPr>
        <p:spPr>
          <a:xfrm>
            <a:off x="1005275" y="2972000"/>
            <a:ext cx="116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Thousands</a:t>
            </a:r>
            <a:endParaRPr/>
          </a:p>
        </p:txBody>
      </p:sp>
      <p:cxnSp>
        <p:nvCxnSpPr>
          <p:cNvPr id="271" name="Google Shape;271;p34"/>
          <p:cNvCxnSpPr/>
          <p:nvPr/>
        </p:nvCxnSpPr>
        <p:spPr>
          <a:xfrm rot="10800000">
            <a:off x="1577075" y="2305100"/>
            <a:ext cx="10200" cy="74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2" name="Google Shape;272;p34"/>
          <p:cNvCxnSpPr/>
          <p:nvPr/>
        </p:nvCxnSpPr>
        <p:spPr>
          <a:xfrm rot="10800000">
            <a:off x="2643875" y="2305100"/>
            <a:ext cx="10200" cy="74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3" name="Google Shape;273;p34"/>
          <p:cNvCxnSpPr/>
          <p:nvPr/>
        </p:nvCxnSpPr>
        <p:spPr>
          <a:xfrm rot="10800000">
            <a:off x="4467150" y="2658175"/>
            <a:ext cx="330300" cy="188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4" name="Google Shape;274;p34"/>
          <p:cNvSpPr txBox="1"/>
          <p:nvPr/>
        </p:nvSpPr>
        <p:spPr>
          <a:xfrm>
            <a:off x="1005275" y="3734850"/>
            <a:ext cx="3516000" cy="1046700"/>
          </a:xfrm>
          <a:prstGeom prst="rect">
            <a:avLst/>
          </a:prstGeom>
          <a:noFill/>
          <a:ln cap="flat" cmpd="sng" w="2857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Once the maximum number in a lower column has been reached, we advance to the next column on the left.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 previous columns start from 0.</a:t>
            </a:r>
            <a:endParaRPr/>
          </a:p>
        </p:txBody>
      </p:sp>
      <p:sp>
        <p:nvSpPr>
          <p:cNvPr id="275" name="Google Shape;275;p34"/>
          <p:cNvSpPr txBox="1"/>
          <p:nvPr/>
        </p:nvSpPr>
        <p:spPr>
          <a:xfrm rot="-5400000">
            <a:off x="4968300" y="3106325"/>
            <a:ext cx="612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. . .</a:t>
            </a:r>
            <a:endParaRPr b="1" sz="2100"/>
          </a:p>
        </p:txBody>
      </p:sp>
      <p:sp>
        <p:nvSpPr>
          <p:cNvPr id="276" name="Google Shape;276;p34"/>
          <p:cNvSpPr txBox="1"/>
          <p:nvPr/>
        </p:nvSpPr>
        <p:spPr>
          <a:xfrm>
            <a:off x="6097125" y="2756450"/>
            <a:ext cx="2516700" cy="831300"/>
          </a:xfrm>
          <a:prstGeom prst="rect">
            <a:avLst/>
          </a:prstGeom>
          <a:noFill/>
          <a:ln cap="flat" cmpd="sng" w="2857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a single column, we keep going until the maximum has been reached</a:t>
            </a:r>
            <a:endParaRPr/>
          </a:p>
        </p:txBody>
      </p:sp>
      <p:cxnSp>
        <p:nvCxnSpPr>
          <p:cNvPr id="277" name="Google Shape;277;p34"/>
          <p:cNvCxnSpPr/>
          <p:nvPr/>
        </p:nvCxnSpPr>
        <p:spPr>
          <a:xfrm>
            <a:off x="5854800" y="1961225"/>
            <a:ext cx="0" cy="269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8" name="Google Shape;278;p34"/>
          <p:cNvSpPr/>
          <p:nvPr/>
        </p:nvSpPr>
        <p:spPr>
          <a:xfrm>
            <a:off x="6087250" y="2170650"/>
            <a:ext cx="330300" cy="330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279" name="Google Shape;279;p34"/>
          <p:cNvSpPr/>
          <p:nvPr/>
        </p:nvSpPr>
        <p:spPr>
          <a:xfrm>
            <a:off x="4037550" y="3195125"/>
            <a:ext cx="330300" cy="330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5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Primitives - binary</a:t>
            </a:r>
            <a:endParaRPr/>
          </a:p>
        </p:txBody>
      </p:sp>
      <p:sp>
        <p:nvSpPr>
          <p:cNvPr id="285" name="Google Shape;285;p35"/>
          <p:cNvSpPr txBox="1"/>
          <p:nvPr/>
        </p:nvSpPr>
        <p:spPr>
          <a:xfrm>
            <a:off x="618475" y="1154950"/>
            <a:ext cx="5515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Same intuition for a Binary</a:t>
            </a:r>
            <a:r>
              <a:rPr lang="en" sz="2400"/>
              <a:t> System</a:t>
            </a:r>
            <a:endParaRPr sz="2400"/>
          </a:p>
        </p:txBody>
      </p:sp>
      <p:grpSp>
        <p:nvGrpSpPr>
          <p:cNvPr id="286" name="Google Shape;286;p35"/>
          <p:cNvGrpSpPr/>
          <p:nvPr/>
        </p:nvGrpSpPr>
        <p:grpSpPr>
          <a:xfrm>
            <a:off x="4640100" y="1922475"/>
            <a:ext cx="986150" cy="2497025"/>
            <a:chOff x="4640100" y="1693875"/>
            <a:chExt cx="986150" cy="2497025"/>
          </a:xfrm>
        </p:grpSpPr>
        <p:sp>
          <p:nvSpPr>
            <p:cNvPr id="287" name="Google Shape;287;p35"/>
            <p:cNvSpPr/>
            <p:nvPr/>
          </p:nvSpPr>
          <p:spPr>
            <a:xfrm>
              <a:off x="4640100" y="1693875"/>
              <a:ext cx="986100" cy="877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/>
                <a:t>0</a:t>
              </a:r>
              <a:endParaRPr sz="3000"/>
            </a:p>
          </p:txBody>
        </p:sp>
        <p:sp>
          <p:nvSpPr>
            <p:cNvPr id="288" name="Google Shape;288;p35"/>
            <p:cNvSpPr/>
            <p:nvPr/>
          </p:nvSpPr>
          <p:spPr>
            <a:xfrm>
              <a:off x="4640150" y="3199100"/>
              <a:ext cx="986100" cy="991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/>
                <a:t>1</a:t>
              </a:r>
              <a:endParaRPr sz="3000"/>
            </a:p>
          </p:txBody>
        </p:sp>
      </p:grpSp>
      <p:pic>
        <p:nvPicPr>
          <p:cNvPr id="289" name="Google Shape;28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2500" y="320725"/>
            <a:ext cx="2628013" cy="46340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0" name="Google Shape;290;p35"/>
          <p:cNvGrpSpPr/>
          <p:nvPr/>
        </p:nvGrpSpPr>
        <p:grpSpPr>
          <a:xfrm>
            <a:off x="3219575" y="1922475"/>
            <a:ext cx="986150" cy="2497025"/>
            <a:chOff x="4640100" y="1693875"/>
            <a:chExt cx="986150" cy="2497025"/>
          </a:xfrm>
        </p:grpSpPr>
        <p:sp>
          <p:nvSpPr>
            <p:cNvPr id="291" name="Google Shape;291;p35"/>
            <p:cNvSpPr/>
            <p:nvPr/>
          </p:nvSpPr>
          <p:spPr>
            <a:xfrm>
              <a:off x="4640100" y="1693875"/>
              <a:ext cx="986100" cy="877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/>
                <a:t>0</a:t>
              </a:r>
              <a:endParaRPr sz="3000"/>
            </a:p>
          </p:txBody>
        </p:sp>
        <p:sp>
          <p:nvSpPr>
            <p:cNvPr id="292" name="Google Shape;292;p35"/>
            <p:cNvSpPr/>
            <p:nvPr/>
          </p:nvSpPr>
          <p:spPr>
            <a:xfrm>
              <a:off x="4640150" y="3199100"/>
              <a:ext cx="986100" cy="991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/>
                <a:t>1</a:t>
              </a:r>
              <a:endParaRPr sz="3000"/>
            </a:p>
          </p:txBody>
        </p:sp>
      </p:grpSp>
      <p:grpSp>
        <p:nvGrpSpPr>
          <p:cNvPr id="293" name="Google Shape;293;p35"/>
          <p:cNvGrpSpPr/>
          <p:nvPr/>
        </p:nvGrpSpPr>
        <p:grpSpPr>
          <a:xfrm>
            <a:off x="1799050" y="1922475"/>
            <a:ext cx="986150" cy="2497025"/>
            <a:chOff x="4640100" y="1693875"/>
            <a:chExt cx="986150" cy="2497025"/>
          </a:xfrm>
        </p:grpSpPr>
        <p:sp>
          <p:nvSpPr>
            <p:cNvPr id="294" name="Google Shape;294;p35"/>
            <p:cNvSpPr/>
            <p:nvPr/>
          </p:nvSpPr>
          <p:spPr>
            <a:xfrm>
              <a:off x="4640100" y="1693875"/>
              <a:ext cx="986100" cy="877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/>
                <a:t>0</a:t>
              </a:r>
              <a:endParaRPr sz="3000"/>
            </a:p>
          </p:txBody>
        </p:sp>
        <p:sp>
          <p:nvSpPr>
            <p:cNvPr id="295" name="Google Shape;295;p35"/>
            <p:cNvSpPr/>
            <p:nvPr/>
          </p:nvSpPr>
          <p:spPr>
            <a:xfrm>
              <a:off x="4640150" y="3199100"/>
              <a:ext cx="986100" cy="991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/>
                <a:t>1</a:t>
              </a:r>
              <a:endParaRPr sz="3000"/>
            </a:p>
          </p:txBody>
        </p:sp>
      </p:grpSp>
      <p:grpSp>
        <p:nvGrpSpPr>
          <p:cNvPr id="296" name="Google Shape;296;p35"/>
          <p:cNvGrpSpPr/>
          <p:nvPr/>
        </p:nvGrpSpPr>
        <p:grpSpPr>
          <a:xfrm>
            <a:off x="311700" y="1922475"/>
            <a:ext cx="986150" cy="2497025"/>
            <a:chOff x="4640100" y="1693875"/>
            <a:chExt cx="986150" cy="2497025"/>
          </a:xfrm>
        </p:grpSpPr>
        <p:sp>
          <p:nvSpPr>
            <p:cNvPr id="297" name="Google Shape;297;p35"/>
            <p:cNvSpPr/>
            <p:nvPr/>
          </p:nvSpPr>
          <p:spPr>
            <a:xfrm>
              <a:off x="4640100" y="1693875"/>
              <a:ext cx="986100" cy="877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/>
                <a:t>0</a:t>
              </a:r>
              <a:endParaRPr sz="3000"/>
            </a:p>
          </p:txBody>
        </p:sp>
        <p:sp>
          <p:nvSpPr>
            <p:cNvPr id="298" name="Google Shape;298;p35"/>
            <p:cNvSpPr/>
            <p:nvPr/>
          </p:nvSpPr>
          <p:spPr>
            <a:xfrm>
              <a:off x="4640150" y="3199100"/>
              <a:ext cx="986100" cy="991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/>
                <a:t>1</a:t>
              </a:r>
              <a:endParaRPr sz="3000"/>
            </a:p>
          </p:txBody>
        </p:sp>
      </p:grpSp>
      <p:cxnSp>
        <p:nvCxnSpPr>
          <p:cNvPr id="299" name="Google Shape;299;p35"/>
          <p:cNvCxnSpPr>
            <a:stCxn id="287" idx="2"/>
            <a:endCxn id="288" idx="0"/>
          </p:cNvCxnSpPr>
          <p:nvPr/>
        </p:nvCxnSpPr>
        <p:spPr>
          <a:xfrm>
            <a:off x="5133150" y="2800275"/>
            <a:ext cx="0" cy="62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0" name="Google Shape;300;p35"/>
          <p:cNvCxnSpPr/>
          <p:nvPr/>
        </p:nvCxnSpPr>
        <p:spPr>
          <a:xfrm rot="10800000">
            <a:off x="4216775" y="2921225"/>
            <a:ext cx="393000" cy="41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1" name="Google Shape;301;p35"/>
          <p:cNvCxnSpPr/>
          <p:nvPr/>
        </p:nvCxnSpPr>
        <p:spPr>
          <a:xfrm>
            <a:off x="3685350" y="2800275"/>
            <a:ext cx="0" cy="62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2" name="Google Shape;302;p35"/>
          <p:cNvCxnSpPr/>
          <p:nvPr/>
        </p:nvCxnSpPr>
        <p:spPr>
          <a:xfrm rot="10800000">
            <a:off x="2847400" y="2969025"/>
            <a:ext cx="297900" cy="35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6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Binary to Decimal converter</a:t>
            </a:r>
            <a:endParaRPr/>
          </a:p>
        </p:txBody>
      </p:sp>
      <p:sp>
        <p:nvSpPr>
          <p:cNvPr id="308" name="Google Shape;308;p36"/>
          <p:cNvSpPr/>
          <p:nvPr/>
        </p:nvSpPr>
        <p:spPr>
          <a:xfrm>
            <a:off x="4903175" y="1133200"/>
            <a:ext cx="986100" cy="87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1</a:t>
            </a:r>
            <a:endParaRPr sz="3000"/>
          </a:p>
        </p:txBody>
      </p:sp>
      <p:sp>
        <p:nvSpPr>
          <p:cNvPr id="309" name="Google Shape;309;p36"/>
          <p:cNvSpPr/>
          <p:nvPr/>
        </p:nvSpPr>
        <p:spPr>
          <a:xfrm>
            <a:off x="2062125" y="1133200"/>
            <a:ext cx="986100" cy="87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1</a:t>
            </a:r>
            <a:endParaRPr sz="3000"/>
          </a:p>
        </p:txBody>
      </p:sp>
      <p:sp>
        <p:nvSpPr>
          <p:cNvPr id="310" name="Google Shape;310;p36"/>
          <p:cNvSpPr/>
          <p:nvPr/>
        </p:nvSpPr>
        <p:spPr>
          <a:xfrm>
            <a:off x="574775" y="1133200"/>
            <a:ext cx="986100" cy="87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1</a:t>
            </a:r>
            <a:endParaRPr sz="3000"/>
          </a:p>
        </p:txBody>
      </p:sp>
      <p:sp>
        <p:nvSpPr>
          <p:cNvPr id="311" name="Google Shape;311;p36"/>
          <p:cNvSpPr/>
          <p:nvPr/>
        </p:nvSpPr>
        <p:spPr>
          <a:xfrm>
            <a:off x="3482650" y="1133200"/>
            <a:ext cx="986100" cy="87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0</a:t>
            </a:r>
            <a:endParaRPr sz="3000"/>
          </a:p>
        </p:txBody>
      </p:sp>
      <p:sp>
        <p:nvSpPr>
          <p:cNvPr id="312" name="Google Shape;312;p36"/>
          <p:cNvSpPr txBox="1"/>
          <p:nvPr/>
        </p:nvSpPr>
        <p:spPr>
          <a:xfrm>
            <a:off x="924350" y="2756350"/>
            <a:ext cx="7577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2</a:t>
            </a:r>
            <a:r>
              <a:rPr baseline="30000" lang="en" sz="24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3</a:t>
            </a:r>
            <a:r>
              <a:rPr lang="en" sz="24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    +     2</a:t>
            </a:r>
            <a:r>
              <a:rPr baseline="30000" lang="en" sz="24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2</a:t>
            </a:r>
            <a:r>
              <a:rPr lang="en" sz="24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    +      2</a:t>
            </a:r>
            <a:r>
              <a:rPr baseline="30000" lang="en" sz="24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1</a:t>
            </a:r>
            <a:r>
              <a:rPr lang="en" sz="24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   +     2</a:t>
            </a:r>
            <a:r>
              <a:rPr baseline="30000" lang="en" sz="24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0</a:t>
            </a:r>
            <a:endParaRPr baseline="30000" sz="24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cxnSp>
        <p:nvCxnSpPr>
          <p:cNvPr id="313" name="Google Shape;313;p36"/>
          <p:cNvCxnSpPr/>
          <p:nvPr/>
        </p:nvCxnSpPr>
        <p:spPr>
          <a:xfrm flipH="1" rot="10800000">
            <a:off x="3889367" y="2842517"/>
            <a:ext cx="387000" cy="431700"/>
          </a:xfrm>
          <a:prstGeom prst="straightConnector1">
            <a:avLst/>
          </a:prstGeom>
          <a:noFill/>
          <a:ln cap="flat" cmpd="sng" w="19050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4" name="Google Shape;314;p36"/>
          <p:cNvSpPr txBox="1"/>
          <p:nvPr/>
        </p:nvSpPr>
        <p:spPr>
          <a:xfrm>
            <a:off x="615163" y="3497450"/>
            <a:ext cx="21729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= 8 + 4 + 1</a:t>
            </a:r>
            <a:endParaRPr sz="21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= 13</a:t>
            </a:r>
            <a:endParaRPr sz="21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7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Primitives - integers</a:t>
            </a:r>
            <a:endParaRPr/>
          </a:p>
        </p:txBody>
      </p:sp>
      <p:grpSp>
        <p:nvGrpSpPr>
          <p:cNvPr id="320" name="Google Shape;320;p37"/>
          <p:cNvGrpSpPr/>
          <p:nvPr/>
        </p:nvGrpSpPr>
        <p:grpSpPr>
          <a:xfrm>
            <a:off x="446725" y="1551275"/>
            <a:ext cx="8408975" cy="927900"/>
            <a:chOff x="446725" y="1856075"/>
            <a:chExt cx="8408975" cy="927900"/>
          </a:xfrm>
        </p:grpSpPr>
        <p:sp>
          <p:nvSpPr>
            <p:cNvPr id="321" name="Google Shape;321;p37"/>
            <p:cNvSpPr/>
            <p:nvPr/>
          </p:nvSpPr>
          <p:spPr>
            <a:xfrm>
              <a:off x="446725" y="1856075"/>
              <a:ext cx="1069500" cy="927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/>
                <a:t>uint8</a:t>
              </a:r>
              <a:endParaRPr sz="2400"/>
            </a:p>
          </p:txBody>
        </p:sp>
        <p:sp>
          <p:nvSpPr>
            <p:cNvPr id="322" name="Google Shape;322;p37"/>
            <p:cNvSpPr/>
            <p:nvPr/>
          </p:nvSpPr>
          <p:spPr>
            <a:xfrm>
              <a:off x="1873200" y="1856075"/>
              <a:ext cx="1069500" cy="927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/>
                <a:t>uint16</a:t>
              </a:r>
              <a:endParaRPr sz="2400"/>
            </a:p>
          </p:txBody>
        </p:sp>
        <p:sp>
          <p:nvSpPr>
            <p:cNvPr id="323" name="Google Shape;323;p37"/>
            <p:cNvSpPr/>
            <p:nvPr/>
          </p:nvSpPr>
          <p:spPr>
            <a:xfrm>
              <a:off x="3351450" y="1856075"/>
              <a:ext cx="1069500" cy="927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/>
                <a:t>uint32</a:t>
              </a:r>
              <a:endParaRPr sz="2400"/>
            </a:p>
          </p:txBody>
        </p:sp>
        <p:sp>
          <p:nvSpPr>
            <p:cNvPr id="324" name="Google Shape;324;p37"/>
            <p:cNvSpPr/>
            <p:nvPr/>
          </p:nvSpPr>
          <p:spPr>
            <a:xfrm>
              <a:off x="4829700" y="1856075"/>
              <a:ext cx="1069500" cy="927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/>
                <a:t>uint64</a:t>
              </a:r>
              <a:endParaRPr sz="2400"/>
            </a:p>
          </p:txBody>
        </p:sp>
        <p:sp>
          <p:nvSpPr>
            <p:cNvPr id="325" name="Google Shape;325;p37"/>
            <p:cNvSpPr/>
            <p:nvPr/>
          </p:nvSpPr>
          <p:spPr>
            <a:xfrm>
              <a:off x="6307950" y="1856075"/>
              <a:ext cx="1069500" cy="927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/>
                <a:t>uint128</a:t>
              </a:r>
              <a:endParaRPr sz="2100"/>
            </a:p>
          </p:txBody>
        </p:sp>
        <p:sp>
          <p:nvSpPr>
            <p:cNvPr id="326" name="Google Shape;326;p37"/>
            <p:cNvSpPr/>
            <p:nvPr/>
          </p:nvSpPr>
          <p:spPr>
            <a:xfrm>
              <a:off x="7786200" y="1856075"/>
              <a:ext cx="1069500" cy="927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/>
                <a:t>uint256</a:t>
              </a:r>
              <a:endParaRPr sz="2100"/>
            </a:p>
          </p:txBody>
        </p:sp>
      </p:grpSp>
      <p:grpSp>
        <p:nvGrpSpPr>
          <p:cNvPr id="327" name="Google Shape;327;p37"/>
          <p:cNvGrpSpPr/>
          <p:nvPr/>
        </p:nvGrpSpPr>
        <p:grpSpPr>
          <a:xfrm>
            <a:off x="446725" y="2922875"/>
            <a:ext cx="8408975" cy="927900"/>
            <a:chOff x="446725" y="1856075"/>
            <a:chExt cx="8408975" cy="927900"/>
          </a:xfrm>
        </p:grpSpPr>
        <p:sp>
          <p:nvSpPr>
            <p:cNvPr id="328" name="Google Shape;328;p37"/>
            <p:cNvSpPr/>
            <p:nvPr/>
          </p:nvSpPr>
          <p:spPr>
            <a:xfrm>
              <a:off x="446725" y="1856075"/>
              <a:ext cx="1069500" cy="927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/>
                <a:t>int8</a:t>
              </a:r>
              <a:endParaRPr sz="2400"/>
            </a:p>
          </p:txBody>
        </p:sp>
        <p:sp>
          <p:nvSpPr>
            <p:cNvPr id="329" name="Google Shape;329;p37"/>
            <p:cNvSpPr/>
            <p:nvPr/>
          </p:nvSpPr>
          <p:spPr>
            <a:xfrm>
              <a:off x="1873200" y="1856075"/>
              <a:ext cx="1069500" cy="927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/>
                <a:t>int16</a:t>
              </a:r>
              <a:endParaRPr sz="2400"/>
            </a:p>
          </p:txBody>
        </p:sp>
        <p:sp>
          <p:nvSpPr>
            <p:cNvPr id="330" name="Google Shape;330;p37"/>
            <p:cNvSpPr/>
            <p:nvPr/>
          </p:nvSpPr>
          <p:spPr>
            <a:xfrm>
              <a:off x="3351450" y="1856075"/>
              <a:ext cx="1069500" cy="927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/>
                <a:t>int32</a:t>
              </a:r>
              <a:endParaRPr sz="2400"/>
            </a:p>
          </p:txBody>
        </p:sp>
        <p:sp>
          <p:nvSpPr>
            <p:cNvPr id="331" name="Google Shape;331;p37"/>
            <p:cNvSpPr/>
            <p:nvPr/>
          </p:nvSpPr>
          <p:spPr>
            <a:xfrm>
              <a:off x="4829700" y="1856075"/>
              <a:ext cx="1069500" cy="927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/>
                <a:t>int64</a:t>
              </a:r>
              <a:endParaRPr sz="2400"/>
            </a:p>
          </p:txBody>
        </p:sp>
        <p:sp>
          <p:nvSpPr>
            <p:cNvPr id="332" name="Google Shape;332;p37"/>
            <p:cNvSpPr/>
            <p:nvPr/>
          </p:nvSpPr>
          <p:spPr>
            <a:xfrm>
              <a:off x="6307950" y="1856075"/>
              <a:ext cx="1069500" cy="927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/>
                <a:t>int128</a:t>
              </a:r>
              <a:endParaRPr sz="2100"/>
            </a:p>
          </p:txBody>
        </p:sp>
        <p:sp>
          <p:nvSpPr>
            <p:cNvPr id="333" name="Google Shape;333;p37"/>
            <p:cNvSpPr/>
            <p:nvPr/>
          </p:nvSpPr>
          <p:spPr>
            <a:xfrm>
              <a:off x="7786200" y="1856075"/>
              <a:ext cx="1069500" cy="927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/>
                <a:t>int256</a:t>
              </a:r>
              <a:endParaRPr sz="2100"/>
            </a:p>
          </p:txBody>
        </p:sp>
      </p:grpSp>
      <p:sp>
        <p:nvSpPr>
          <p:cNvPr id="334" name="Google Shape;334;p37"/>
          <p:cNvSpPr txBox="1"/>
          <p:nvPr/>
        </p:nvSpPr>
        <p:spPr>
          <a:xfrm>
            <a:off x="3099013" y="4015763"/>
            <a:ext cx="3104400" cy="4155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No floating points? No Problem!</a:t>
            </a:r>
            <a:endParaRPr sz="1500"/>
          </a:p>
        </p:txBody>
      </p:sp>
      <p:sp>
        <p:nvSpPr>
          <p:cNvPr id="335" name="Google Shape;335;p37"/>
          <p:cNvSpPr txBox="1"/>
          <p:nvPr/>
        </p:nvSpPr>
        <p:spPr>
          <a:xfrm>
            <a:off x="3734050" y="4542000"/>
            <a:ext cx="2029800" cy="400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ETH -&gt; GWEI -&gt; WEI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8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Primitives - integers</a:t>
            </a:r>
            <a:endParaRPr/>
          </a:p>
        </p:txBody>
      </p:sp>
      <p:grpSp>
        <p:nvGrpSpPr>
          <p:cNvPr id="341" name="Google Shape;341;p38"/>
          <p:cNvGrpSpPr/>
          <p:nvPr/>
        </p:nvGrpSpPr>
        <p:grpSpPr>
          <a:xfrm>
            <a:off x="446725" y="2313275"/>
            <a:ext cx="8408975" cy="927900"/>
            <a:chOff x="446725" y="1856075"/>
            <a:chExt cx="8408975" cy="927900"/>
          </a:xfrm>
        </p:grpSpPr>
        <p:sp>
          <p:nvSpPr>
            <p:cNvPr id="342" name="Google Shape;342;p38"/>
            <p:cNvSpPr/>
            <p:nvPr/>
          </p:nvSpPr>
          <p:spPr>
            <a:xfrm>
              <a:off x="446725" y="1856075"/>
              <a:ext cx="1069500" cy="927900"/>
            </a:xfrm>
            <a:prstGeom prst="rect">
              <a:avLst/>
            </a:prstGeom>
            <a:solidFill>
              <a:srgbClr val="6D9EE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/>
                <a:t>0</a:t>
              </a:r>
              <a:endParaRPr sz="2400"/>
            </a:p>
          </p:txBody>
        </p:sp>
        <p:sp>
          <p:nvSpPr>
            <p:cNvPr id="343" name="Google Shape;343;p38"/>
            <p:cNvSpPr/>
            <p:nvPr/>
          </p:nvSpPr>
          <p:spPr>
            <a:xfrm>
              <a:off x="1873200" y="1856075"/>
              <a:ext cx="1069500" cy="927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/>
                <a:t>1</a:t>
              </a:r>
              <a:endParaRPr sz="2400"/>
            </a:p>
          </p:txBody>
        </p:sp>
        <p:sp>
          <p:nvSpPr>
            <p:cNvPr id="344" name="Google Shape;344;p38"/>
            <p:cNvSpPr/>
            <p:nvPr/>
          </p:nvSpPr>
          <p:spPr>
            <a:xfrm>
              <a:off x="3351450" y="1856075"/>
              <a:ext cx="1069500" cy="927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/>
                <a:t>0</a:t>
              </a:r>
              <a:endParaRPr sz="2400"/>
            </a:p>
          </p:txBody>
        </p:sp>
        <p:sp>
          <p:nvSpPr>
            <p:cNvPr id="345" name="Google Shape;345;p38"/>
            <p:cNvSpPr/>
            <p:nvPr/>
          </p:nvSpPr>
          <p:spPr>
            <a:xfrm>
              <a:off x="4829700" y="1856075"/>
              <a:ext cx="1069500" cy="927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/>
                <a:t>1</a:t>
              </a:r>
              <a:endParaRPr sz="2400"/>
            </a:p>
          </p:txBody>
        </p:sp>
        <p:sp>
          <p:nvSpPr>
            <p:cNvPr id="346" name="Google Shape;346;p38"/>
            <p:cNvSpPr/>
            <p:nvPr/>
          </p:nvSpPr>
          <p:spPr>
            <a:xfrm>
              <a:off x="6307950" y="1856075"/>
              <a:ext cx="1069500" cy="927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/>
                <a:t>1</a:t>
              </a:r>
              <a:endParaRPr sz="2100"/>
            </a:p>
          </p:txBody>
        </p:sp>
        <p:sp>
          <p:nvSpPr>
            <p:cNvPr id="347" name="Google Shape;347;p38"/>
            <p:cNvSpPr/>
            <p:nvPr/>
          </p:nvSpPr>
          <p:spPr>
            <a:xfrm>
              <a:off x="7786200" y="1856075"/>
              <a:ext cx="1069500" cy="927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/>
                <a:t>0</a:t>
              </a:r>
              <a:endParaRPr sz="2100"/>
            </a:p>
          </p:txBody>
        </p:sp>
      </p:grpSp>
      <p:sp>
        <p:nvSpPr>
          <p:cNvPr id="348" name="Google Shape;348;p38"/>
          <p:cNvSpPr txBox="1"/>
          <p:nvPr/>
        </p:nvSpPr>
        <p:spPr>
          <a:xfrm>
            <a:off x="432788" y="1433825"/>
            <a:ext cx="6276000" cy="400200"/>
          </a:xfrm>
          <a:prstGeom prst="rect">
            <a:avLst/>
          </a:prstGeom>
          <a:noFill/>
          <a:ln cap="flat" cmpd="sng" w="2857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first bit becomes the "sign" -&gt; 0 is a positive number, 1 is negative.</a:t>
            </a:r>
            <a:endParaRPr/>
          </a:p>
        </p:txBody>
      </p:sp>
      <p:cxnSp>
        <p:nvCxnSpPr>
          <p:cNvPr id="349" name="Google Shape;349;p38"/>
          <p:cNvCxnSpPr/>
          <p:nvPr/>
        </p:nvCxnSpPr>
        <p:spPr>
          <a:xfrm flipH="1">
            <a:off x="981475" y="1905575"/>
            <a:ext cx="40800" cy="331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0" name="Google Shape;350;p38"/>
          <p:cNvSpPr txBox="1"/>
          <p:nvPr/>
        </p:nvSpPr>
        <p:spPr>
          <a:xfrm>
            <a:off x="1164000" y="3900875"/>
            <a:ext cx="7408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Since 1 bit is taken up to mean the sign, remember you can only have numbers half as big as unsigned integers</a:t>
            </a:r>
            <a:endParaRPr sz="18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9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Primitives - integers</a:t>
            </a:r>
            <a:endParaRPr/>
          </a:p>
        </p:txBody>
      </p:sp>
      <p:sp>
        <p:nvSpPr>
          <p:cNvPr id="356" name="Google Shape;356;p39"/>
          <p:cNvSpPr txBox="1"/>
          <p:nvPr/>
        </p:nvSpPr>
        <p:spPr>
          <a:xfrm>
            <a:off x="3607550" y="888250"/>
            <a:ext cx="219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bits and Bytes</a:t>
            </a:r>
            <a:endParaRPr sz="2400"/>
          </a:p>
        </p:txBody>
      </p:sp>
      <p:grpSp>
        <p:nvGrpSpPr>
          <p:cNvPr id="357" name="Google Shape;357;p39"/>
          <p:cNvGrpSpPr/>
          <p:nvPr/>
        </p:nvGrpSpPr>
        <p:grpSpPr>
          <a:xfrm>
            <a:off x="579100" y="3574050"/>
            <a:ext cx="5314500" cy="877800"/>
            <a:chOff x="311700" y="1922475"/>
            <a:chExt cx="5314500" cy="877800"/>
          </a:xfrm>
        </p:grpSpPr>
        <p:sp>
          <p:nvSpPr>
            <p:cNvPr id="358" name="Google Shape;358;p39"/>
            <p:cNvSpPr/>
            <p:nvPr/>
          </p:nvSpPr>
          <p:spPr>
            <a:xfrm>
              <a:off x="4640100" y="1922475"/>
              <a:ext cx="986100" cy="877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/>
                <a:t>0</a:t>
              </a:r>
              <a:endParaRPr sz="3000"/>
            </a:p>
          </p:txBody>
        </p:sp>
        <p:sp>
          <p:nvSpPr>
            <p:cNvPr id="359" name="Google Shape;359;p39"/>
            <p:cNvSpPr/>
            <p:nvPr/>
          </p:nvSpPr>
          <p:spPr>
            <a:xfrm>
              <a:off x="3219575" y="1922475"/>
              <a:ext cx="986100" cy="877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/>
                <a:t>1</a:t>
              </a:r>
              <a:endParaRPr sz="3000"/>
            </a:p>
          </p:txBody>
        </p:sp>
        <p:sp>
          <p:nvSpPr>
            <p:cNvPr id="360" name="Google Shape;360;p39"/>
            <p:cNvSpPr/>
            <p:nvPr/>
          </p:nvSpPr>
          <p:spPr>
            <a:xfrm>
              <a:off x="1799050" y="1922475"/>
              <a:ext cx="986100" cy="877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/>
                <a:t>0</a:t>
              </a:r>
              <a:endParaRPr sz="3000"/>
            </a:p>
          </p:txBody>
        </p:sp>
        <p:sp>
          <p:nvSpPr>
            <p:cNvPr id="361" name="Google Shape;361;p39"/>
            <p:cNvSpPr/>
            <p:nvPr/>
          </p:nvSpPr>
          <p:spPr>
            <a:xfrm>
              <a:off x="311700" y="1922475"/>
              <a:ext cx="986100" cy="877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/>
                <a:t>1</a:t>
              </a:r>
              <a:endParaRPr sz="3000"/>
            </a:p>
          </p:txBody>
        </p:sp>
      </p:grpSp>
      <p:pic>
        <p:nvPicPr>
          <p:cNvPr id="362" name="Google Shape;362;p39"/>
          <p:cNvPicPr preferRelativeResize="0"/>
          <p:nvPr/>
        </p:nvPicPr>
        <p:blipFill rotWithShape="1">
          <a:blip r:embed="rId3">
            <a:alphaModFix/>
          </a:blip>
          <a:srcRect b="7540" l="46528" r="5124" t="6386"/>
          <a:stretch/>
        </p:blipFill>
        <p:spPr>
          <a:xfrm>
            <a:off x="4765975" y="1652300"/>
            <a:ext cx="1352726" cy="1838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39"/>
          <p:cNvPicPr preferRelativeResize="0"/>
          <p:nvPr/>
        </p:nvPicPr>
        <p:blipFill rotWithShape="1">
          <a:blip r:embed="rId3">
            <a:alphaModFix/>
          </a:blip>
          <a:srcRect b="7540" l="46528" r="5124" t="6386"/>
          <a:stretch/>
        </p:blipFill>
        <p:spPr>
          <a:xfrm>
            <a:off x="3282525" y="1703050"/>
            <a:ext cx="1352726" cy="1838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39"/>
          <p:cNvPicPr preferRelativeResize="0"/>
          <p:nvPr/>
        </p:nvPicPr>
        <p:blipFill rotWithShape="1">
          <a:blip r:embed="rId3">
            <a:alphaModFix/>
          </a:blip>
          <a:srcRect b="7540" l="46528" r="5124" t="6386"/>
          <a:stretch/>
        </p:blipFill>
        <p:spPr>
          <a:xfrm>
            <a:off x="1929800" y="1703050"/>
            <a:ext cx="1352726" cy="1838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39"/>
          <p:cNvPicPr preferRelativeResize="0"/>
          <p:nvPr/>
        </p:nvPicPr>
        <p:blipFill rotWithShape="1">
          <a:blip r:embed="rId3">
            <a:alphaModFix/>
          </a:blip>
          <a:srcRect b="7540" l="46528" r="5124" t="6386"/>
          <a:stretch/>
        </p:blipFill>
        <p:spPr>
          <a:xfrm>
            <a:off x="446350" y="1652300"/>
            <a:ext cx="1352726" cy="1838901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9"/>
          <p:cNvSpPr txBox="1"/>
          <p:nvPr/>
        </p:nvSpPr>
        <p:spPr>
          <a:xfrm>
            <a:off x="6618575" y="1946950"/>
            <a:ext cx="21708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Each storage unit is a bit.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There are 4 bits here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8 bits = 1 Byte</a:t>
            </a:r>
            <a:endParaRPr sz="1800"/>
          </a:p>
        </p:txBody>
      </p:sp>
      <p:sp>
        <p:nvSpPr>
          <p:cNvPr id="367" name="Google Shape;367;p39"/>
          <p:cNvSpPr txBox="1"/>
          <p:nvPr/>
        </p:nvSpPr>
        <p:spPr>
          <a:xfrm>
            <a:off x="1531700" y="4597875"/>
            <a:ext cx="6433200" cy="400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KB -&gt; MB -&gt; GB -&gt; TB -&gt; PB is not 10</a:t>
            </a:r>
            <a:r>
              <a:rPr baseline="30000" lang="en"/>
              <a:t>3</a:t>
            </a:r>
            <a:r>
              <a:rPr lang="en"/>
              <a:t> = 1000 but 2</a:t>
            </a:r>
            <a:r>
              <a:rPr baseline="30000" lang="en"/>
              <a:t>10</a:t>
            </a:r>
            <a:r>
              <a:rPr lang="en"/>
              <a:t> = 1024 intervals!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0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Primitives - Bytes</a:t>
            </a:r>
            <a:endParaRPr/>
          </a:p>
        </p:txBody>
      </p:sp>
      <p:grpSp>
        <p:nvGrpSpPr>
          <p:cNvPr id="373" name="Google Shape;373;p40"/>
          <p:cNvGrpSpPr/>
          <p:nvPr/>
        </p:nvGrpSpPr>
        <p:grpSpPr>
          <a:xfrm>
            <a:off x="446725" y="2313275"/>
            <a:ext cx="8408975" cy="927900"/>
            <a:chOff x="446725" y="1856075"/>
            <a:chExt cx="8408975" cy="927900"/>
          </a:xfrm>
        </p:grpSpPr>
        <p:sp>
          <p:nvSpPr>
            <p:cNvPr id="374" name="Google Shape;374;p40"/>
            <p:cNvSpPr/>
            <p:nvPr/>
          </p:nvSpPr>
          <p:spPr>
            <a:xfrm>
              <a:off x="446725" y="1856075"/>
              <a:ext cx="1069500" cy="927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/>
                <a:t>bytes1</a:t>
              </a:r>
              <a:endParaRPr sz="2200"/>
            </a:p>
          </p:txBody>
        </p:sp>
        <p:sp>
          <p:nvSpPr>
            <p:cNvPr id="375" name="Google Shape;375;p40"/>
            <p:cNvSpPr/>
            <p:nvPr/>
          </p:nvSpPr>
          <p:spPr>
            <a:xfrm>
              <a:off x="1873200" y="1856075"/>
              <a:ext cx="1069500" cy="927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/>
                <a:t>bytes2</a:t>
              </a:r>
              <a:endParaRPr sz="2200"/>
            </a:p>
          </p:txBody>
        </p:sp>
        <p:sp>
          <p:nvSpPr>
            <p:cNvPr id="376" name="Google Shape;376;p40"/>
            <p:cNvSpPr/>
            <p:nvPr/>
          </p:nvSpPr>
          <p:spPr>
            <a:xfrm>
              <a:off x="3351450" y="1856075"/>
              <a:ext cx="1069500" cy="927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/>
                <a:t>bytes3</a:t>
              </a:r>
              <a:endParaRPr sz="2200"/>
            </a:p>
          </p:txBody>
        </p:sp>
        <p:sp>
          <p:nvSpPr>
            <p:cNvPr id="377" name="Google Shape;377;p40"/>
            <p:cNvSpPr/>
            <p:nvPr/>
          </p:nvSpPr>
          <p:spPr>
            <a:xfrm>
              <a:off x="4829700" y="1856075"/>
              <a:ext cx="1069500" cy="927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/>
                <a:t>…</a:t>
              </a:r>
              <a:endParaRPr sz="2400"/>
            </a:p>
          </p:txBody>
        </p:sp>
        <p:sp>
          <p:nvSpPr>
            <p:cNvPr id="378" name="Google Shape;378;p40"/>
            <p:cNvSpPr/>
            <p:nvPr/>
          </p:nvSpPr>
          <p:spPr>
            <a:xfrm>
              <a:off x="6307950" y="1856075"/>
              <a:ext cx="1069500" cy="927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900"/>
                <a:t>bytes31</a:t>
              </a:r>
              <a:endParaRPr sz="1900"/>
            </a:p>
          </p:txBody>
        </p:sp>
        <p:sp>
          <p:nvSpPr>
            <p:cNvPr id="379" name="Google Shape;379;p40"/>
            <p:cNvSpPr/>
            <p:nvPr/>
          </p:nvSpPr>
          <p:spPr>
            <a:xfrm>
              <a:off x="7786200" y="1856075"/>
              <a:ext cx="1069500" cy="927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900"/>
                <a:t>bytes32</a:t>
              </a:r>
              <a:endParaRPr sz="1900"/>
            </a:p>
          </p:txBody>
        </p:sp>
      </p:grpSp>
      <p:sp>
        <p:nvSpPr>
          <p:cNvPr id="380" name="Google Shape;380;p40"/>
          <p:cNvSpPr txBox="1"/>
          <p:nvPr/>
        </p:nvSpPr>
        <p:spPr>
          <a:xfrm>
            <a:off x="3425150" y="1287350"/>
            <a:ext cx="2130300" cy="523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8 </a:t>
            </a:r>
            <a:r>
              <a:rPr b="1" lang="en" sz="2200"/>
              <a:t>b</a:t>
            </a:r>
            <a:r>
              <a:rPr lang="en" sz="2200"/>
              <a:t>its = 1 </a:t>
            </a:r>
            <a:r>
              <a:rPr b="1" lang="en" sz="2200"/>
              <a:t>B</a:t>
            </a:r>
            <a:r>
              <a:rPr lang="en" sz="2200"/>
              <a:t>yte</a:t>
            </a:r>
            <a:endParaRPr sz="2200"/>
          </a:p>
        </p:txBody>
      </p:sp>
      <p:sp>
        <p:nvSpPr>
          <p:cNvPr id="381" name="Google Shape;381;p40"/>
          <p:cNvSpPr txBox="1"/>
          <p:nvPr/>
        </p:nvSpPr>
        <p:spPr>
          <a:xfrm>
            <a:off x="1992613" y="3823275"/>
            <a:ext cx="531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Every "cell" in EVM memory is 256 bits (32 Bytes)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1"/>
          <p:cNvSpPr txBox="1"/>
          <p:nvPr>
            <p:ph type="title"/>
          </p:nvPr>
        </p:nvSpPr>
        <p:spPr>
          <a:xfrm>
            <a:off x="311700" y="2926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UTF8 Encoding</a:t>
            </a:r>
            <a:endParaRPr/>
          </a:p>
        </p:txBody>
      </p:sp>
      <p:pic>
        <p:nvPicPr>
          <p:cNvPr id="387" name="Google Shape;38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6625" y="250875"/>
            <a:ext cx="4334350" cy="464395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41"/>
          <p:cNvSpPr txBox="1"/>
          <p:nvPr/>
        </p:nvSpPr>
        <p:spPr>
          <a:xfrm>
            <a:off x="158850" y="1622150"/>
            <a:ext cx="39561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This is unicode. The OG encoding.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As encoding formats expanded to include more scripts and even emojis, there was: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UTF8 → UTF16 → UTF32…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ASCII and more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2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Primitives - Boolean</a:t>
            </a:r>
            <a:endParaRPr/>
          </a:p>
        </p:txBody>
      </p:sp>
      <p:pic>
        <p:nvPicPr>
          <p:cNvPr id="394" name="Google Shape;39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0125" y="1017725"/>
            <a:ext cx="5094633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3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Primitives - Addresses</a:t>
            </a:r>
            <a:endParaRPr/>
          </a:p>
        </p:txBody>
      </p:sp>
      <p:sp>
        <p:nvSpPr>
          <p:cNvPr id="400" name="Google Shape;400;p43"/>
          <p:cNvSpPr/>
          <p:nvPr/>
        </p:nvSpPr>
        <p:spPr>
          <a:xfrm>
            <a:off x="400050" y="2442575"/>
            <a:ext cx="8520614" cy="57270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lt2"/>
                </a:solidFill>
                <a:latin typeface="Arial"/>
              </a:rPr>
              <a:t>0xFd348ab656a6127f4280C5b1218D46D80a41e224</a:t>
            </a:r>
          </a:p>
        </p:txBody>
      </p:sp>
      <p:sp>
        <p:nvSpPr>
          <p:cNvPr id="401" name="Google Shape;401;p43"/>
          <p:cNvSpPr txBox="1"/>
          <p:nvPr/>
        </p:nvSpPr>
        <p:spPr>
          <a:xfrm>
            <a:off x="3184425" y="3588000"/>
            <a:ext cx="281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20 Bytes = 160 bits</a:t>
            </a:r>
            <a:endParaRPr sz="24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Operators</a:t>
            </a:r>
            <a:endParaRPr/>
          </a:p>
        </p:txBody>
      </p:sp>
      <p:graphicFrame>
        <p:nvGraphicFramePr>
          <p:cNvPr id="407" name="Google Shape;407;p44"/>
          <p:cNvGraphicFramePr/>
          <p:nvPr/>
        </p:nvGraphicFramePr>
        <p:xfrm>
          <a:off x="952500" y="1581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{42737C02-30B4-4A5D-93EC-942BC0A58A50}</a:tableStyleId>
              </a:tblPr>
              <a:tblGrid>
                <a:gridCol w="2413000"/>
                <a:gridCol w="2413000"/>
                <a:gridCol w="2413000"/>
              </a:tblGrid>
              <a:tr h="515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/>
                        <a:t>Algorithmic</a:t>
                      </a:r>
                      <a:endParaRPr b="1" sz="24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/>
                        <a:t>Relational</a:t>
                      </a:r>
                      <a:endParaRPr b="1" sz="24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/>
                        <a:t>Logical</a:t>
                      </a:r>
                      <a:endParaRPr b="1" sz="24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761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  -  /   *</a:t>
                      </a:r>
                      <a:endParaRPr sz="24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==</a:t>
                      </a:r>
                      <a:endParaRPr sz="24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&amp;&amp;</a:t>
                      </a:r>
                      <a:endParaRPr sz="24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761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++      - -</a:t>
                      </a:r>
                      <a:endParaRPr sz="24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&lt;  &gt;   &lt;=    &gt;=</a:t>
                      </a:r>
                      <a:endParaRPr sz="24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||</a:t>
                      </a:r>
                      <a:endParaRPr sz="24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761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%</a:t>
                      </a:r>
                      <a:endParaRPr sz="24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!=</a:t>
                      </a:r>
                      <a:endParaRPr sz="24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!</a:t>
                      </a:r>
                      <a:endParaRPr sz="24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5"/>
          <p:cNvSpPr txBox="1"/>
          <p:nvPr>
            <p:ph type="title"/>
          </p:nvPr>
        </p:nvSpPr>
        <p:spPr>
          <a:xfrm>
            <a:off x="311700" y="1816975"/>
            <a:ext cx="8520600" cy="16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Arrays, Mapping, String, Struct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Reference Types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6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- Array</a:t>
            </a:r>
            <a:endParaRPr/>
          </a:p>
        </p:txBody>
      </p:sp>
      <p:sp>
        <p:nvSpPr>
          <p:cNvPr id="418" name="Google Shape;418;p46"/>
          <p:cNvSpPr/>
          <p:nvPr/>
        </p:nvSpPr>
        <p:spPr>
          <a:xfrm>
            <a:off x="1240275" y="1141275"/>
            <a:ext cx="719100" cy="656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</a:t>
            </a:r>
            <a:endParaRPr/>
          </a:p>
        </p:txBody>
      </p:sp>
      <p:sp>
        <p:nvSpPr>
          <p:cNvPr id="419" name="Google Shape;419;p46"/>
          <p:cNvSpPr/>
          <p:nvPr/>
        </p:nvSpPr>
        <p:spPr>
          <a:xfrm>
            <a:off x="1926075" y="1141275"/>
            <a:ext cx="719100" cy="656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</a:t>
            </a:r>
            <a:endParaRPr/>
          </a:p>
        </p:txBody>
      </p:sp>
      <p:sp>
        <p:nvSpPr>
          <p:cNvPr id="420" name="Google Shape;420;p46"/>
          <p:cNvSpPr/>
          <p:nvPr/>
        </p:nvSpPr>
        <p:spPr>
          <a:xfrm>
            <a:off x="2611875" y="1141275"/>
            <a:ext cx="719100" cy="656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</a:t>
            </a:r>
            <a:endParaRPr/>
          </a:p>
        </p:txBody>
      </p:sp>
      <p:sp>
        <p:nvSpPr>
          <p:cNvPr id="421" name="Google Shape;421;p46"/>
          <p:cNvSpPr/>
          <p:nvPr/>
        </p:nvSpPr>
        <p:spPr>
          <a:xfrm>
            <a:off x="5691950" y="1141275"/>
            <a:ext cx="719100" cy="656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bool</a:t>
            </a:r>
            <a:endParaRPr/>
          </a:p>
        </p:txBody>
      </p:sp>
      <p:sp>
        <p:nvSpPr>
          <p:cNvPr id="422" name="Google Shape;422;p46"/>
          <p:cNvSpPr/>
          <p:nvPr/>
        </p:nvSpPr>
        <p:spPr>
          <a:xfrm>
            <a:off x="6377750" y="1141275"/>
            <a:ext cx="719100" cy="656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bool</a:t>
            </a:r>
            <a:endParaRPr/>
          </a:p>
        </p:txBody>
      </p:sp>
      <p:sp>
        <p:nvSpPr>
          <p:cNvPr id="423" name="Google Shape;423;p46"/>
          <p:cNvSpPr/>
          <p:nvPr/>
        </p:nvSpPr>
        <p:spPr>
          <a:xfrm>
            <a:off x="7063550" y="1141275"/>
            <a:ext cx="719100" cy="656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bool</a:t>
            </a:r>
            <a:endParaRPr/>
          </a:p>
        </p:txBody>
      </p:sp>
      <p:sp>
        <p:nvSpPr>
          <p:cNvPr id="424" name="Google Shape;424;p46"/>
          <p:cNvSpPr/>
          <p:nvPr/>
        </p:nvSpPr>
        <p:spPr>
          <a:xfrm>
            <a:off x="1240275" y="2243400"/>
            <a:ext cx="719100" cy="656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425" name="Google Shape;425;p46"/>
          <p:cNvSpPr/>
          <p:nvPr/>
        </p:nvSpPr>
        <p:spPr>
          <a:xfrm>
            <a:off x="1926075" y="2243400"/>
            <a:ext cx="719100" cy="656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67</a:t>
            </a:r>
            <a:endParaRPr/>
          </a:p>
        </p:txBody>
      </p:sp>
      <p:sp>
        <p:nvSpPr>
          <p:cNvPr id="426" name="Google Shape;426;p46"/>
          <p:cNvSpPr/>
          <p:nvPr/>
        </p:nvSpPr>
        <p:spPr>
          <a:xfrm>
            <a:off x="2611875" y="2243400"/>
            <a:ext cx="719100" cy="656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23</a:t>
            </a:r>
            <a:endParaRPr/>
          </a:p>
        </p:txBody>
      </p:sp>
      <p:sp>
        <p:nvSpPr>
          <p:cNvPr id="427" name="Google Shape;427;p46"/>
          <p:cNvSpPr/>
          <p:nvPr/>
        </p:nvSpPr>
        <p:spPr>
          <a:xfrm>
            <a:off x="1240275" y="3052400"/>
            <a:ext cx="719100" cy="340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428" name="Google Shape;428;p46"/>
          <p:cNvSpPr/>
          <p:nvPr/>
        </p:nvSpPr>
        <p:spPr>
          <a:xfrm>
            <a:off x="1926075" y="3052400"/>
            <a:ext cx="719100" cy="340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429" name="Google Shape;429;p46"/>
          <p:cNvSpPr/>
          <p:nvPr/>
        </p:nvSpPr>
        <p:spPr>
          <a:xfrm>
            <a:off x="2611875" y="3052400"/>
            <a:ext cx="719100" cy="340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430" name="Google Shape;430;p46"/>
          <p:cNvSpPr txBox="1"/>
          <p:nvPr/>
        </p:nvSpPr>
        <p:spPr>
          <a:xfrm>
            <a:off x="4382650" y="2391950"/>
            <a:ext cx="1309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array[0] = 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array[1] = 67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array[2] = 23</a:t>
            </a:r>
            <a:endParaRPr/>
          </a:p>
        </p:txBody>
      </p:sp>
      <p:sp>
        <p:nvSpPr>
          <p:cNvPr id="431" name="Google Shape;431;p46"/>
          <p:cNvSpPr txBox="1"/>
          <p:nvPr/>
        </p:nvSpPr>
        <p:spPr>
          <a:xfrm>
            <a:off x="5914775" y="2595200"/>
            <a:ext cx="1688400" cy="400200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indexes start at 0!</a:t>
            </a:r>
            <a:endParaRPr/>
          </a:p>
        </p:txBody>
      </p:sp>
      <p:graphicFrame>
        <p:nvGraphicFramePr>
          <p:cNvPr id="432" name="Google Shape;432;p46"/>
          <p:cNvGraphicFramePr/>
          <p:nvPr/>
        </p:nvGraphicFramePr>
        <p:xfrm>
          <a:off x="952500" y="3792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{42737C02-30B4-4A5D-93EC-942BC0A58A50}</a:tableStyleId>
              </a:tblPr>
              <a:tblGrid>
                <a:gridCol w="3619500"/>
                <a:gridCol w="3619500"/>
              </a:tblGrid>
              <a:tr h="486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array.push</a:t>
                      </a:r>
                      <a:endParaRPr b="1" sz="1600"/>
                    </a:p>
                  </a:txBody>
                  <a:tcPr marT="91425" marB="91425" marR="91425" marL="91425">
                    <a:lnL cap="flat" cmpd="sng" w="2857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array.length</a:t>
                      </a:r>
                      <a:endParaRPr b="1" sz="1600"/>
                    </a:p>
                  </a:txBody>
                  <a:tcPr marT="91425" marB="91425" marR="91425" marL="91425">
                    <a:lnL cap="flat" cmpd="sng" w="2857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486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array.pop</a:t>
                      </a:r>
                      <a:endParaRPr b="1" sz="1600"/>
                    </a:p>
                  </a:txBody>
                  <a:tcPr marT="91425" marB="91425" marR="91425" marL="91425">
                    <a:lnL cap="flat" cmpd="sng" w="2857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delete array</a:t>
                      </a:r>
                      <a:endParaRPr b="1" sz="1600"/>
                    </a:p>
                  </a:txBody>
                  <a:tcPr marT="91425" marB="91425" marR="91425" marL="91425">
                    <a:lnL cap="flat" cmpd="sng" w="2857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7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- String</a:t>
            </a:r>
            <a:endParaRPr/>
          </a:p>
        </p:txBody>
      </p:sp>
      <p:sp>
        <p:nvSpPr>
          <p:cNvPr id="438" name="Google Shape;438;p47"/>
          <p:cNvSpPr/>
          <p:nvPr/>
        </p:nvSpPr>
        <p:spPr>
          <a:xfrm>
            <a:off x="2430175" y="2188725"/>
            <a:ext cx="719100" cy="828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H</a:t>
            </a:r>
            <a:endParaRPr b="1" sz="3000"/>
          </a:p>
        </p:txBody>
      </p:sp>
      <p:sp>
        <p:nvSpPr>
          <p:cNvPr id="439" name="Google Shape;439;p47"/>
          <p:cNvSpPr/>
          <p:nvPr/>
        </p:nvSpPr>
        <p:spPr>
          <a:xfrm>
            <a:off x="3115975" y="2188725"/>
            <a:ext cx="719100" cy="828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E</a:t>
            </a:r>
            <a:endParaRPr b="1" sz="3000"/>
          </a:p>
        </p:txBody>
      </p:sp>
      <p:sp>
        <p:nvSpPr>
          <p:cNvPr id="440" name="Google Shape;440;p47"/>
          <p:cNvSpPr/>
          <p:nvPr/>
        </p:nvSpPr>
        <p:spPr>
          <a:xfrm>
            <a:off x="3801775" y="2188725"/>
            <a:ext cx="719100" cy="828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L</a:t>
            </a:r>
            <a:endParaRPr b="1" sz="3000"/>
          </a:p>
        </p:txBody>
      </p:sp>
      <p:sp>
        <p:nvSpPr>
          <p:cNvPr id="441" name="Google Shape;441;p47"/>
          <p:cNvSpPr/>
          <p:nvPr/>
        </p:nvSpPr>
        <p:spPr>
          <a:xfrm>
            <a:off x="4487575" y="2188725"/>
            <a:ext cx="719100" cy="828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L</a:t>
            </a:r>
            <a:endParaRPr b="1" sz="3000"/>
          </a:p>
        </p:txBody>
      </p:sp>
      <p:sp>
        <p:nvSpPr>
          <p:cNvPr id="442" name="Google Shape;442;p47"/>
          <p:cNvSpPr/>
          <p:nvPr/>
        </p:nvSpPr>
        <p:spPr>
          <a:xfrm>
            <a:off x="5173375" y="2188725"/>
            <a:ext cx="719100" cy="828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O</a:t>
            </a:r>
            <a:endParaRPr b="1" sz="3000"/>
          </a:p>
        </p:txBody>
      </p:sp>
      <p:sp>
        <p:nvSpPr>
          <p:cNvPr id="443" name="Google Shape;443;p47"/>
          <p:cNvSpPr/>
          <p:nvPr/>
        </p:nvSpPr>
        <p:spPr>
          <a:xfrm>
            <a:off x="5888850" y="2188725"/>
            <a:ext cx="719100" cy="828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!</a:t>
            </a:r>
            <a:endParaRPr b="1" sz="30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Casting</a:t>
            </a:r>
            <a:endParaRPr/>
          </a:p>
        </p:txBody>
      </p:sp>
      <p:sp>
        <p:nvSpPr>
          <p:cNvPr id="449" name="Google Shape;449;p48"/>
          <p:cNvSpPr txBox="1"/>
          <p:nvPr/>
        </p:nvSpPr>
        <p:spPr>
          <a:xfrm>
            <a:off x="1834550" y="3166925"/>
            <a:ext cx="56019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uint8 a = 1; 	=&gt;		00000001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b = uint16(a);	=&gt;		0000000000000001</a:t>
            </a:r>
            <a:endParaRPr sz="2200"/>
          </a:p>
        </p:txBody>
      </p:sp>
      <p:sp>
        <p:nvSpPr>
          <p:cNvPr id="450" name="Google Shape;450;p48"/>
          <p:cNvSpPr txBox="1"/>
          <p:nvPr/>
        </p:nvSpPr>
        <p:spPr>
          <a:xfrm>
            <a:off x="705975" y="1876000"/>
            <a:ext cx="3063300" cy="8313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Solidity Strings have no functions!!!</a:t>
            </a:r>
            <a:endParaRPr sz="2100"/>
          </a:p>
        </p:txBody>
      </p:sp>
      <p:sp>
        <p:nvSpPr>
          <p:cNvPr id="451" name="Google Shape;451;p48"/>
          <p:cNvSpPr txBox="1"/>
          <p:nvPr/>
        </p:nvSpPr>
        <p:spPr>
          <a:xfrm>
            <a:off x="5340650" y="1860700"/>
            <a:ext cx="3568200" cy="12006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/>
              <a:t>string</a:t>
            </a:r>
            <a:r>
              <a:rPr lang="en" sz="2200"/>
              <a:t> hello = "hello";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/>
              <a:t>bytes</a:t>
            </a:r>
            <a:r>
              <a:rPr lang="en" sz="2200"/>
              <a:t> casted_hello = bytes(hello);</a:t>
            </a:r>
            <a:endParaRPr sz="2200"/>
          </a:p>
        </p:txBody>
      </p:sp>
      <p:sp>
        <p:nvSpPr>
          <p:cNvPr id="452" name="Google Shape;452;p48"/>
          <p:cNvSpPr/>
          <p:nvPr/>
        </p:nvSpPr>
        <p:spPr>
          <a:xfrm>
            <a:off x="4185400" y="2174650"/>
            <a:ext cx="680700" cy="39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48"/>
          <p:cNvSpPr txBox="1"/>
          <p:nvPr/>
        </p:nvSpPr>
        <p:spPr>
          <a:xfrm>
            <a:off x="1722625" y="4155102"/>
            <a:ext cx="5902800" cy="800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</a:rPr>
              <a:t>Bonus: Is it dangerous to go the other way around? Eg. uint 16 =&gt; uint8</a:t>
            </a:r>
            <a:endParaRPr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9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- Mapping</a:t>
            </a:r>
            <a:endParaRPr/>
          </a:p>
        </p:txBody>
      </p:sp>
      <p:sp>
        <p:nvSpPr>
          <p:cNvPr id="459" name="Google Shape;459;p49"/>
          <p:cNvSpPr/>
          <p:nvPr/>
        </p:nvSpPr>
        <p:spPr>
          <a:xfrm>
            <a:off x="809900" y="1418250"/>
            <a:ext cx="1096800" cy="98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</a:rPr>
              <a:t>Key</a:t>
            </a:r>
            <a:endParaRPr b="1" sz="2000"/>
          </a:p>
        </p:txBody>
      </p:sp>
      <p:sp>
        <p:nvSpPr>
          <p:cNvPr id="460" name="Google Shape;460;p49"/>
          <p:cNvSpPr/>
          <p:nvPr/>
        </p:nvSpPr>
        <p:spPr>
          <a:xfrm>
            <a:off x="3778200" y="1435950"/>
            <a:ext cx="1096800" cy="98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</a:rPr>
              <a:t>value</a:t>
            </a:r>
            <a:endParaRPr b="1" sz="2000"/>
          </a:p>
        </p:txBody>
      </p:sp>
      <p:sp>
        <p:nvSpPr>
          <p:cNvPr id="461" name="Google Shape;461;p49"/>
          <p:cNvSpPr txBox="1"/>
          <p:nvPr/>
        </p:nvSpPr>
        <p:spPr>
          <a:xfrm>
            <a:off x="2433925" y="1452700"/>
            <a:ext cx="1096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=&gt;</a:t>
            </a:r>
            <a:endParaRPr sz="4800"/>
          </a:p>
        </p:txBody>
      </p:sp>
      <p:pic>
        <p:nvPicPr>
          <p:cNvPr id="462" name="Google Shape;462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7277" y="1777368"/>
            <a:ext cx="3517175" cy="2908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1750" y="3157350"/>
            <a:ext cx="1454950" cy="1301474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49"/>
          <p:cNvSpPr txBox="1"/>
          <p:nvPr/>
        </p:nvSpPr>
        <p:spPr>
          <a:xfrm>
            <a:off x="2026300" y="3232475"/>
            <a:ext cx="2943900" cy="12315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Now it's getting annoying…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700"/>
            </a:br>
            <a:r>
              <a:rPr lang="en" sz="1700"/>
              <a:t>- can't find length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- can't loop through keys</a:t>
            </a:r>
            <a:endParaRPr sz="17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0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- Struct</a:t>
            </a:r>
            <a:endParaRPr/>
          </a:p>
        </p:txBody>
      </p:sp>
      <p:sp>
        <p:nvSpPr>
          <p:cNvPr id="470" name="Google Shape;470;p50"/>
          <p:cNvSpPr txBox="1"/>
          <p:nvPr/>
        </p:nvSpPr>
        <p:spPr>
          <a:xfrm>
            <a:off x="1027425" y="1588450"/>
            <a:ext cx="2080200" cy="2124000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struct Object {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	property1;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	property2;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}</a:t>
            </a:r>
            <a:endParaRPr sz="2100"/>
          </a:p>
        </p:txBody>
      </p:sp>
      <p:sp>
        <p:nvSpPr>
          <p:cNvPr id="471" name="Google Shape;471;p50"/>
          <p:cNvSpPr txBox="1"/>
          <p:nvPr/>
        </p:nvSpPr>
        <p:spPr>
          <a:xfrm>
            <a:off x="1101375" y="3990000"/>
            <a:ext cx="1928700" cy="461700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Object.property</a:t>
            </a:r>
            <a:endParaRPr sz="1800"/>
          </a:p>
        </p:txBody>
      </p:sp>
      <p:pic>
        <p:nvPicPr>
          <p:cNvPr id="472" name="Google Shape;472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8275" y="699700"/>
            <a:ext cx="2302374" cy="2302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67700" y="3078849"/>
            <a:ext cx="2494568" cy="1836626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50"/>
          <p:cNvSpPr txBox="1"/>
          <p:nvPr/>
        </p:nvSpPr>
        <p:spPr>
          <a:xfrm>
            <a:off x="6889525" y="1627688"/>
            <a:ext cx="1846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Nesting allowed!</a:t>
            </a:r>
            <a:endParaRPr sz="1700"/>
          </a:p>
        </p:txBody>
      </p:sp>
      <p:sp>
        <p:nvSpPr>
          <p:cNvPr id="475" name="Google Shape;475;p50"/>
          <p:cNvSpPr txBox="1"/>
          <p:nvPr/>
        </p:nvSpPr>
        <p:spPr>
          <a:xfrm>
            <a:off x="6889525" y="3372075"/>
            <a:ext cx="1846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Observe tight variable packing</a:t>
            </a:r>
            <a:endParaRPr sz="1700"/>
          </a:p>
        </p:txBody>
      </p:sp>
      <p:sp>
        <p:nvSpPr>
          <p:cNvPr id="476" name="Google Shape;476;p50"/>
          <p:cNvSpPr txBox="1"/>
          <p:nvPr/>
        </p:nvSpPr>
        <p:spPr>
          <a:xfrm>
            <a:off x="6772825" y="4216875"/>
            <a:ext cx="2080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https://fravoll.github.io/solidity-patterns/tight_variable_packing.html</a:t>
            </a:r>
            <a:endParaRPr sz="12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51"/>
          <p:cNvSpPr txBox="1"/>
          <p:nvPr>
            <p:ph type="title"/>
          </p:nvPr>
        </p:nvSpPr>
        <p:spPr>
          <a:xfrm>
            <a:off x="311700" y="2926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Memory Fragmentation</a:t>
            </a:r>
            <a:endParaRPr/>
          </a:p>
        </p:txBody>
      </p:sp>
      <p:sp>
        <p:nvSpPr>
          <p:cNvPr id="482" name="Google Shape;482;p51"/>
          <p:cNvSpPr/>
          <p:nvPr/>
        </p:nvSpPr>
        <p:spPr>
          <a:xfrm>
            <a:off x="1086825" y="3655675"/>
            <a:ext cx="2545500" cy="613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483" name="Google Shape;483;p51"/>
          <p:cNvSpPr/>
          <p:nvPr/>
        </p:nvSpPr>
        <p:spPr>
          <a:xfrm>
            <a:off x="1086825" y="3042475"/>
            <a:ext cx="2545500" cy="613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Old Standard TT"/>
                <a:ea typeface="Old Standard TT"/>
                <a:cs typeface="Old Standard TT"/>
                <a:sym typeface="Old Standard TT"/>
              </a:rPr>
              <a:t>World</a:t>
            </a:r>
            <a:endParaRPr sz="19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484" name="Google Shape;484;p51"/>
          <p:cNvSpPr/>
          <p:nvPr/>
        </p:nvSpPr>
        <p:spPr>
          <a:xfrm>
            <a:off x="1086825" y="2429275"/>
            <a:ext cx="2545500" cy="613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485" name="Google Shape;485;p51"/>
          <p:cNvSpPr/>
          <p:nvPr/>
        </p:nvSpPr>
        <p:spPr>
          <a:xfrm>
            <a:off x="5811225" y="3655675"/>
            <a:ext cx="2545500" cy="613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486" name="Google Shape;486;p51"/>
          <p:cNvSpPr/>
          <p:nvPr/>
        </p:nvSpPr>
        <p:spPr>
          <a:xfrm>
            <a:off x="5811225" y="3042475"/>
            <a:ext cx="2545500" cy="613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487" name="Google Shape;487;p51"/>
          <p:cNvSpPr txBox="1"/>
          <p:nvPr/>
        </p:nvSpPr>
        <p:spPr>
          <a:xfrm>
            <a:off x="1520125" y="922800"/>
            <a:ext cx="17262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struct a{</a:t>
            </a: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  uint128 Hello;</a:t>
            </a: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  uint256 World;</a:t>
            </a: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  uint128 Today;</a:t>
            </a: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}</a:t>
            </a: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cxnSp>
        <p:nvCxnSpPr>
          <p:cNvPr id="488" name="Google Shape;488;p51"/>
          <p:cNvCxnSpPr>
            <a:stCxn id="483" idx="2"/>
            <a:endCxn id="482" idx="2"/>
          </p:cNvCxnSpPr>
          <p:nvPr/>
        </p:nvCxnSpPr>
        <p:spPr>
          <a:xfrm>
            <a:off x="2359575" y="3655675"/>
            <a:ext cx="0" cy="613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9" name="Google Shape;489;p51"/>
          <p:cNvCxnSpPr>
            <a:stCxn id="484" idx="2"/>
            <a:endCxn id="484" idx="0"/>
          </p:cNvCxnSpPr>
          <p:nvPr/>
        </p:nvCxnSpPr>
        <p:spPr>
          <a:xfrm rot="10800000">
            <a:off x="2359575" y="2429275"/>
            <a:ext cx="0" cy="613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0" name="Google Shape;490;p51"/>
          <p:cNvSpPr txBox="1"/>
          <p:nvPr/>
        </p:nvSpPr>
        <p:spPr>
          <a:xfrm>
            <a:off x="2551400" y="3747350"/>
            <a:ext cx="81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Hello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491" name="Google Shape;491;p51"/>
          <p:cNvSpPr txBox="1"/>
          <p:nvPr/>
        </p:nvSpPr>
        <p:spPr>
          <a:xfrm>
            <a:off x="2568850" y="2526875"/>
            <a:ext cx="81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Today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492" name="Google Shape;492;p51"/>
          <p:cNvSpPr txBox="1"/>
          <p:nvPr/>
        </p:nvSpPr>
        <p:spPr>
          <a:xfrm>
            <a:off x="6220875" y="922800"/>
            <a:ext cx="17262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struct a{</a:t>
            </a: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  uint128 Hello;</a:t>
            </a: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  uint128 Today;</a:t>
            </a: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  uint256 World;</a:t>
            </a: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}</a:t>
            </a: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cxnSp>
        <p:nvCxnSpPr>
          <p:cNvPr id="493" name="Google Shape;493;p51"/>
          <p:cNvCxnSpPr>
            <a:stCxn id="486" idx="2"/>
            <a:endCxn id="485" idx="2"/>
          </p:cNvCxnSpPr>
          <p:nvPr/>
        </p:nvCxnSpPr>
        <p:spPr>
          <a:xfrm>
            <a:off x="7083975" y="3655675"/>
            <a:ext cx="0" cy="613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4" name="Google Shape;494;p51"/>
          <p:cNvSpPr txBox="1"/>
          <p:nvPr/>
        </p:nvSpPr>
        <p:spPr>
          <a:xfrm>
            <a:off x="7328750" y="3771250"/>
            <a:ext cx="74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Hello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495" name="Google Shape;495;p51"/>
          <p:cNvSpPr txBox="1"/>
          <p:nvPr/>
        </p:nvSpPr>
        <p:spPr>
          <a:xfrm>
            <a:off x="6114725" y="3771250"/>
            <a:ext cx="89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Today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496" name="Google Shape;496;p51"/>
          <p:cNvSpPr txBox="1"/>
          <p:nvPr/>
        </p:nvSpPr>
        <p:spPr>
          <a:xfrm>
            <a:off x="6648125" y="3161650"/>
            <a:ext cx="89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World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2"/>
          <p:cNvSpPr txBox="1"/>
          <p:nvPr>
            <p:ph type="title"/>
          </p:nvPr>
        </p:nvSpPr>
        <p:spPr>
          <a:xfrm>
            <a:off x="311700" y="1816975"/>
            <a:ext cx="8520600" cy="16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Solidity Variables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Instantiation and Scope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53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Existence is….. dynamic and fixed / variable and literal</a:t>
            </a:r>
            <a:endParaRPr/>
          </a:p>
        </p:txBody>
      </p:sp>
      <p:sp>
        <p:nvSpPr>
          <p:cNvPr id="507" name="Google Shape;507;p53"/>
          <p:cNvSpPr txBox="1"/>
          <p:nvPr/>
        </p:nvSpPr>
        <p:spPr>
          <a:xfrm>
            <a:off x="837850" y="1547750"/>
            <a:ext cx="1203900" cy="4770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Old Standard TT"/>
                <a:ea typeface="Old Standard TT"/>
                <a:cs typeface="Old Standard TT"/>
                <a:sym typeface="Old Standard TT"/>
              </a:rPr>
              <a:t>Dynamic</a:t>
            </a:r>
            <a:endParaRPr sz="19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508" name="Google Shape;508;p53"/>
          <p:cNvSpPr txBox="1"/>
          <p:nvPr/>
        </p:nvSpPr>
        <p:spPr>
          <a:xfrm>
            <a:off x="837850" y="2385950"/>
            <a:ext cx="1203900" cy="477000"/>
          </a:xfrm>
          <a:prstGeom prst="rect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Old Standard TT"/>
                <a:ea typeface="Old Standard TT"/>
                <a:cs typeface="Old Standard TT"/>
                <a:sym typeface="Old Standard TT"/>
              </a:rPr>
              <a:t>Fixed</a:t>
            </a:r>
            <a:endParaRPr sz="19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509" name="Google Shape;509;p53"/>
          <p:cNvSpPr txBox="1"/>
          <p:nvPr/>
        </p:nvSpPr>
        <p:spPr>
          <a:xfrm>
            <a:off x="837850" y="3224150"/>
            <a:ext cx="1203900" cy="477000"/>
          </a:xfrm>
          <a:prstGeom prst="rect">
            <a:avLst/>
          </a:prstGeom>
          <a:noFill/>
          <a:ln cap="flat" cmpd="sng" w="2857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Old Standard TT"/>
                <a:ea typeface="Old Standard TT"/>
                <a:cs typeface="Old Standard TT"/>
                <a:sym typeface="Old Standard TT"/>
              </a:rPr>
              <a:t>variable</a:t>
            </a:r>
            <a:endParaRPr sz="19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510" name="Google Shape;510;p53"/>
          <p:cNvSpPr txBox="1"/>
          <p:nvPr/>
        </p:nvSpPr>
        <p:spPr>
          <a:xfrm>
            <a:off x="837850" y="4138550"/>
            <a:ext cx="1203900" cy="477000"/>
          </a:xfrm>
          <a:prstGeom prst="rect">
            <a:avLst/>
          </a:prstGeom>
          <a:noFill/>
          <a:ln cap="flat" cmpd="sng" w="2857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Old Standard TT"/>
                <a:ea typeface="Old Standard TT"/>
                <a:cs typeface="Old Standard TT"/>
                <a:sym typeface="Old Standard TT"/>
              </a:rPr>
              <a:t>literal</a:t>
            </a:r>
            <a:endParaRPr sz="19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511" name="Google Shape;511;p53"/>
          <p:cNvSpPr txBox="1"/>
          <p:nvPr/>
        </p:nvSpPr>
        <p:spPr>
          <a:xfrm>
            <a:off x="2960100" y="1487175"/>
            <a:ext cx="2610600" cy="615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Can only do if in storage, expensive and painful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512" name="Google Shape;512;p53"/>
          <p:cNvSpPr txBox="1"/>
          <p:nvPr/>
        </p:nvSpPr>
        <p:spPr>
          <a:xfrm>
            <a:off x="2969825" y="2362275"/>
            <a:ext cx="2522700" cy="615600"/>
          </a:xfrm>
          <a:prstGeom prst="rect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Amount of memory needed known upon declaration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513" name="Google Shape;513;p53"/>
          <p:cNvSpPr txBox="1"/>
          <p:nvPr/>
        </p:nvSpPr>
        <p:spPr>
          <a:xfrm>
            <a:off x="2971450" y="3224150"/>
            <a:ext cx="2022900" cy="400200"/>
          </a:xfrm>
          <a:prstGeom prst="rect">
            <a:avLst/>
          </a:prstGeom>
          <a:noFill/>
          <a:ln cap="flat" cmpd="sng" w="2857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Only the type is known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514" name="Google Shape;514;p53"/>
          <p:cNvSpPr txBox="1"/>
          <p:nvPr/>
        </p:nvSpPr>
        <p:spPr>
          <a:xfrm>
            <a:off x="6323400" y="3224750"/>
            <a:ext cx="1946700" cy="400200"/>
          </a:xfrm>
          <a:prstGeom prst="rect">
            <a:avLst/>
          </a:prstGeom>
          <a:noFill/>
          <a:ln cap="flat" cmpd="sng" w="2857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int a;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515" name="Google Shape;515;p53"/>
          <p:cNvSpPr txBox="1"/>
          <p:nvPr/>
        </p:nvSpPr>
        <p:spPr>
          <a:xfrm>
            <a:off x="2971450" y="4138550"/>
            <a:ext cx="2099100" cy="400200"/>
          </a:xfrm>
          <a:prstGeom prst="rect">
            <a:avLst/>
          </a:prstGeom>
          <a:noFill/>
          <a:ln cap="flat" cmpd="sng" w="2857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type and value known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516" name="Google Shape;516;p53"/>
          <p:cNvSpPr txBox="1"/>
          <p:nvPr/>
        </p:nvSpPr>
        <p:spPr>
          <a:xfrm>
            <a:off x="6361500" y="4139150"/>
            <a:ext cx="1984800" cy="400200"/>
          </a:xfrm>
          <a:prstGeom prst="rect">
            <a:avLst/>
          </a:prstGeom>
          <a:noFill/>
          <a:ln cap="flat" cmpd="sng" w="2857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int a = 5;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517" name="Google Shape;517;p53"/>
          <p:cNvSpPr txBox="1"/>
          <p:nvPr/>
        </p:nvSpPr>
        <p:spPr>
          <a:xfrm>
            <a:off x="6092550" y="2362275"/>
            <a:ext cx="2522700" cy="615600"/>
          </a:xfrm>
          <a:prstGeom prst="rect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int[5] fixed;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int[] fixed = new int(5);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518" name="Google Shape;518;p53"/>
          <p:cNvSpPr txBox="1"/>
          <p:nvPr/>
        </p:nvSpPr>
        <p:spPr>
          <a:xfrm>
            <a:off x="6048600" y="1637750"/>
            <a:ext cx="2610600" cy="400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int[] fixed;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54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Scope</a:t>
            </a:r>
            <a:endParaRPr/>
          </a:p>
        </p:txBody>
      </p:sp>
      <p:sp>
        <p:nvSpPr>
          <p:cNvPr id="524" name="Google Shape;524;p54"/>
          <p:cNvSpPr txBox="1"/>
          <p:nvPr/>
        </p:nvSpPr>
        <p:spPr>
          <a:xfrm>
            <a:off x="3434675" y="4303225"/>
            <a:ext cx="2720400" cy="492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ld Standard TT"/>
                <a:ea typeface="Old Standard TT"/>
                <a:cs typeface="Old Standard TT"/>
                <a:sym typeface="Old Standard TT"/>
              </a:rPr>
              <a:t>Internal?      External?</a:t>
            </a:r>
            <a:endParaRPr sz="20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525" name="Google Shape;525;p54"/>
          <p:cNvSpPr/>
          <p:nvPr/>
        </p:nvSpPr>
        <p:spPr>
          <a:xfrm>
            <a:off x="1287175" y="1063100"/>
            <a:ext cx="2298300" cy="3048600"/>
          </a:xfrm>
          <a:prstGeom prst="rect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54"/>
          <p:cNvSpPr txBox="1"/>
          <p:nvPr/>
        </p:nvSpPr>
        <p:spPr>
          <a:xfrm>
            <a:off x="1939850" y="1643500"/>
            <a:ext cx="953700" cy="446400"/>
          </a:xfrm>
          <a:prstGeom prst="rect">
            <a:avLst/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Old Standard TT"/>
                <a:ea typeface="Old Standard TT"/>
                <a:cs typeface="Old Standard TT"/>
                <a:sym typeface="Old Standard TT"/>
              </a:rPr>
              <a:t>Private</a:t>
            </a:r>
            <a:endParaRPr sz="17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527" name="Google Shape;527;p54"/>
          <p:cNvSpPr txBox="1"/>
          <p:nvPr/>
        </p:nvSpPr>
        <p:spPr>
          <a:xfrm>
            <a:off x="1967175" y="3048575"/>
            <a:ext cx="813000" cy="431100"/>
          </a:xfrm>
          <a:prstGeom prst="rect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Old Standard TT"/>
                <a:ea typeface="Old Standard TT"/>
                <a:cs typeface="Old Standard TT"/>
                <a:sym typeface="Old Standard TT"/>
              </a:rPr>
              <a:t>Public</a:t>
            </a:r>
            <a:endParaRPr sz="16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528" name="Google Shape;528;p54"/>
          <p:cNvSpPr/>
          <p:nvPr/>
        </p:nvSpPr>
        <p:spPr>
          <a:xfrm>
            <a:off x="3225750" y="3204925"/>
            <a:ext cx="2720400" cy="125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54"/>
          <p:cNvSpPr txBox="1"/>
          <p:nvPr/>
        </p:nvSpPr>
        <p:spPr>
          <a:xfrm>
            <a:off x="6215725" y="2899525"/>
            <a:ext cx="1497000" cy="738900"/>
          </a:xfrm>
          <a:prstGeom prst="rect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ld Standard TT"/>
                <a:ea typeface="Old Standard TT"/>
                <a:cs typeface="Old Standard TT"/>
                <a:sym typeface="Old Standard TT"/>
              </a:rPr>
              <a:t>Getter Function</a:t>
            </a:r>
            <a:endParaRPr sz="18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530" name="Google Shape;530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7025" y="1017725"/>
            <a:ext cx="2034801" cy="2034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55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Instantiation</a:t>
            </a:r>
            <a:endParaRPr/>
          </a:p>
        </p:txBody>
      </p:sp>
      <p:sp>
        <p:nvSpPr>
          <p:cNvPr id="536" name="Google Shape;536;p55"/>
          <p:cNvSpPr/>
          <p:nvPr/>
        </p:nvSpPr>
        <p:spPr>
          <a:xfrm>
            <a:off x="1939025" y="1011050"/>
            <a:ext cx="1512900" cy="870000"/>
          </a:xfrm>
          <a:prstGeom prst="rect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Type</a:t>
            </a:r>
            <a:endParaRPr b="1" sz="2000"/>
          </a:p>
        </p:txBody>
      </p:sp>
      <p:sp>
        <p:nvSpPr>
          <p:cNvPr id="537" name="Google Shape;537;p55"/>
          <p:cNvSpPr/>
          <p:nvPr/>
        </p:nvSpPr>
        <p:spPr>
          <a:xfrm>
            <a:off x="3925700" y="1011050"/>
            <a:ext cx="1512900" cy="870000"/>
          </a:xfrm>
          <a:prstGeom prst="rect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Scope</a:t>
            </a:r>
            <a:endParaRPr b="1" sz="2000"/>
          </a:p>
        </p:txBody>
      </p:sp>
      <p:sp>
        <p:nvSpPr>
          <p:cNvPr id="538" name="Google Shape;538;p55"/>
          <p:cNvSpPr/>
          <p:nvPr/>
        </p:nvSpPr>
        <p:spPr>
          <a:xfrm>
            <a:off x="5912375" y="1011050"/>
            <a:ext cx="1512900" cy="870000"/>
          </a:xfrm>
          <a:prstGeom prst="rect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Name</a:t>
            </a:r>
            <a:endParaRPr b="1" sz="2000"/>
          </a:p>
        </p:txBody>
      </p:sp>
      <p:sp>
        <p:nvSpPr>
          <p:cNvPr id="539" name="Google Shape;539;p55"/>
          <p:cNvSpPr txBox="1"/>
          <p:nvPr/>
        </p:nvSpPr>
        <p:spPr>
          <a:xfrm>
            <a:off x="735325" y="3707525"/>
            <a:ext cx="1710300" cy="477000"/>
          </a:xfrm>
          <a:prstGeom prst="rect">
            <a:avLst/>
          </a:prstGeom>
          <a:noFill/>
          <a:ln cap="flat" cmpd="sng" w="9525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bool private b;</a:t>
            </a:r>
            <a:endParaRPr sz="1900"/>
          </a:p>
        </p:txBody>
      </p:sp>
      <p:sp>
        <p:nvSpPr>
          <p:cNvPr id="540" name="Google Shape;540;p55"/>
          <p:cNvSpPr txBox="1"/>
          <p:nvPr/>
        </p:nvSpPr>
        <p:spPr>
          <a:xfrm>
            <a:off x="1311100" y="2194100"/>
            <a:ext cx="5313600" cy="461700"/>
          </a:xfrm>
          <a:prstGeom prst="rect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mapping(address =&gt;string[]) internal ownerToList</a:t>
            </a:r>
            <a:endParaRPr sz="1800"/>
          </a:p>
        </p:txBody>
      </p:sp>
      <p:sp>
        <p:nvSpPr>
          <p:cNvPr id="541" name="Google Shape;541;p55"/>
          <p:cNvSpPr txBox="1"/>
          <p:nvPr/>
        </p:nvSpPr>
        <p:spPr>
          <a:xfrm>
            <a:off x="5717100" y="2813075"/>
            <a:ext cx="2212500" cy="1293000"/>
          </a:xfrm>
          <a:prstGeom prst="rect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struct Person{</a:t>
            </a:r>
            <a:endParaRPr sz="18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string Name;</a:t>
            </a:r>
            <a:endParaRPr sz="18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uint8 age;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} </a:t>
            </a:r>
            <a:endParaRPr sz="1800"/>
          </a:p>
        </p:txBody>
      </p:sp>
      <p:sp>
        <p:nvSpPr>
          <p:cNvPr id="542" name="Google Shape;542;p55"/>
          <p:cNvSpPr txBox="1"/>
          <p:nvPr/>
        </p:nvSpPr>
        <p:spPr>
          <a:xfrm>
            <a:off x="2140500" y="4360550"/>
            <a:ext cx="1630200" cy="477000"/>
          </a:xfrm>
          <a:prstGeom prst="rect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uint public a;</a:t>
            </a:r>
            <a:endParaRPr sz="2200"/>
          </a:p>
        </p:txBody>
      </p:sp>
      <p:sp>
        <p:nvSpPr>
          <p:cNvPr id="543" name="Google Shape;543;p55"/>
          <p:cNvSpPr txBox="1"/>
          <p:nvPr/>
        </p:nvSpPr>
        <p:spPr>
          <a:xfrm>
            <a:off x="3013100" y="3682400"/>
            <a:ext cx="2425500" cy="461700"/>
          </a:xfrm>
          <a:prstGeom prst="rect">
            <a:avLst/>
          </a:prstGeom>
          <a:noFill/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uint[] public numbers;</a:t>
            </a:r>
            <a:endParaRPr sz="1800"/>
          </a:p>
        </p:txBody>
      </p:sp>
      <p:sp>
        <p:nvSpPr>
          <p:cNvPr id="544" name="Google Shape;544;p55"/>
          <p:cNvSpPr txBox="1"/>
          <p:nvPr/>
        </p:nvSpPr>
        <p:spPr>
          <a:xfrm>
            <a:off x="4574100" y="4397700"/>
            <a:ext cx="2212500" cy="461700"/>
          </a:xfrm>
          <a:prstGeom prst="rect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Person memory a = </a:t>
            </a:r>
            <a:endParaRPr sz="1800"/>
          </a:p>
        </p:txBody>
      </p:sp>
      <p:sp>
        <p:nvSpPr>
          <p:cNvPr id="545" name="Google Shape;545;p55"/>
          <p:cNvSpPr txBox="1"/>
          <p:nvPr/>
        </p:nvSpPr>
        <p:spPr>
          <a:xfrm>
            <a:off x="1565300" y="2920400"/>
            <a:ext cx="3167100" cy="461700"/>
          </a:xfrm>
          <a:prstGeom prst="rect">
            <a:avLst/>
          </a:prstGeom>
          <a:noFill/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uint[7] public numbers_fixed;</a:t>
            </a:r>
            <a:endParaRPr sz="18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56"/>
          <p:cNvSpPr txBox="1"/>
          <p:nvPr>
            <p:ph type="title"/>
          </p:nvPr>
        </p:nvSpPr>
        <p:spPr>
          <a:xfrm>
            <a:off x="311700" y="1816975"/>
            <a:ext cx="8520600" cy="16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Flow Control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if, for, while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5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….else</a:t>
            </a:r>
            <a:endParaRPr/>
          </a:p>
        </p:txBody>
      </p:sp>
      <p:sp>
        <p:nvSpPr>
          <p:cNvPr id="556" name="Google Shape;556;p57"/>
          <p:cNvSpPr txBox="1"/>
          <p:nvPr>
            <p:ph idx="1" type="body"/>
          </p:nvPr>
        </p:nvSpPr>
        <p:spPr>
          <a:xfrm>
            <a:off x="1462950" y="1525050"/>
            <a:ext cx="6540000" cy="30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if (condition){</a:t>
            </a:r>
            <a:endParaRPr sz="2200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/>
              <a:t>execution when condition is true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/>
              <a:t>} else {</a:t>
            </a:r>
            <a:endParaRPr sz="2200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/>
              <a:t>execution for all cases when condition is false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200"/>
              <a:t>}</a:t>
            </a:r>
            <a:endParaRPr sz="22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5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loop</a:t>
            </a:r>
            <a:endParaRPr/>
          </a:p>
        </p:txBody>
      </p:sp>
      <p:sp>
        <p:nvSpPr>
          <p:cNvPr id="562" name="Google Shape;562;p58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for (initialize counter; condition of counter; increment counter) {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/>
              <a:t>	continue executing until condition is met;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/>
              <a:t>}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/>
              <a:t>for (uint i = 0; i &lt; 10; i++){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/>
              <a:t>	start i from 0, do thing until i is 9 and i increases by 1 each loop;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/>
              <a:t>}</a:t>
            </a:r>
            <a:endParaRPr sz="20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5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while loop</a:t>
            </a:r>
            <a:endParaRPr/>
          </a:p>
        </p:txBody>
      </p:sp>
      <p:sp>
        <p:nvSpPr>
          <p:cNvPr id="568" name="Google Shape;568;p59"/>
          <p:cNvSpPr txBox="1"/>
          <p:nvPr>
            <p:ph idx="1" type="body"/>
          </p:nvPr>
        </p:nvSpPr>
        <p:spPr>
          <a:xfrm>
            <a:off x="1009675" y="1304325"/>
            <a:ext cx="7466700" cy="18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while (condition) {</a:t>
            </a:r>
            <a:endParaRPr sz="2200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/>
              <a:t>continue execution until condition becomes false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200"/>
              <a:t>}</a:t>
            </a:r>
            <a:endParaRPr sz="2200"/>
          </a:p>
        </p:txBody>
      </p:sp>
      <p:sp>
        <p:nvSpPr>
          <p:cNvPr id="569" name="Google Shape;569;p59"/>
          <p:cNvSpPr txBox="1"/>
          <p:nvPr/>
        </p:nvSpPr>
        <p:spPr>
          <a:xfrm>
            <a:off x="476250" y="3497775"/>
            <a:ext cx="8314200" cy="1154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Break</a:t>
            </a:r>
            <a:r>
              <a:rPr lang="en" sz="2100"/>
              <a:t> - get out of loop now!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Continue</a:t>
            </a:r>
            <a:r>
              <a:rPr lang="en" sz="2100"/>
              <a:t> - skip the reminder of the execution, go to next iteration</a:t>
            </a:r>
            <a:endParaRPr sz="21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60"/>
          <p:cNvSpPr txBox="1"/>
          <p:nvPr>
            <p:ph type="title"/>
          </p:nvPr>
        </p:nvSpPr>
        <p:spPr>
          <a:xfrm>
            <a:off x="311700" y="1816975"/>
            <a:ext cx="8520600" cy="16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Decimal to Binary Converter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lt1"/>
                </a:solidFill>
              </a:rPr>
              <a:t>Remix full workflow</a:t>
            </a:r>
            <a:endParaRPr sz="2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6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en"/>
              <a:t>Visualise how you will solve the problem</a:t>
            </a:r>
            <a:endParaRPr/>
          </a:p>
        </p:txBody>
      </p:sp>
      <p:pic>
        <p:nvPicPr>
          <p:cNvPr id="580" name="Google Shape;580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850" y="1153900"/>
            <a:ext cx="3888232" cy="3780475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61"/>
          <p:cNvSpPr txBox="1"/>
          <p:nvPr/>
        </p:nvSpPr>
        <p:spPr>
          <a:xfrm>
            <a:off x="5332575" y="25717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61"/>
          <p:cNvSpPr txBox="1"/>
          <p:nvPr/>
        </p:nvSpPr>
        <p:spPr>
          <a:xfrm>
            <a:off x="5107725" y="2133950"/>
            <a:ext cx="38250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Old Standard TT"/>
                <a:ea typeface="Old Standard TT"/>
                <a:cs typeface="Old Standard TT"/>
                <a:sym typeface="Old Standard TT"/>
              </a:rPr>
              <a:t>1. Loop through decimal number</a:t>
            </a:r>
            <a:endParaRPr sz="19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Old Standard TT"/>
                <a:ea typeface="Old Standard TT"/>
                <a:cs typeface="Old Standard TT"/>
                <a:sym typeface="Old Standard TT"/>
              </a:rPr>
              <a:t>2. Get its Quotient &amp; Reminder</a:t>
            </a:r>
            <a:endParaRPr sz="19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Old Standard TT"/>
                <a:ea typeface="Old Standard TT"/>
                <a:cs typeface="Old Standard TT"/>
                <a:sym typeface="Old Standard TT"/>
              </a:rPr>
              <a:t>3. Store Remainder</a:t>
            </a:r>
            <a:endParaRPr sz="19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Old Standard TT"/>
                <a:ea typeface="Old Standard TT"/>
                <a:cs typeface="Old Standard TT"/>
                <a:sym typeface="Old Standard TT"/>
              </a:rPr>
              <a:t>4. Flip Remainder array and turn into string</a:t>
            </a:r>
            <a:endParaRPr sz="19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Old Standard TT"/>
                <a:ea typeface="Old Standard TT"/>
                <a:cs typeface="Old Standard TT"/>
                <a:sym typeface="Old Standard TT"/>
              </a:rPr>
              <a:t>5. Return result</a:t>
            </a:r>
            <a:endParaRPr sz="19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