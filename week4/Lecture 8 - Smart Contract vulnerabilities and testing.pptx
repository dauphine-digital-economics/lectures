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Old Standard TT"/>
      <p:regular r:id="rId34"/>
      <p:bold r:id="rId35"/>
      <p: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OldStandardTT-bold.fntdata"/><Relationship Id="rId12" Type="http://schemas.openxmlformats.org/officeDocument/2006/relationships/slide" Target="slides/slide7.xml"/><Relationship Id="rId34" Type="http://schemas.openxmlformats.org/officeDocument/2006/relationships/font" Target="fonts/OldStandardTT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ldStandardT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1194a43b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1194a43b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1194a43b4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1194a43b4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961a80c0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d961a80c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bd8f7cae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bd8f7cae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8d71051e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8d71051e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8acb47d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8acb47d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8acb47d3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8acb47d3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8d71051e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68d71051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25f6f82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25f6f82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8d71051e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8d71051e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8d71051e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8d71051e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8d71051e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8d71051e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8d71051e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8d71051e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8d71051e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8d71051e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8d71051e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68d71051e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8d71051e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8d71051e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8acb47d3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68acb47d3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cc6b22cc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cc6b22c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d31bde92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d31bde92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8acb47d3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68acb47d3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bcc6b22c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bcc6b22c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cc6b22cc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cc6b22cc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bd31bde92d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bd31bde92d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swcregistry.io/" TargetMode="External"/><Relationship Id="rId4" Type="http://schemas.openxmlformats.org/officeDocument/2006/relationships/hyperlink" Target="https://github.com/ComposableSecurity/SCSVS" TargetMode="External"/><Relationship Id="rId5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onsensys.github.io/smart-contract-best-practices/security-tools/static-and-dynamic-analysis/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arxiv.org/pdf/1910.10601.pdf" TargetMode="External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hyperlink" Target="https://www.justice.gov/usao-sdny/file/1304886/dl?inline" TargetMode="External"/><Relationship Id="rId7" Type="http://schemas.openxmlformats.org/officeDocument/2006/relationships/hyperlink" Target="https://twitter.com/nirvana_fi/status/1552761630127177730" TargetMode="External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8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Smart Contract vulnerabilities and testing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131950" y="2056800"/>
            <a:ext cx="5337300" cy="15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Software Development Lifecycle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Idea to prototype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Stages of SDLC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50" y="1109550"/>
            <a:ext cx="38209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303200" y="715325"/>
            <a:ext cx="314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risks, edge case, stress testing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6278275" y="2558150"/>
            <a:ext cx="273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improvement, product competitive analysis, consumer feedback integration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956900" y="1215500"/>
            <a:ext cx="30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 code development, debugging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110825" y="2497450"/>
            <a:ext cx="253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UI/UX, </a:t>
            </a:r>
            <a:r>
              <a:rPr lang="en"/>
              <a:t>psychological</a:t>
            </a:r>
            <a:r>
              <a:rPr lang="en"/>
              <a:t> factors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Architecture, libraries, licenses, etc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634625" y="4098000"/>
            <a:ext cx="273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and Risks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- users? gas?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- faster, better data?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5954500" y="4205850"/>
            <a:ext cx="305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problem is our software solving / market being captured?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Timeline, teams, budget.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998" y="1109550"/>
            <a:ext cx="2082016" cy="11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- protection against users</a:t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5425"/>
            <a:ext cx="8839200" cy="2723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DevOps to DevSecOps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4425"/>
            <a:ext cx="8839197" cy="3681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464100" y="2164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Tests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548575" y="1000050"/>
            <a:ext cx="3682200" cy="3786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Unit Test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Test small chunks - units. Can be a function, interface, module.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Write tests as you code!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Test expected failures and event emissions.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Test edge cases.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Problem - cannot test private functions</a:t>
            </a:r>
            <a:endParaRPr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891975" y="2066850"/>
            <a:ext cx="3682200" cy="2678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Integration</a:t>
            </a: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Test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Different modules tested as an entity.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Checks conditions unit testing cannot detect - code interaction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Either logical test suites or black box testing.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400" y="3084725"/>
            <a:ext cx="1337875" cy="961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4786400" y="698325"/>
            <a:ext cx="3936000" cy="11697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Functional- works as expected?</a:t>
            </a:r>
            <a:endParaRPr sz="1600">
              <a:solidFill>
                <a:srgbClr val="00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Non-functional - can it handle simultaneous connections? Is it cheap?</a:t>
            </a:r>
            <a:endParaRPr sz="1600">
              <a:solidFill>
                <a:srgbClr val="00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2146275" y="2266950"/>
            <a:ext cx="53373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Common Attacks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Reentrancy Attack</a:t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534875" y="944000"/>
            <a:ext cx="3094800" cy="14451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Contract Bank {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  function withdraw(uint amount){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msg.sender.call(value: amount);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  }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}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611075" y="3156350"/>
            <a:ext cx="3094800" cy="18339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Contract Attacker {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   function attack() external payable{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withdraw();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   }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   fallback() external payable {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	Bank.call("withdraw()");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   }</a:t>
            </a:r>
            <a:endParaRPr sz="13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ld Standard TT"/>
                <a:ea typeface="Old Standard TT"/>
                <a:cs typeface="Old Standard TT"/>
                <a:sym typeface="Old Standard TT"/>
              </a:rPr>
              <a:t>}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12" name="Google Shape;112;p20"/>
          <p:cNvCxnSpPr/>
          <p:nvPr/>
        </p:nvCxnSpPr>
        <p:spPr>
          <a:xfrm rot="10800000">
            <a:off x="1013525" y="2602725"/>
            <a:ext cx="0" cy="4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20"/>
          <p:cNvSpPr txBox="1"/>
          <p:nvPr/>
        </p:nvSpPr>
        <p:spPr>
          <a:xfrm>
            <a:off x="230725" y="2622325"/>
            <a:ext cx="83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1. Request withdraw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14" name="Google Shape;114;p20"/>
          <p:cNvCxnSpPr/>
          <p:nvPr/>
        </p:nvCxnSpPr>
        <p:spPr>
          <a:xfrm>
            <a:off x="1548875" y="2617700"/>
            <a:ext cx="0" cy="44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20"/>
          <p:cNvSpPr txBox="1"/>
          <p:nvPr/>
        </p:nvSpPr>
        <p:spPr>
          <a:xfrm>
            <a:off x="1577500" y="2536350"/>
            <a:ext cx="106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2. Bank sends, goes to fallback function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 rot="10800000">
            <a:off x="3094800" y="2483475"/>
            <a:ext cx="10500" cy="558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20"/>
          <p:cNvSpPr txBox="1"/>
          <p:nvPr/>
        </p:nvSpPr>
        <p:spPr>
          <a:xfrm>
            <a:off x="3248675" y="2394375"/>
            <a:ext cx="128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3. Fallback function calls withdraw again! Re-enters the Bank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275" y="1439225"/>
            <a:ext cx="4301123" cy="1839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5656950" y="3949550"/>
            <a:ext cx="2077500" cy="461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Simulate in Remix!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Reentrancy Guards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71600"/>
            <a:ext cx="36618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Check-Effect-Interaction coding pattern</a:t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00" y="1725525"/>
            <a:ext cx="3504050" cy="298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4648200" y="1295325"/>
            <a:ext cx="3661800" cy="3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Reentrancy Modifier 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A modifier which contains a bool which turns true the first time a function is call in a transaction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Prevent recursive calls from external contracts and itself.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Pull payments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Do not allow direct push contract interactions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To withdraw, users/contracts make a payment request and then call a separate withdraw pool themselves instead of the contract sending.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Pausable Contract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Contract logic of what to do in an emergency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Denial of Service Attacks</a:t>
            </a:r>
            <a:endParaRPr/>
          </a:p>
        </p:txBody>
      </p:sp>
      <p:grpSp>
        <p:nvGrpSpPr>
          <p:cNvPr id="133" name="Google Shape;133;p22"/>
          <p:cNvGrpSpPr/>
          <p:nvPr/>
        </p:nvGrpSpPr>
        <p:grpSpPr>
          <a:xfrm>
            <a:off x="6185479" y="1971550"/>
            <a:ext cx="1948125" cy="1808300"/>
            <a:chOff x="5078650" y="1971550"/>
            <a:chExt cx="1948125" cy="1808300"/>
          </a:xfrm>
        </p:grpSpPr>
        <p:pic>
          <p:nvPicPr>
            <p:cNvPr id="134" name="Google Shape;134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78650" y="1971550"/>
              <a:ext cx="1808300" cy="180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13575" y="2034025"/>
              <a:ext cx="613200" cy="613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6" name="Google Shape;13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5000" y="1338324"/>
            <a:ext cx="1348211" cy="1011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175425" y="1336000"/>
            <a:ext cx="194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Set forwarding rule: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When I receive an email from Gmail 2,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Forward a copy to dauphine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Send a copy back to Gmail 2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5">
            <a:alphaModFix/>
          </a:blip>
          <a:srcRect b="0" l="1600" r="-1599" t="0"/>
          <a:stretch/>
        </p:blipFill>
        <p:spPr>
          <a:xfrm>
            <a:off x="2210435" y="3782174"/>
            <a:ext cx="1348211" cy="1011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276800" y="3779850"/>
            <a:ext cx="194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Set forwarding rule: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When I receive an email from Gmail 1,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Forward a copy to dauphine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Send a copy back to Gmail 1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40" name="Google Shape;140;p22"/>
          <p:cNvCxnSpPr/>
          <p:nvPr/>
        </p:nvCxnSpPr>
        <p:spPr>
          <a:xfrm>
            <a:off x="2649525" y="2521100"/>
            <a:ext cx="0" cy="108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2"/>
          <p:cNvCxnSpPr/>
          <p:nvPr/>
        </p:nvCxnSpPr>
        <p:spPr>
          <a:xfrm flipH="1" rot="10800000">
            <a:off x="3051025" y="2531925"/>
            <a:ext cx="10800" cy="10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2"/>
          <p:cNvCxnSpPr/>
          <p:nvPr/>
        </p:nvCxnSpPr>
        <p:spPr>
          <a:xfrm>
            <a:off x="3864850" y="1772375"/>
            <a:ext cx="1931400" cy="8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2"/>
          <p:cNvCxnSpPr/>
          <p:nvPr/>
        </p:nvCxnSpPr>
        <p:spPr>
          <a:xfrm flipH="1" rot="10800000">
            <a:off x="3843150" y="3194000"/>
            <a:ext cx="1909800" cy="9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2"/>
          <p:cNvSpPr txBox="1"/>
          <p:nvPr/>
        </p:nvSpPr>
        <p:spPr>
          <a:xfrm>
            <a:off x="3864850" y="2521100"/>
            <a:ext cx="164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Each iteration of the infinite loop, Dauphine receives a copy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5850625" y="1058225"/>
            <a:ext cx="2797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Bandwidth exhaustion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Server Storage overflow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Processing power monopoly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Denial of Service Attacks - Forced Revert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943000"/>
            <a:ext cx="8520600" cy="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Very frequent on the internet, not just web3. Cause the service to fail from unexpected behaviour.</a:t>
            </a:r>
            <a:endParaRPr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87100"/>
            <a:ext cx="8839198" cy="29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4703475" y="3892250"/>
            <a:ext cx="4107300" cy="92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What if the current leader has a fallback function that rejects any attempt to send money?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Denial of Service Attacks - Gas Limit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552600"/>
            <a:ext cx="4507200" cy="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Choke the contract with requests → Remember Black Thursday?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about a bot contracts which floods the blockchain with useless blocks for a set period of time?</a:t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49100"/>
            <a:ext cx="4881250" cy="156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4"/>
          <p:cNvCxnSpPr/>
          <p:nvPr/>
        </p:nvCxnSpPr>
        <p:spPr>
          <a:xfrm>
            <a:off x="5305875" y="1442275"/>
            <a:ext cx="14400" cy="32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5382075" y="1442275"/>
            <a:ext cx="14400" cy="32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8875" y="2277425"/>
            <a:ext cx="3442725" cy="233345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5535750" y="1446850"/>
            <a:ext cx="3390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dangers of dynamic arrays - a payout for contributors example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Griefing - Business Logic Attack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982025"/>
            <a:ext cx="8520600" cy="38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Malicious but compliant attacks to disrupt business operations.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A group staking contract which pays dividends 24 hours after last deposit.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Attacker keeps on putting tiny deposit amount to ensure payouts keeps on getting delayed.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Insufficient Gas Griefing - Wallet and Relayers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A malicious relayer can first pose as legitimate transaction handler, get wallets to send them transactions, then purposefully set a small gas limit, resulting in no transactions ever go through.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Self destructing contracts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The self destruct command erases a smart contract and force sends the remaining ether to a target address.</a:t>
            </a:r>
            <a:r>
              <a:rPr lang="en">
                <a:solidFill>
                  <a:srgbClr val="CC0000"/>
                </a:solidFill>
              </a:rPr>
              <a:t> Deprecated by EIP-6049 in 2022.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Toxic MEV - Front Running</a:t>
            </a:r>
            <a:endParaRPr/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2048825"/>
            <a:ext cx="6371301" cy="28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/>
        </p:nvSpPr>
        <p:spPr>
          <a:xfrm>
            <a:off x="1511800" y="964925"/>
            <a:ext cx="6163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➔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Scan for a winning transaction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➔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Simulate the transaction on a fork of the chain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➔"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Submit your transaction with a much higher gas limit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Toxic MEV - Sandwich Attack</a:t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058225"/>
            <a:ext cx="4299771" cy="37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4833075" y="1113400"/>
            <a:ext cx="4017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Victim identifies arbitrage opportunity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Copy the transaction and pay higher gas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victim suffers slippage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Two transactions lowers price of Y against X, trade all Y forX.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4833075" y="2942200"/>
            <a:ext cx="4017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Provider sees large order for Y.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Remove all liquidity for Y in that pool.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Victim suddenly pays high X for little Y.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Provider refills pool with Y, normalizing price again.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AutoNum type="arabicPeriod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Buys X with remaining Y.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level vulnerabilities</a:t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Integer under and overflow, patched in Solidity 0.8.0 onwards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Pseudo-random number 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block level parameters can be deduced/calculated.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block.timestamp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block.number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Incorrect parameter ordering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Solidity do not name parameter inputs. Make sure the ordering is correct for structs and functions with many inputs.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Defensive Programming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311700" y="1112750"/>
            <a:ext cx="8520600" cy="3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Aim for simplicity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lines of code is cheaper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code = less room for mistakes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as private as possible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Public functions and variables are expensive and potentially open to manipulation. Always try to keep things private.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external / internal above public.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Reuse secure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Copy code from the internet. But copy secure code. Openzeppelin, Safe, Eth,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Refactor as much as possible. Aggregate similar features into a library.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readable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Natspec commenting as much as possible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Clear variable names, follow conventions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Test! Test! Test!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1903350" y="1752000"/>
            <a:ext cx="5337300" cy="15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Cyber Security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&amp;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Smart Contract Auditing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Registries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11700" y="905825"/>
            <a:ext cx="8520600" cy="19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 Security is a never ending race of discovering vulnerabilities. All vulnerabilities are tracked on registries.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- CWE, CVE, OWASP Top 10, NVD, </a:t>
            </a:r>
            <a:r>
              <a:rPr lang="en" u="sng">
                <a:solidFill>
                  <a:schemeClr val="hlink"/>
                </a:solidFill>
                <a:hlinkClick r:id="rId3"/>
              </a:rPr>
              <a:t>SWC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SCSVS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Registries differ by area (OWASP is web), vulnerability approach (CWE - flaws/weakness pattern vs CVE - named vulnerability)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6800" y="3009100"/>
            <a:ext cx="6982800" cy="18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CVSS - Common Vulnerability Scoring System</a:t>
            </a:r>
            <a:endParaRPr/>
          </a:p>
        </p:txBody>
      </p:sp>
      <p:pic>
        <p:nvPicPr>
          <p:cNvPr id="215" name="Google Shape;2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875" y="1170075"/>
            <a:ext cx="7557949" cy="35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/ Dynamic Scanners</a:t>
            </a:r>
            <a:endParaRPr/>
          </a:p>
        </p:txBody>
      </p:sp>
      <p:sp>
        <p:nvSpPr>
          <p:cNvPr id="221" name="Google Shape;221;p33"/>
          <p:cNvSpPr txBox="1"/>
          <p:nvPr/>
        </p:nvSpPr>
        <p:spPr>
          <a:xfrm>
            <a:off x="3447900" y="4169675"/>
            <a:ext cx="17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3"/>
              </a:rPr>
              <a:t>List of scanners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477575" y="1442275"/>
            <a:ext cx="3796800" cy="2308800"/>
          </a:xfrm>
          <a:prstGeom prst="rect">
            <a:avLst/>
          </a:prstGeom>
          <a:noFill/>
          <a:ln cap="flat" cmpd="sng" w="9525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Static Scanning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 depth code analysis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Auto detection of vulnerable coding practices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Building of intermediate execution flows and recognise attacks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Taint analysis - detect injection attacks which corrupt data and memory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4744775" y="1670875"/>
            <a:ext cx="3796800" cy="1847100"/>
          </a:xfrm>
          <a:prstGeom prst="rect">
            <a:avLst/>
          </a:prstGeom>
          <a:noFill/>
          <a:ln cap="flat" cmpd="sng" w="9525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Dynamic </a:t>
            </a:r>
            <a:r>
              <a:rPr b="1"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Scanning</a:t>
            </a:r>
            <a:endParaRPr b="1"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User POV testing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Send malicious requests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Network attacks and stress testing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ld Standard TT"/>
              <a:buChar char="●"/>
            </a:pPr>
            <a:r>
              <a:rPr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User behaviour modelling. In the real world, perhaps your user fell victim to social engineering?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24" name="Google Shape;224;p33"/>
          <p:cNvPicPr preferRelativeResize="0"/>
          <p:nvPr/>
        </p:nvPicPr>
        <p:blipFill rotWithShape="1">
          <a:blip r:embed="rId4">
            <a:alphaModFix/>
          </a:blip>
          <a:srcRect b="13008" l="9655" r="15088" t="15440"/>
          <a:stretch/>
        </p:blipFill>
        <p:spPr>
          <a:xfrm>
            <a:off x="1378500" y="3978525"/>
            <a:ext cx="1655924" cy="8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 rotWithShape="1">
          <a:blip r:embed="rId5">
            <a:alphaModFix/>
          </a:blip>
          <a:srcRect b="40252" l="0" r="0" t="38008"/>
          <a:stretch/>
        </p:blipFill>
        <p:spPr>
          <a:xfrm>
            <a:off x="5480339" y="4096450"/>
            <a:ext cx="2820711" cy="6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solution is perfect</a:t>
            </a:r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3273075" y="4059175"/>
            <a:ext cx="320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False positives? False negatives?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8073000" y="4403750"/>
            <a:ext cx="75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3"/>
              </a:rPr>
              <a:t>Source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58225"/>
            <a:ext cx="8839199" cy="2713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 Lifecycle</a:t>
            </a:r>
            <a:endParaRPr/>
          </a:p>
        </p:txBody>
      </p:sp>
      <p:grpSp>
        <p:nvGrpSpPr>
          <p:cNvPr id="239" name="Google Shape;239;p35"/>
          <p:cNvGrpSpPr/>
          <p:nvPr/>
        </p:nvGrpSpPr>
        <p:grpSpPr>
          <a:xfrm>
            <a:off x="0" y="1037589"/>
            <a:ext cx="2214600" cy="3217636"/>
            <a:chOff x="0" y="1189989"/>
            <a:chExt cx="2214600" cy="3217636"/>
          </a:xfrm>
        </p:grpSpPr>
        <p:sp>
          <p:nvSpPr>
            <p:cNvPr id="240" name="Google Shape;240;p35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1. Documentation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1" name="Google Shape;241;p35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Code freeze and scope agreement.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Provide all specifications, system architecture and intended execution of system.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2" name="Google Shape;242;p35"/>
          <p:cNvGrpSpPr/>
          <p:nvPr/>
        </p:nvGrpSpPr>
        <p:grpSpPr>
          <a:xfrm>
            <a:off x="1838325" y="1037375"/>
            <a:ext cx="2064000" cy="3217850"/>
            <a:chOff x="1838325" y="1189775"/>
            <a:chExt cx="2064000" cy="3217850"/>
          </a:xfrm>
        </p:grpSpPr>
        <p:sp>
          <p:nvSpPr>
            <p:cNvPr id="243" name="Google Shape;243;p35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2. Automated Testing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4" name="Google Shape;244;p35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Dynamic and Static scanning.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Formal Verification.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Custom test suites.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5" name="Google Shape;245;p35"/>
          <p:cNvGrpSpPr/>
          <p:nvPr/>
        </p:nvGrpSpPr>
        <p:grpSpPr>
          <a:xfrm>
            <a:off x="3516750" y="1037375"/>
            <a:ext cx="2064000" cy="3217850"/>
            <a:chOff x="3516750" y="1189775"/>
            <a:chExt cx="2064000" cy="3217850"/>
          </a:xfrm>
        </p:grpSpPr>
        <p:sp>
          <p:nvSpPr>
            <p:cNvPr id="246" name="Google Shape;246;p35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3. Manual Review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7" name="Google Shape;247;p35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Humans are better at detecting logic errors, poor coding patterns and business manipulations like gas attacks.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Analysis of code with consultation to original goals and specifications.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8" name="Google Shape;248;p35"/>
          <p:cNvGrpSpPr/>
          <p:nvPr/>
        </p:nvGrpSpPr>
        <p:grpSpPr>
          <a:xfrm>
            <a:off x="6874025" y="1037375"/>
            <a:ext cx="2064000" cy="3217850"/>
            <a:chOff x="6874025" y="1189775"/>
            <a:chExt cx="2064000" cy="3217850"/>
          </a:xfrm>
        </p:grpSpPr>
        <p:sp>
          <p:nvSpPr>
            <p:cNvPr id="249" name="Google Shape;249;p35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5. Reporting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" name="Google Shape;250;p35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Provide initial report with findings.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Provide further consulting for the client.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Most Web3 projects release their audits publicly to gain confidence from the public.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1" name="Google Shape;251;p35"/>
          <p:cNvGrpSpPr/>
          <p:nvPr/>
        </p:nvGrpSpPr>
        <p:grpSpPr>
          <a:xfrm>
            <a:off x="5195350" y="1037375"/>
            <a:ext cx="2064000" cy="3217850"/>
            <a:chOff x="5195350" y="1189775"/>
            <a:chExt cx="2064000" cy="3217850"/>
          </a:xfrm>
        </p:grpSpPr>
        <p:sp>
          <p:nvSpPr>
            <p:cNvPr id="252" name="Google Shape;252;p35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4. Vulnerability Classification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" name="Google Shape;253;p35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A list of vulnerabilities with their risk levels.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Provide recommended resolution techniques.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90000"/>
                  </a:solidFill>
                  <a:latin typeface="Roboto"/>
                  <a:ea typeface="Roboto"/>
                  <a:cs typeface="Roboto"/>
                  <a:sym typeface="Roboto"/>
                </a:rPr>
                <a:t>** Note: </a:t>
              </a:r>
              <a:endParaRPr b="1" sz="1100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From a business perspective, each vulnerability is a cost. Weigh it against the cost of the exploit.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4" name="Google Shape;254;p35"/>
          <p:cNvSpPr txBox="1"/>
          <p:nvPr/>
        </p:nvSpPr>
        <p:spPr>
          <a:xfrm>
            <a:off x="3270025" y="4460775"/>
            <a:ext cx="2521500" cy="461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Cost: $5000 - $15000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Bug Finding</a:t>
            </a:r>
            <a:endParaRPr/>
          </a:p>
        </p:txBody>
      </p:sp>
      <p:pic>
        <p:nvPicPr>
          <p:cNvPr id="260" name="Google Shape;260;p36"/>
          <p:cNvPicPr preferRelativeResize="0"/>
          <p:nvPr/>
        </p:nvPicPr>
        <p:blipFill rotWithShape="1">
          <a:blip r:embed="rId3">
            <a:alphaModFix/>
          </a:blip>
          <a:srcRect b="0" l="0" r="45563" t="0"/>
          <a:stretch/>
        </p:blipFill>
        <p:spPr>
          <a:xfrm>
            <a:off x="3051300" y="1058225"/>
            <a:ext cx="2466951" cy="187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6125" y="2994350"/>
            <a:ext cx="2512121" cy="187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6851" y="1439225"/>
            <a:ext cx="3320949" cy="230467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6"/>
          <p:cNvSpPr txBox="1"/>
          <p:nvPr/>
        </p:nvSpPr>
        <p:spPr>
          <a:xfrm>
            <a:off x="277000" y="3474100"/>
            <a:ext cx="246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6"/>
              </a:rPr>
              <a:t>First account of Indictment</a:t>
            </a:r>
            <a:endParaRPr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254350" y="1299000"/>
            <a:ext cx="251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r:id="rId7"/>
              </a:rPr>
              <a:t>The "please give our money back" method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" y="2258556"/>
            <a:ext cx="2834675" cy="95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